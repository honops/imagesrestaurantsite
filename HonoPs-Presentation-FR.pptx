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D'INTRODUCTION
Dites simplement :
"Bonjour, je m'appelle [Prénom]. Je vais vous montrer comment récupérer l'argent que vous donnez chaque mois à Resident Advisor."
Laissez la slide parler. Ne dites rien de plus. Le silence crée de la curiosité.
Durée : 15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Demandez : "Combien de billets vendez-vous par soirée ? Et à quel prix ?"
Laissez-les répondre. Puis faites le calcul avec LEURS chiffres en direct.
"Donc vous donnez [X]€ par soirée à Resident Advisor. C'est [Y]€ par mois. Ça fait [Z]€ par an."
Effet garanti. Laissez le chiffre s'installer. Ne passez pas trop vite.
Durée : 1 minute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"Imaginez que vous avez votre propre Resident Advisor. Votre nom, votre site, vos clients. Et vous ne payez aucune commission."
Pointez la colonne HonoPs et lisez les points un par un.
"Les données de vos clients vous appartiennent. Vous les contactez directement. Personne d'autre."
Durée :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1 — SITE PUBLIC
ACTION : Ouvrez le fichier "1-site-club.html" sur votre ordinateur ou téléphone.
Dites : "Voici à quoi ressemblerait votre site. Votre nom, votre style, vos événements."
Montrez les 6 onglets : Événements, Galerie, Points, Revente, Liste VIP, Contact.
Cliquez sur un événement pour ouvrir le modal d'achat.
"Le client reçoit un QR code par email. Impossible à dupliquer."
Changez la langue en EN ou DE pour impressionner.
"Vos clients allemands ou anglais voient le site dans leur langue automatiquement."
Durée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2 — TABLEAU DE BORD
ACTION : Ouvrez le fichier "2-dashboard.html".
Dites : "Voici votre panneau de contrôle. Tout ce qui se passe dans votre club, en temps réel."
Naviguez dans la sidebar :
- Tableau de bord → montrez les KPIs
- Réservations → "Vous confirmez d'un clic"
- Scanner QR → "Votre staff scanne les billets avec le téléphone à l'entrée"
- Images → "Vous gérez vos photos par catégorie"
- Newsletter → "Envoyez un email à tous vos clients en 2 clics"
"Tout ça, sans installer quoi que ce soit. Juste votre navigateur."
Durée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PRIX
Demandez d'abord : "Combien payez-vous à Resident Advisor ce mois-ci ?" Laissez-les répondre.
Puis : "Avec HonoPs c'est 200€ fixes. Si vous vendez 0 billet, c'est 200€. Si vous vendez 1000 billets, c'est toujours 200€."
"Et les 90 premiers jours sont gratuits. Pas de carte bancaire nécessaire."
"Vous avez tout à gagner et rien à perdre."
Durée :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CALCUL — MOMENT LE PLUS PUISSANT
Utilisez leurs vrais chiffres. Demandez-leur combien de billets ils vendent et à quel prix.
"Faisons le calcul ensemble avec VOS chiffres."
Sortez votre téléphone, ouvrez la calculatrice et faites le calcul en direct devant eux.
Ce moment est le plus puissant de la présentation. Ne le sautez pas.
"49.440€ par an que vous gardez dans votre poche. Ou que vous réinvestissez dans votre club."
Durée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3 — OPTIONNELLE
Montrez cette slide seulement si le client pose des questions sur la sécurité ou la confidentialité des données.
ACTION : Ouvrez le fichier "3-super-admin.html" si nécessaire.
"Vos données vous appartiennent. Vous pouvez les exporter, les utiliser, les analyser. Personne d'autre n'y a accès."
"Nous sommes conformes RGPD. Tout est hébergé en Europe."
Durée : 1 minute (seulement si demandé).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ÇA MARCHE
"C'est très simple. Trois étapes."
Lisez les étapes une par une, lentement.
"Étape 1 : 2 minutes pour créer votre compte. Pas de carte bancaire."
"Étape 2 : vous créez votre premier événement."
"Étape 3 : vous partagez le lien avec vos clients. C'est tout."
"En moins de 10 minutes, votre premier événement est en ligne et prêt à vendre des billets."
Durée : 45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CONCLUSION — LA PLUS IMPORTANTE
NE DEMANDEZ PAS "qu'est-ce que vous en pensez ?" C'est trop ouvert.
DEMANDEZ directement :
"Est-ce que vous voulez qu'on crée votre compte ensemble maintenant ? Ça prend 2 minutes."
Ou : "Quel est votre prochain événement ? On peut le mettre en ligne aujourd'hui même."
Si ils hésitent, répondez aux objections à droite de la slide.
Si ils disent non : "Pas de problème. Je vous laisse mon contact. Appelez-moi quand vous voulez."
Ne poussez pas. La confiance s'installe avec le temps.
IMPORTANT : Demandez toujours la permission de revenir.
"Je peux repasser vous montrer comment ça marche avec votre premier vrai événement ?"
Durée :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INTERNE — NE PAS MONTRER AU CLIENT
Cette slide est votre guide de vente. Mémorisez-la avant chaque rendez-vous.
Règles d'or :
1. Posez des questions. Écoutez. Ne parlez pas trop.
2. Faites le calcul avec leurs vrais chiffres. C'est le moment le plus puissant.
3. Ne forcez jamais. Un "je peux revenir ?" vaut plus qu'un non forcé.
4. Toujours demander la permission de revenir dans 2 semaines.
5. Après chaque visite, envoyez un email ou WhatsApp de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A05"/>
          </a:solidFill>
          <a:ln w="12700">
            <a:solidFill>
              <a:srgbClr val="0D0A05"/>
            </a:solidFill>
            <a:prstDash val="solid"/>
          </a:ln>
        </p:spPr>
      </p:sp>
      <p:sp>
        <p:nvSpPr>
          <p:cNvPr id="3" name="Shape 1"/>
          <p:cNvSpPr/>
          <p:nvPr/>
        </p:nvSpPr>
        <p:spPr>
          <a:xfrm>
            <a:off x="0" y="0"/>
            <a:ext cx="9144000" cy="54864"/>
          </a:xfrm>
          <a:prstGeom prst="rect">
            <a:avLst/>
          </a:prstGeom>
          <a:solidFill>
            <a:srgbClr val="C9A84C"/>
          </a:solidFill>
          <a:ln w="12700">
            <a:solidFill>
              <a:srgbClr val="C9A84C"/>
            </a:solidFill>
            <a:prstDash val="solid"/>
          </a:ln>
        </p:spPr>
      </p:sp>
      <p:sp>
        <p:nvSpPr>
          <p:cNvPr id="4" name="Shape 2"/>
          <p:cNvSpPr/>
          <p:nvPr/>
        </p:nvSpPr>
        <p:spPr>
          <a:xfrm>
            <a:off x="5943600" y="-1371600"/>
            <a:ext cx="4572000" cy="4572000"/>
          </a:xfrm>
          <a:prstGeom prst="ellipse">
            <a:avLst/>
          </a:prstGeom>
          <a:solidFill>
            <a:srgbClr val="C9A84C">
              <a:alpha val="12000"/>
            </a:srgbClr>
          </a:solidFill>
          <a:ln w="12700">
            <a:solidFill>
              <a:srgbClr val="C9A84C">
                <a:alpha val="12000"/>
              </a:srgbClr>
            </a:solidFill>
            <a:prstDash val="solid"/>
          </a:ln>
        </p:spPr>
      </p:sp>
      <p:sp>
        <p:nvSpPr>
          <p:cNvPr id="5" name="Text 3"/>
          <p:cNvSpPr/>
          <p:nvPr/>
        </p:nvSpPr>
        <p:spPr>
          <a:xfrm>
            <a:off x="640080" y="1371600"/>
            <a:ext cx="7315200" cy="274320"/>
          </a:xfrm>
          <a:prstGeom prst="rect">
            <a:avLst/>
          </a:prstGeom>
          <a:noFill/>
          <a:ln/>
        </p:spPr>
        <p:txBody>
          <a:bodyPr wrap="square" lIns="0" tIns="0" rIns="0" bIns="0" rtlCol="0" anchor="ctr"/>
          <a:lstStyle/>
          <a:p>
            <a:pPr indent="0" marL="0">
              <a:buNone/>
            </a:pPr>
            <a:r>
              <a:rPr lang="en-US" sz="900" spc="300" kern="0" dirty="0">
                <a:solidFill>
                  <a:srgbClr val="C9A84C"/>
                </a:solidFill>
                <a:latin typeface="Consolas" pitchFamily="34" charset="0"/>
                <a:ea typeface="Consolas" pitchFamily="34" charset="-122"/>
                <a:cs typeface="Consolas" pitchFamily="34" charset="-120"/>
              </a:rPr>
              <a:t>PLATEFORME DE BILLETTERIE · POUR LES CLUBS</a:t>
            </a:r>
            <a:endParaRPr lang="en-US" sz="900" dirty="0"/>
          </a:p>
        </p:txBody>
      </p:sp>
      <p:sp>
        <p:nvSpPr>
          <p:cNvPr id="6" name="Text 4"/>
          <p:cNvSpPr/>
          <p:nvPr/>
        </p:nvSpPr>
        <p:spPr>
          <a:xfrm>
            <a:off x="640080" y="1691640"/>
            <a:ext cx="5029200" cy="1280160"/>
          </a:xfrm>
          <a:prstGeom prst="rect">
            <a:avLst/>
          </a:prstGeom>
          <a:noFill/>
          <a:ln/>
        </p:spPr>
        <p:txBody>
          <a:bodyPr wrap="square" lIns="0" tIns="0" rIns="0" bIns="0" rtlCol="0" anchor="ctr"/>
          <a:lstStyle/>
          <a:p>
            <a:pPr indent="0" marL="0">
              <a:buNone/>
            </a:pPr>
            <a:r>
              <a:rPr lang="en-US" sz="8800" b="1" spc="800" kern="0" dirty="0">
                <a:solidFill>
                  <a:srgbClr val="F0ECE3"/>
                </a:solidFill>
                <a:latin typeface="Arial Black" pitchFamily="34" charset="0"/>
                <a:ea typeface="Arial Black" pitchFamily="34" charset="-122"/>
                <a:cs typeface="Arial Black" pitchFamily="34" charset="-120"/>
              </a:rPr>
              <a:t>HON</a:t>
            </a:r>
            <a:endParaRPr lang="en-US" sz="8800" dirty="0"/>
          </a:p>
        </p:txBody>
      </p:sp>
      <p:sp>
        <p:nvSpPr>
          <p:cNvPr id="7" name="Text 5"/>
          <p:cNvSpPr/>
          <p:nvPr/>
        </p:nvSpPr>
        <p:spPr>
          <a:xfrm>
            <a:off x="640080" y="1691640"/>
            <a:ext cx="8321040" cy="1280160"/>
          </a:xfrm>
          <a:prstGeom prst="rect">
            <a:avLst/>
          </a:prstGeom>
          <a:noFill/>
          <a:ln/>
        </p:spPr>
        <p:txBody>
          <a:bodyPr wrap="square" lIns="0" tIns="0" rIns="0" bIns="0" rtlCol="0" anchor="ctr"/>
          <a:lstStyle/>
          <a:p>
            <a:pPr algn="r" indent="0" marL="0">
              <a:buNone/>
            </a:pPr>
            <a:r>
              <a:rPr lang="en-US" sz="8800" b="1" spc="800" kern="0" dirty="0">
                <a:solidFill>
                  <a:srgbClr val="C9A84C"/>
                </a:solidFill>
                <a:latin typeface="Arial Black" pitchFamily="34" charset="0"/>
                <a:ea typeface="Arial Black" pitchFamily="34" charset="-122"/>
                <a:cs typeface="Arial Black" pitchFamily="34" charset="-120"/>
              </a:rPr>
              <a:t>OPs</a:t>
            </a:r>
            <a:endParaRPr lang="en-US" sz="8800" dirty="0"/>
          </a:p>
        </p:txBody>
      </p:sp>
      <p:sp>
        <p:nvSpPr>
          <p:cNvPr id="8" name="Text 6"/>
          <p:cNvSpPr/>
          <p:nvPr/>
        </p:nvSpPr>
        <p:spPr>
          <a:xfrm>
            <a:off x="640080" y="3017520"/>
            <a:ext cx="6400800" cy="457200"/>
          </a:xfrm>
          <a:prstGeom prst="rect">
            <a:avLst/>
          </a:prstGeom>
          <a:noFill/>
          <a:ln/>
        </p:spPr>
        <p:txBody>
          <a:bodyPr wrap="square" lIns="0" tIns="0" rIns="0" bIns="0" rtlCol="0" anchor="ctr"/>
          <a:lstStyle/>
          <a:p>
            <a:pPr algn="l" indent="0" marL="0">
              <a:lnSpc>
                <a:spcPct val="130000"/>
              </a:lnSpc>
              <a:buNone/>
            </a:pPr>
            <a:r>
              <a:rPr lang="en-US" sz="1800" dirty="0">
                <a:solidFill>
                  <a:srgbClr val="7A7570"/>
                </a:solidFill>
                <a:latin typeface="Calibri" pitchFamily="34" charset="0"/>
                <a:ea typeface="Calibri" pitchFamily="34" charset="-122"/>
                <a:cs typeface="Calibri" pitchFamily="34" charset="-120"/>
              </a:rPr>
              <a:t>Vendez vos billets. Sans commissions. Sans intermédiaires.</a:t>
            </a:r>
            <a:endParaRPr lang="en-US" sz="1800" dirty="0"/>
          </a:p>
        </p:txBody>
      </p:sp>
      <p:sp>
        <p:nvSpPr>
          <p:cNvPr id="9" name="Text 7"/>
          <p:cNvSpPr/>
          <p:nvPr/>
        </p:nvSpPr>
        <p:spPr>
          <a:xfrm>
            <a:off x="640080" y="4663440"/>
            <a:ext cx="7863840" cy="274320"/>
          </a:xfrm>
          <a:prstGeom prst="rect">
            <a:avLst/>
          </a:prstGeom>
          <a:noFill/>
          <a:ln/>
        </p:spPr>
        <p:txBody>
          <a:bodyPr wrap="square" lIns="0" tIns="0" rIns="0" bIns="0" rtlCol="0" anchor="ctr"/>
          <a:lstStyle/>
          <a:p>
            <a:pPr indent="0" marL="0">
              <a:buNone/>
            </a:pPr>
            <a:r>
              <a:rPr lang="en-US" sz="1000" spc="200" kern="0" dirty="0">
                <a:solidFill>
                  <a:srgbClr val="C9A84C"/>
                </a:solidFill>
                <a:latin typeface="Consolas" pitchFamily="34" charset="0"/>
                <a:ea typeface="Consolas" pitchFamily="34" charset="-122"/>
                <a:cs typeface="Consolas" pitchFamily="34" charset="-120"/>
              </a:rPr>
              <a:t>honops.es  ·  200€/mois  ·  90 jours gratuits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900" spc="300" kern="0" dirty="0">
                <a:solidFill>
                  <a:srgbClr val="C9A84C"/>
                </a:solidFill>
                <a:latin typeface="Consolas" pitchFamily="34" charset="0"/>
                <a:ea typeface="Consolas" pitchFamily="34" charset="-122"/>
                <a:cs typeface="Consolas" pitchFamily="34" charset="-120"/>
              </a:rPr>
              <a:t>LE PROBLÈME</a:t>
            </a:r>
            <a:endParaRPr lang="en-US" sz="900" dirty="0"/>
          </a:p>
        </p:txBody>
      </p:sp>
      <p:sp>
        <p:nvSpPr>
          <p:cNvPr id="4" name="Text 2"/>
          <p:cNvSpPr/>
          <p:nvPr/>
        </p:nvSpPr>
        <p:spPr>
          <a:xfrm>
            <a:off x="548640" y="502920"/>
            <a:ext cx="7315200" cy="1645920"/>
          </a:xfrm>
          <a:prstGeom prst="rect">
            <a:avLst/>
          </a:prstGeom>
          <a:noFill/>
          <a:ln/>
        </p:spPr>
        <p:txBody>
          <a:bodyPr wrap="square" lIns="0" tIns="0" rIns="0" bIns="0" rtlCol="0" anchor="ctr"/>
          <a:lstStyle/>
          <a:p>
            <a:pPr algn="l" indent="0" marL="0">
              <a:buNone/>
            </a:pPr>
            <a:r>
              <a:rPr lang="en-US" sz="4000" b="1" spc="300" kern="0" dirty="0">
                <a:solidFill>
                  <a:srgbClr val="F0ECE3"/>
                </a:solidFill>
                <a:latin typeface="Arial Black" pitchFamily="34" charset="0"/>
                <a:ea typeface="Arial Black" pitchFamily="34" charset="-122"/>
                <a:cs typeface="Arial Black" pitchFamily="34" charset="-120"/>
              </a:rPr>
              <a:t>Chaque mois vous</a:t>
            </a:r>
            <a:endParaRPr lang="en-US" sz="4000" dirty="0"/>
          </a:p>
          <a:p>
            <a:pPr algn="l" indent="0" marL="0">
              <a:buNone/>
            </a:pPr>
            <a:r>
              <a:rPr lang="en-US" sz="4000" b="1" spc="300" kern="0" dirty="0">
                <a:solidFill>
                  <a:srgbClr val="F0ECE3"/>
                </a:solidFill>
                <a:latin typeface="Arial Black" pitchFamily="34" charset="0"/>
                <a:ea typeface="Arial Black" pitchFamily="34" charset="-122"/>
                <a:cs typeface="Arial Black" pitchFamily="34" charset="-120"/>
              </a:rPr>
              <a:t>offrez de l'argent à RA.</a:t>
            </a:r>
            <a:endParaRPr lang="en-US" sz="4000" dirty="0"/>
          </a:p>
        </p:txBody>
      </p:sp>
      <p:sp>
        <p:nvSpPr>
          <p:cNvPr id="5" name="Shape 3"/>
          <p:cNvSpPr/>
          <p:nvPr/>
        </p:nvSpPr>
        <p:spPr>
          <a:xfrm>
            <a:off x="548640" y="2286000"/>
            <a:ext cx="8046720" cy="2377440"/>
          </a:xfrm>
          <a:prstGeom prst="rect">
            <a:avLst/>
          </a:prstGeom>
          <a:solidFill>
            <a:srgbClr val="0D0806"/>
          </a:solidFill>
          <a:ln w="12700">
            <a:solidFill>
              <a:srgbClr val="2A1A0A"/>
            </a:solidFill>
            <a:prstDash val="solid"/>
          </a:ln>
        </p:spPr>
      </p:sp>
      <p:sp>
        <p:nvSpPr>
          <p:cNvPr id="6" name="Text 4"/>
          <p:cNvSpPr/>
          <p:nvPr/>
        </p:nvSpPr>
        <p:spPr>
          <a:xfrm>
            <a:off x="822960" y="2514600"/>
            <a:ext cx="914400" cy="777240"/>
          </a:xfrm>
          <a:prstGeom prst="rect">
            <a:avLst/>
          </a:prstGeom>
          <a:noFill/>
          <a:ln/>
        </p:spPr>
        <p:txBody>
          <a:bodyPr wrap="square" lIns="0" tIns="0" rIns="0" bIns="0" rtlCol="0" anchor="ctr"/>
          <a:lstStyle/>
          <a:p>
            <a:pPr algn="ctr" indent="0" marL="0">
              <a:buNone/>
            </a:pPr>
            <a:r>
              <a:rPr lang="en-US" sz="3200" b="1" dirty="0">
                <a:solidFill>
                  <a:srgbClr val="F0ECE3"/>
                </a:solidFill>
                <a:latin typeface="Arial Black" pitchFamily="34" charset="0"/>
                <a:ea typeface="Arial Black" pitchFamily="34" charset="-122"/>
                <a:cs typeface="Arial Black" pitchFamily="34" charset="-120"/>
              </a:rPr>
              <a:t>200</a:t>
            </a:r>
            <a:endParaRPr lang="en-US" sz="3200" dirty="0"/>
          </a:p>
        </p:txBody>
      </p:sp>
      <p:sp>
        <p:nvSpPr>
          <p:cNvPr id="7" name="Text 5"/>
          <p:cNvSpPr/>
          <p:nvPr/>
        </p:nvSpPr>
        <p:spPr>
          <a:xfrm>
            <a:off x="777240" y="3291840"/>
            <a:ext cx="1005840" cy="274320"/>
          </a:xfrm>
          <a:prstGeom prst="rect">
            <a:avLst/>
          </a:prstGeom>
          <a:noFill/>
          <a:ln/>
        </p:spPr>
        <p:txBody>
          <a:bodyPr wrap="square" lIns="0" tIns="0" rIns="0" bIns="0" rtlCol="0" anchor="ctr"/>
          <a:lstStyle/>
          <a:p>
            <a:pPr algn="ctr" indent="0" marL="0">
              <a:buNone/>
            </a:pPr>
            <a:r>
              <a:rPr lang="en-US" sz="750" spc="100" kern="0" dirty="0">
                <a:solidFill>
                  <a:srgbClr val="7A7570"/>
                </a:solidFill>
                <a:latin typeface="Consolas" pitchFamily="34" charset="0"/>
                <a:ea typeface="Consolas" pitchFamily="34" charset="-122"/>
                <a:cs typeface="Consolas" pitchFamily="34" charset="-120"/>
              </a:rPr>
              <a:t>billets/soir</a:t>
            </a:r>
            <a:endParaRPr lang="en-US" sz="750" dirty="0"/>
          </a:p>
        </p:txBody>
      </p:sp>
      <p:sp>
        <p:nvSpPr>
          <p:cNvPr id="8" name="Text 6"/>
          <p:cNvSpPr/>
          <p:nvPr/>
        </p:nvSpPr>
        <p:spPr>
          <a:xfrm>
            <a:off x="1938528" y="2651760"/>
            <a:ext cx="457200" cy="548640"/>
          </a:xfrm>
          <a:prstGeom prst="rect">
            <a:avLst/>
          </a:prstGeom>
          <a:noFill/>
          <a:ln/>
        </p:spPr>
        <p:txBody>
          <a:bodyPr wrap="square" lIns="0" tIns="0" rIns="0" bIns="0" rtlCol="0" anchor="ctr"/>
          <a:lstStyle/>
          <a:p>
            <a:pPr algn="ctr" indent="0" marL="0">
              <a:buNone/>
            </a:pPr>
            <a:r>
              <a:rPr lang="en-US" sz="2800" dirty="0">
                <a:solidFill>
                  <a:srgbClr val="7A7570"/>
                </a:solidFill>
                <a:latin typeface="Arial Black" pitchFamily="34" charset="0"/>
                <a:ea typeface="Arial Black" pitchFamily="34" charset="-122"/>
                <a:cs typeface="Arial Black" pitchFamily="34" charset="-120"/>
              </a:rPr>
              <a:t>×</a:t>
            </a:r>
            <a:endParaRPr lang="en-US" sz="2800" dirty="0"/>
          </a:p>
        </p:txBody>
      </p:sp>
      <p:sp>
        <p:nvSpPr>
          <p:cNvPr id="9" name="Text 7"/>
          <p:cNvSpPr/>
          <p:nvPr/>
        </p:nvSpPr>
        <p:spPr>
          <a:xfrm>
            <a:off x="3054096" y="2514600"/>
            <a:ext cx="914400" cy="777240"/>
          </a:xfrm>
          <a:prstGeom prst="rect">
            <a:avLst/>
          </a:prstGeom>
          <a:noFill/>
          <a:ln/>
        </p:spPr>
        <p:txBody>
          <a:bodyPr wrap="square" lIns="0" tIns="0" rIns="0" bIns="0" rtlCol="0" anchor="ctr"/>
          <a:lstStyle/>
          <a:p>
            <a:pPr algn="ctr" indent="0" marL="0">
              <a:buNone/>
            </a:pPr>
            <a:r>
              <a:rPr lang="en-US" sz="3200" b="1" dirty="0">
                <a:solidFill>
                  <a:srgbClr val="F0ECE3"/>
                </a:solidFill>
                <a:latin typeface="Arial Black" pitchFamily="34" charset="0"/>
                <a:ea typeface="Arial Black" pitchFamily="34" charset="-122"/>
                <a:cs typeface="Arial Black" pitchFamily="34" charset="-120"/>
              </a:rPr>
              <a:t>15€</a:t>
            </a:r>
            <a:endParaRPr lang="en-US" sz="3200" dirty="0"/>
          </a:p>
        </p:txBody>
      </p:sp>
      <p:sp>
        <p:nvSpPr>
          <p:cNvPr id="10" name="Text 8"/>
          <p:cNvSpPr/>
          <p:nvPr/>
        </p:nvSpPr>
        <p:spPr>
          <a:xfrm>
            <a:off x="3008376" y="3291840"/>
            <a:ext cx="1005840" cy="274320"/>
          </a:xfrm>
          <a:prstGeom prst="rect">
            <a:avLst/>
          </a:prstGeom>
          <a:noFill/>
          <a:ln/>
        </p:spPr>
        <p:txBody>
          <a:bodyPr wrap="square" lIns="0" tIns="0" rIns="0" bIns="0" rtlCol="0" anchor="ctr"/>
          <a:lstStyle/>
          <a:p>
            <a:pPr algn="ctr" indent="0" marL="0">
              <a:buNone/>
            </a:pPr>
            <a:r>
              <a:rPr lang="en-US" sz="750" spc="100" kern="0" dirty="0">
                <a:solidFill>
                  <a:srgbClr val="7A7570"/>
                </a:solidFill>
                <a:latin typeface="Consolas" pitchFamily="34" charset="0"/>
                <a:ea typeface="Consolas" pitchFamily="34" charset="-122"/>
                <a:cs typeface="Consolas" pitchFamily="34" charset="-120"/>
              </a:rPr>
              <a:t>prix moyen</a:t>
            </a:r>
            <a:endParaRPr lang="en-US" sz="750" dirty="0"/>
          </a:p>
        </p:txBody>
      </p:sp>
      <p:sp>
        <p:nvSpPr>
          <p:cNvPr id="11" name="Text 9"/>
          <p:cNvSpPr/>
          <p:nvPr/>
        </p:nvSpPr>
        <p:spPr>
          <a:xfrm>
            <a:off x="4169664" y="2651760"/>
            <a:ext cx="457200" cy="548640"/>
          </a:xfrm>
          <a:prstGeom prst="rect">
            <a:avLst/>
          </a:prstGeom>
          <a:noFill/>
          <a:ln/>
        </p:spPr>
        <p:txBody>
          <a:bodyPr wrap="square" lIns="0" tIns="0" rIns="0" bIns="0" rtlCol="0" anchor="ctr"/>
          <a:lstStyle/>
          <a:p>
            <a:pPr algn="ctr" indent="0" marL="0">
              <a:buNone/>
            </a:pPr>
            <a:r>
              <a:rPr lang="en-US" sz="2800" dirty="0">
                <a:solidFill>
                  <a:srgbClr val="7A7570"/>
                </a:solidFill>
                <a:latin typeface="Arial Black" pitchFamily="34" charset="0"/>
                <a:ea typeface="Arial Black" pitchFamily="34" charset="-122"/>
                <a:cs typeface="Arial Black" pitchFamily="34" charset="-120"/>
              </a:rPr>
              <a:t>×</a:t>
            </a:r>
            <a:endParaRPr lang="en-US" sz="2800" dirty="0"/>
          </a:p>
        </p:txBody>
      </p:sp>
      <p:sp>
        <p:nvSpPr>
          <p:cNvPr id="12" name="Text 10"/>
          <p:cNvSpPr/>
          <p:nvPr/>
        </p:nvSpPr>
        <p:spPr>
          <a:xfrm>
            <a:off x="5285232" y="2514600"/>
            <a:ext cx="914400" cy="777240"/>
          </a:xfrm>
          <a:prstGeom prst="rect">
            <a:avLst/>
          </a:prstGeom>
          <a:noFill/>
          <a:ln/>
        </p:spPr>
        <p:txBody>
          <a:bodyPr wrap="square" lIns="0" tIns="0" rIns="0" bIns="0" rtlCol="0" anchor="ctr"/>
          <a:lstStyle/>
          <a:p>
            <a:pPr algn="ctr" indent="0" marL="0">
              <a:buNone/>
            </a:pPr>
            <a:r>
              <a:rPr lang="en-US" sz="3200" b="1" dirty="0">
                <a:solidFill>
                  <a:srgbClr val="E05252"/>
                </a:solidFill>
                <a:latin typeface="Arial Black" pitchFamily="34" charset="0"/>
                <a:ea typeface="Arial Black" pitchFamily="34" charset="-122"/>
                <a:cs typeface="Arial Black" pitchFamily="34" charset="-120"/>
              </a:rPr>
              <a:t>12%</a:t>
            </a:r>
            <a:endParaRPr lang="en-US" sz="3200" dirty="0"/>
          </a:p>
        </p:txBody>
      </p:sp>
      <p:sp>
        <p:nvSpPr>
          <p:cNvPr id="13" name="Text 11"/>
          <p:cNvSpPr/>
          <p:nvPr/>
        </p:nvSpPr>
        <p:spPr>
          <a:xfrm>
            <a:off x="5239512" y="3291840"/>
            <a:ext cx="1005840" cy="274320"/>
          </a:xfrm>
          <a:prstGeom prst="rect">
            <a:avLst/>
          </a:prstGeom>
          <a:noFill/>
          <a:ln/>
        </p:spPr>
        <p:txBody>
          <a:bodyPr wrap="square" lIns="0" tIns="0" rIns="0" bIns="0" rtlCol="0" anchor="ctr"/>
          <a:lstStyle/>
          <a:p>
            <a:pPr algn="ctr" indent="0" marL="0">
              <a:buNone/>
            </a:pPr>
            <a:r>
              <a:rPr lang="en-US" sz="750" spc="100" kern="0" dirty="0">
                <a:solidFill>
                  <a:srgbClr val="7A7570"/>
                </a:solidFill>
                <a:latin typeface="Consolas" pitchFamily="34" charset="0"/>
                <a:ea typeface="Consolas" pitchFamily="34" charset="-122"/>
                <a:cs typeface="Consolas" pitchFamily="34" charset="-120"/>
              </a:rPr>
              <a:t>commission RA</a:t>
            </a:r>
            <a:endParaRPr lang="en-US" sz="750" dirty="0"/>
          </a:p>
        </p:txBody>
      </p:sp>
      <p:sp>
        <p:nvSpPr>
          <p:cNvPr id="14" name="Text 12"/>
          <p:cNvSpPr/>
          <p:nvPr/>
        </p:nvSpPr>
        <p:spPr>
          <a:xfrm>
            <a:off x="6400800" y="2651760"/>
            <a:ext cx="457200" cy="548640"/>
          </a:xfrm>
          <a:prstGeom prst="rect">
            <a:avLst/>
          </a:prstGeom>
          <a:noFill/>
          <a:ln/>
        </p:spPr>
        <p:txBody>
          <a:bodyPr wrap="square" lIns="0" tIns="0" rIns="0" bIns="0" rtlCol="0" anchor="ctr"/>
          <a:lstStyle/>
          <a:p>
            <a:pPr algn="ctr" indent="0" marL="0">
              <a:buNone/>
            </a:pPr>
            <a:r>
              <a:rPr lang="en-US" sz="2800" dirty="0">
                <a:solidFill>
                  <a:srgbClr val="7A7570"/>
                </a:solidFill>
                <a:latin typeface="Arial Black" pitchFamily="34" charset="0"/>
                <a:ea typeface="Arial Black" pitchFamily="34" charset="-122"/>
                <a:cs typeface="Arial Black" pitchFamily="34" charset="-120"/>
              </a:rPr>
              <a:t>=</a:t>
            </a:r>
            <a:endParaRPr lang="en-US" sz="2800" dirty="0"/>
          </a:p>
        </p:txBody>
      </p:sp>
      <p:sp>
        <p:nvSpPr>
          <p:cNvPr id="15" name="Text 13"/>
          <p:cNvSpPr/>
          <p:nvPr/>
        </p:nvSpPr>
        <p:spPr>
          <a:xfrm>
            <a:off x="7516368" y="2514600"/>
            <a:ext cx="914400" cy="777240"/>
          </a:xfrm>
          <a:prstGeom prst="rect">
            <a:avLst/>
          </a:prstGeom>
          <a:noFill/>
          <a:ln/>
        </p:spPr>
        <p:txBody>
          <a:bodyPr wrap="square" lIns="0" tIns="0" rIns="0" bIns="0" rtlCol="0" anchor="ctr"/>
          <a:lstStyle/>
          <a:p>
            <a:pPr algn="ctr" indent="0" marL="0">
              <a:buNone/>
            </a:pPr>
            <a:r>
              <a:rPr lang="en-US" sz="3200" b="1" dirty="0">
                <a:solidFill>
                  <a:srgbClr val="E05252"/>
                </a:solidFill>
                <a:latin typeface="Arial Black" pitchFamily="34" charset="0"/>
                <a:ea typeface="Arial Black" pitchFamily="34" charset="-122"/>
                <a:cs typeface="Arial Black" pitchFamily="34" charset="-120"/>
              </a:rPr>
              <a:t>360€</a:t>
            </a:r>
            <a:endParaRPr lang="en-US" sz="3200" dirty="0"/>
          </a:p>
        </p:txBody>
      </p:sp>
      <p:sp>
        <p:nvSpPr>
          <p:cNvPr id="16" name="Text 14"/>
          <p:cNvSpPr/>
          <p:nvPr/>
        </p:nvSpPr>
        <p:spPr>
          <a:xfrm>
            <a:off x="7470648" y="3291840"/>
            <a:ext cx="1005840" cy="274320"/>
          </a:xfrm>
          <a:prstGeom prst="rect">
            <a:avLst/>
          </a:prstGeom>
          <a:noFill/>
          <a:ln/>
        </p:spPr>
        <p:txBody>
          <a:bodyPr wrap="square" lIns="0" tIns="0" rIns="0" bIns="0" rtlCol="0" anchor="ctr"/>
          <a:lstStyle/>
          <a:p>
            <a:pPr algn="ctr" indent="0" marL="0">
              <a:buNone/>
            </a:pPr>
            <a:r>
              <a:rPr lang="en-US" sz="750" spc="100" kern="0" dirty="0">
                <a:solidFill>
                  <a:srgbClr val="7A7570"/>
                </a:solidFill>
                <a:latin typeface="Consolas" pitchFamily="34" charset="0"/>
                <a:ea typeface="Consolas" pitchFamily="34" charset="-122"/>
                <a:cs typeface="Consolas" pitchFamily="34" charset="-120"/>
              </a:rPr>
              <a:t>PERDUS / SOIR</a:t>
            </a:r>
            <a:endParaRPr lang="en-US" sz="750" dirty="0"/>
          </a:p>
        </p:txBody>
      </p:sp>
      <p:sp>
        <p:nvSpPr>
          <p:cNvPr id="17" name="Shape 15"/>
          <p:cNvSpPr/>
          <p:nvPr/>
        </p:nvSpPr>
        <p:spPr>
          <a:xfrm>
            <a:off x="548640" y="4663440"/>
            <a:ext cx="8046720" cy="347472"/>
          </a:xfrm>
          <a:prstGeom prst="rect">
            <a:avLst/>
          </a:prstGeom>
          <a:solidFill>
            <a:srgbClr val="000000"/>
          </a:solidFill>
          <a:ln w="12700">
            <a:solidFill>
              <a:srgbClr val="000000"/>
            </a:solidFill>
            <a:prstDash val="solid"/>
          </a:ln>
        </p:spPr>
      </p:sp>
      <p:sp>
        <p:nvSpPr>
          <p:cNvPr id="18" name="Text 16"/>
          <p:cNvSpPr/>
          <p:nvPr/>
        </p:nvSpPr>
        <p:spPr>
          <a:xfrm>
            <a:off x="548640" y="4681728"/>
            <a:ext cx="8046720" cy="310896"/>
          </a:xfrm>
          <a:prstGeom prst="rect">
            <a:avLst/>
          </a:prstGeom>
          <a:noFill/>
          <a:ln/>
        </p:spPr>
        <p:txBody>
          <a:bodyPr wrap="square" lIns="0" tIns="0" rIns="0" bIns="0" rtlCol="0" anchor="ctr"/>
          <a:lstStyle/>
          <a:p>
            <a:pPr algn="ctr" indent="0" marL="0">
              <a:buNone/>
            </a:pPr>
            <a:r>
              <a:rPr lang="en-US" sz="1300" b="1" dirty="0">
                <a:solidFill>
                  <a:srgbClr val="E05252"/>
                </a:solidFill>
                <a:latin typeface="Calibri" pitchFamily="34" charset="0"/>
                <a:ea typeface="Calibri" pitchFamily="34" charset="-122"/>
                <a:cs typeface="Calibri" pitchFamily="34" charset="-120"/>
              </a:rPr>
              <a:t>3 soirées/semaine = 4.320€/mois offerts à Resident Advisor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900" spc="300" kern="0" dirty="0">
                <a:solidFill>
                  <a:srgbClr val="C9A84C"/>
                </a:solidFill>
                <a:latin typeface="Consolas" pitchFamily="34" charset="0"/>
                <a:ea typeface="Consolas" pitchFamily="34" charset="-122"/>
                <a:cs typeface="Consolas" pitchFamily="34" charset="-120"/>
              </a:rPr>
              <a:t>LA SOLUTION</a:t>
            </a:r>
            <a:endParaRPr lang="en-US" sz="900" dirty="0"/>
          </a:p>
        </p:txBody>
      </p:sp>
      <p:sp>
        <p:nvSpPr>
          <p:cNvPr id="4" name="Text 2"/>
          <p:cNvSpPr/>
          <p:nvPr/>
        </p:nvSpPr>
        <p:spPr>
          <a:xfrm>
            <a:off x="548640" y="502920"/>
            <a:ext cx="4572000" cy="777240"/>
          </a:xfrm>
          <a:prstGeom prst="rect">
            <a:avLst/>
          </a:prstGeom>
          <a:noFill/>
          <a:ln/>
        </p:spPr>
        <p:txBody>
          <a:bodyPr wrap="square" lIns="0" tIns="0" rIns="0" bIns="0" rtlCol="0" anchor="ctr"/>
          <a:lstStyle/>
          <a:p>
            <a:pPr algn="l" indent="0" marL="0">
              <a:buNone/>
            </a:pPr>
            <a:r>
              <a:rPr lang="en-US" sz="5600" b="1" spc="300" kern="0" dirty="0">
                <a:solidFill>
                  <a:srgbClr val="C9A84C"/>
                </a:solidFill>
                <a:latin typeface="Arial Black" pitchFamily="34" charset="0"/>
                <a:ea typeface="Arial Black" pitchFamily="34" charset="-122"/>
                <a:cs typeface="Arial Black" pitchFamily="34" charset="-120"/>
              </a:rPr>
              <a:t>HonoPs.</a:t>
            </a:r>
            <a:endParaRPr lang="en-US" sz="5600" dirty="0"/>
          </a:p>
        </p:txBody>
      </p:sp>
      <p:sp>
        <p:nvSpPr>
          <p:cNvPr id="5" name="Text 3"/>
          <p:cNvSpPr/>
          <p:nvPr/>
        </p:nvSpPr>
        <p:spPr>
          <a:xfrm>
            <a:off x="548640" y="1280160"/>
            <a:ext cx="4572000" cy="731520"/>
          </a:xfrm>
          <a:prstGeom prst="rect">
            <a:avLst/>
          </a:prstGeom>
          <a:noFill/>
          <a:ln/>
        </p:spPr>
        <p:txBody>
          <a:bodyPr wrap="square" lIns="0" tIns="0" rIns="0" bIns="0" rtlCol="0" anchor="ctr"/>
          <a:lstStyle/>
          <a:p>
            <a:pPr indent="0" marL="0">
              <a:lnSpc>
                <a:spcPct val="120000"/>
              </a:lnSpc>
              <a:buNone/>
            </a:pPr>
            <a:r>
              <a:rPr lang="en-US" sz="2600" b="1" dirty="0">
                <a:solidFill>
                  <a:srgbClr val="F0ECE3"/>
                </a:solidFill>
                <a:latin typeface="Arial Black" pitchFamily="34" charset="0"/>
                <a:ea typeface="Arial Black" pitchFamily="34" charset="-122"/>
                <a:cs typeface="Arial Black" pitchFamily="34" charset="-120"/>
              </a:rPr>
              <a:t>Votre propre plateforme</a:t>
            </a:r>
            <a:endParaRPr lang="en-US" sz="2600" dirty="0"/>
          </a:p>
          <a:p>
            <a:pPr indent="0" marL="0">
              <a:lnSpc>
                <a:spcPct val="120000"/>
              </a:lnSpc>
              <a:buNone/>
            </a:pPr>
            <a:r>
              <a:rPr lang="en-US" sz="2600" b="1" dirty="0">
                <a:solidFill>
                  <a:srgbClr val="F0ECE3"/>
                </a:solidFill>
                <a:latin typeface="Arial Black" pitchFamily="34" charset="0"/>
                <a:ea typeface="Arial Black" pitchFamily="34" charset="-122"/>
                <a:cs typeface="Arial Black" pitchFamily="34" charset="-120"/>
              </a:rPr>
              <a:t>de vente de billets.</a:t>
            </a:r>
            <a:endParaRPr lang="en-US" sz="2600" dirty="0"/>
          </a:p>
        </p:txBody>
      </p:sp>
      <p:sp>
        <p:nvSpPr>
          <p:cNvPr id="6" name="Text 4"/>
          <p:cNvSpPr/>
          <p:nvPr/>
        </p:nvSpPr>
        <p:spPr>
          <a:xfrm>
            <a:off x="548640" y="2148840"/>
            <a:ext cx="4114800" cy="640080"/>
          </a:xfrm>
          <a:prstGeom prst="rect">
            <a:avLst/>
          </a:prstGeom>
          <a:noFill/>
          <a:ln/>
        </p:spPr>
        <p:txBody>
          <a:bodyPr wrap="square" lIns="0" tIns="0" rIns="0" bIns="0" rtlCol="0" anchor="ctr"/>
          <a:lstStyle/>
          <a:p>
            <a:pPr algn="l" indent="0" marL="0">
              <a:lnSpc>
                <a:spcPct val="130000"/>
              </a:lnSpc>
              <a:buNone/>
            </a:pPr>
            <a:r>
              <a:rPr lang="en-US" sz="1500" dirty="0">
                <a:solidFill>
                  <a:srgbClr val="7A7570"/>
                </a:solidFill>
                <a:latin typeface="Calibri" pitchFamily="34" charset="0"/>
                <a:ea typeface="Calibri" pitchFamily="34" charset="-122"/>
                <a:cs typeface="Calibri" pitchFamily="34" charset="-120"/>
              </a:rPr>
              <a:t>Comme avoir votre propre Resident Advisor,</a:t>
            </a:r>
            <a:endParaRPr lang="en-US" sz="1500" dirty="0"/>
          </a:p>
          <a:p>
            <a:pPr algn="l" indent="0" marL="0">
              <a:lnSpc>
                <a:spcPct val="130000"/>
              </a:lnSpc>
              <a:buNone/>
            </a:pPr>
            <a:r>
              <a:rPr lang="en-US" sz="1500" dirty="0">
                <a:solidFill>
                  <a:srgbClr val="7A7570"/>
                </a:solidFill>
                <a:latin typeface="Calibri" pitchFamily="34" charset="0"/>
                <a:ea typeface="Calibri" pitchFamily="34" charset="-122"/>
                <a:cs typeface="Calibri" pitchFamily="34" charset="-120"/>
              </a:rPr>
              <a:t>mais sans payer de commissions.</a:t>
            </a:r>
            <a:endParaRPr lang="en-US" sz="1500" dirty="0"/>
          </a:p>
        </p:txBody>
      </p:sp>
      <p:sp>
        <p:nvSpPr>
          <p:cNvPr id="7" name="Shape 5"/>
          <p:cNvSpPr/>
          <p:nvPr/>
        </p:nvSpPr>
        <p:spPr>
          <a:xfrm>
            <a:off x="4846320" y="502920"/>
            <a:ext cx="2011680" cy="4297680"/>
          </a:xfrm>
          <a:prstGeom prst="rect">
            <a:avLst/>
          </a:prstGeom>
          <a:solidFill>
            <a:srgbClr val="0D0303"/>
          </a:solidFill>
          <a:ln w="12700">
            <a:solidFill>
              <a:srgbClr val="E05252"/>
            </a:solidFill>
            <a:prstDash val="solid"/>
          </a:ln>
        </p:spPr>
      </p:sp>
      <p:sp>
        <p:nvSpPr>
          <p:cNvPr id="8" name="Shape 6"/>
          <p:cNvSpPr/>
          <p:nvPr/>
        </p:nvSpPr>
        <p:spPr>
          <a:xfrm>
            <a:off x="4846320" y="502920"/>
            <a:ext cx="2011680" cy="411480"/>
          </a:xfrm>
          <a:prstGeom prst="rect">
            <a:avLst/>
          </a:prstGeom>
          <a:solidFill>
            <a:srgbClr val="E05252"/>
          </a:solidFill>
          <a:ln w="12700">
            <a:solidFill>
              <a:srgbClr val="E05252"/>
            </a:solidFill>
            <a:prstDash val="solid"/>
          </a:ln>
        </p:spPr>
      </p:sp>
      <p:sp>
        <p:nvSpPr>
          <p:cNvPr id="9" name="Text 7"/>
          <p:cNvSpPr/>
          <p:nvPr/>
        </p:nvSpPr>
        <p:spPr>
          <a:xfrm>
            <a:off x="4846320" y="521208"/>
            <a:ext cx="2011680" cy="374904"/>
          </a:xfrm>
          <a:prstGeom prst="rect">
            <a:avLst/>
          </a:prstGeom>
          <a:noFill/>
          <a:ln/>
        </p:spPr>
        <p:txBody>
          <a:bodyPr wrap="square" lIns="0" tIns="0" rIns="0" bIns="0" rtlCol="0" anchor="ctr"/>
          <a:lstStyle/>
          <a:p>
            <a:pPr algn="ctr" indent="0" marL="0">
              <a:buNone/>
            </a:pPr>
            <a:r>
              <a:rPr lang="en-US" sz="900" b="1" spc="100" kern="0" dirty="0">
                <a:solidFill>
                  <a:srgbClr val="F0ECE3"/>
                </a:solidFill>
                <a:latin typeface="Consolas" pitchFamily="34" charset="0"/>
                <a:ea typeface="Consolas" pitchFamily="34" charset="-122"/>
                <a:cs typeface="Consolas" pitchFamily="34" charset="-120"/>
              </a:rPr>
              <a:t>Resident Advisor</a:t>
            </a:r>
            <a:endParaRPr lang="en-US" sz="900" dirty="0"/>
          </a:p>
        </p:txBody>
      </p:sp>
      <p:sp>
        <p:nvSpPr>
          <p:cNvPr id="10" name="Text 8"/>
          <p:cNvSpPr/>
          <p:nvPr/>
        </p:nvSpPr>
        <p:spPr>
          <a:xfrm>
            <a:off x="4956048" y="1097280"/>
            <a:ext cx="274320" cy="411480"/>
          </a:xfrm>
          <a:prstGeom prst="rect">
            <a:avLst/>
          </a:prstGeom>
          <a:noFill/>
          <a:ln/>
        </p:spPr>
        <p:txBody>
          <a:bodyPr wrap="square" lIns="0" tIns="0" rIns="0" bIns="0" rtlCol="0" anchor="ctr"/>
          <a:lstStyle/>
          <a:p>
            <a:pPr indent="0" marL="0">
              <a:buNone/>
            </a:pPr>
            <a:r>
              <a:rPr lang="en-US" sz="1300" dirty="0">
                <a:solidFill>
                  <a:srgbClr val="E05252"/>
                </a:solidFill>
                <a:latin typeface="Arial" pitchFamily="34" charset="0"/>
                <a:ea typeface="Arial" pitchFamily="34" charset="-122"/>
                <a:cs typeface="Arial" pitchFamily="34" charset="-120"/>
              </a:rPr>
              <a:t>✗</a:t>
            </a:r>
            <a:endParaRPr lang="en-US" sz="1300" dirty="0"/>
          </a:p>
        </p:txBody>
      </p:sp>
      <p:sp>
        <p:nvSpPr>
          <p:cNvPr id="11" name="Text 9"/>
          <p:cNvSpPr/>
          <p:nvPr/>
        </p:nvSpPr>
        <p:spPr>
          <a:xfrm>
            <a:off x="5230368" y="1097280"/>
            <a:ext cx="1508760" cy="411480"/>
          </a:xfrm>
          <a:prstGeom prst="rect">
            <a:avLst/>
          </a:prstGeom>
          <a:noFill/>
          <a:ln/>
        </p:spPr>
        <p:txBody>
          <a:bodyPr wrap="square" lIns="0" tIns="0" rIns="0" bIns="0" rtlCol="0" anchor="ctr"/>
          <a:lstStyle/>
          <a:p>
            <a:pPr indent="0" marL="0">
              <a:lnSpc>
                <a:spcPct val="110000"/>
              </a:lnSpc>
              <a:buNone/>
            </a:pPr>
            <a:r>
              <a:rPr lang="en-US" sz="1000" dirty="0">
                <a:solidFill>
                  <a:srgbClr val="7A7570"/>
                </a:solidFill>
                <a:latin typeface="Calibri" pitchFamily="34" charset="0"/>
                <a:ea typeface="Calibri" pitchFamily="34" charset="-122"/>
                <a:cs typeface="Calibri" pitchFamily="34" charset="-120"/>
              </a:rPr>
              <a:t>12% par billet</a:t>
            </a:r>
            <a:endParaRPr lang="en-US" sz="1000" dirty="0"/>
          </a:p>
        </p:txBody>
      </p:sp>
      <p:sp>
        <p:nvSpPr>
          <p:cNvPr id="12" name="Text 10"/>
          <p:cNvSpPr/>
          <p:nvPr/>
        </p:nvSpPr>
        <p:spPr>
          <a:xfrm>
            <a:off x="4956048" y="1783080"/>
            <a:ext cx="274320" cy="411480"/>
          </a:xfrm>
          <a:prstGeom prst="rect">
            <a:avLst/>
          </a:prstGeom>
          <a:noFill/>
          <a:ln/>
        </p:spPr>
        <p:txBody>
          <a:bodyPr wrap="square" lIns="0" tIns="0" rIns="0" bIns="0" rtlCol="0" anchor="ctr"/>
          <a:lstStyle/>
          <a:p>
            <a:pPr indent="0" marL="0">
              <a:buNone/>
            </a:pPr>
            <a:r>
              <a:rPr lang="en-US" sz="1300" dirty="0">
                <a:solidFill>
                  <a:srgbClr val="E05252"/>
                </a:solidFill>
                <a:latin typeface="Arial" pitchFamily="34" charset="0"/>
                <a:ea typeface="Arial" pitchFamily="34" charset="-122"/>
                <a:cs typeface="Arial" pitchFamily="34" charset="-120"/>
              </a:rPr>
              <a:t>✗</a:t>
            </a:r>
            <a:endParaRPr lang="en-US" sz="1300" dirty="0"/>
          </a:p>
        </p:txBody>
      </p:sp>
      <p:sp>
        <p:nvSpPr>
          <p:cNvPr id="13" name="Text 11"/>
          <p:cNvSpPr/>
          <p:nvPr/>
        </p:nvSpPr>
        <p:spPr>
          <a:xfrm>
            <a:off x="5230368" y="1783080"/>
            <a:ext cx="1508760" cy="411480"/>
          </a:xfrm>
          <a:prstGeom prst="rect">
            <a:avLst/>
          </a:prstGeom>
          <a:noFill/>
          <a:ln/>
        </p:spPr>
        <p:txBody>
          <a:bodyPr wrap="square" lIns="0" tIns="0" rIns="0" bIns="0" rtlCol="0" anchor="ctr"/>
          <a:lstStyle/>
          <a:p>
            <a:pPr indent="0" marL="0">
              <a:lnSpc>
                <a:spcPct val="110000"/>
              </a:lnSpc>
              <a:buNone/>
            </a:pPr>
            <a:r>
              <a:rPr lang="en-US" sz="1000" dirty="0">
                <a:solidFill>
                  <a:srgbClr val="7A7570"/>
                </a:solidFill>
                <a:latin typeface="Calibri" pitchFamily="34" charset="0"/>
                <a:ea typeface="Calibri" pitchFamily="34" charset="-122"/>
                <a:cs typeface="Calibri" pitchFamily="34" charset="-120"/>
              </a:rPr>
              <a:t>Données clients = à RA</a:t>
            </a:r>
            <a:endParaRPr lang="en-US" sz="1000" dirty="0"/>
          </a:p>
        </p:txBody>
      </p:sp>
      <p:sp>
        <p:nvSpPr>
          <p:cNvPr id="14" name="Text 12"/>
          <p:cNvSpPr/>
          <p:nvPr/>
        </p:nvSpPr>
        <p:spPr>
          <a:xfrm>
            <a:off x="4956048" y="2468880"/>
            <a:ext cx="274320" cy="411480"/>
          </a:xfrm>
          <a:prstGeom prst="rect">
            <a:avLst/>
          </a:prstGeom>
          <a:noFill/>
          <a:ln/>
        </p:spPr>
        <p:txBody>
          <a:bodyPr wrap="square" lIns="0" tIns="0" rIns="0" bIns="0" rtlCol="0" anchor="ctr"/>
          <a:lstStyle/>
          <a:p>
            <a:pPr indent="0" marL="0">
              <a:buNone/>
            </a:pPr>
            <a:r>
              <a:rPr lang="en-US" sz="1300" dirty="0">
                <a:solidFill>
                  <a:srgbClr val="E05252"/>
                </a:solidFill>
                <a:latin typeface="Arial" pitchFamily="34" charset="0"/>
                <a:ea typeface="Arial" pitchFamily="34" charset="-122"/>
                <a:cs typeface="Arial" pitchFamily="34" charset="-120"/>
              </a:rPr>
              <a:t>✗</a:t>
            </a:r>
            <a:endParaRPr lang="en-US" sz="1300" dirty="0"/>
          </a:p>
        </p:txBody>
      </p:sp>
      <p:sp>
        <p:nvSpPr>
          <p:cNvPr id="15" name="Text 13"/>
          <p:cNvSpPr/>
          <p:nvPr/>
        </p:nvSpPr>
        <p:spPr>
          <a:xfrm>
            <a:off x="5230368" y="2468880"/>
            <a:ext cx="1508760" cy="411480"/>
          </a:xfrm>
          <a:prstGeom prst="rect">
            <a:avLst/>
          </a:prstGeom>
          <a:noFill/>
          <a:ln/>
        </p:spPr>
        <p:txBody>
          <a:bodyPr wrap="square" lIns="0" tIns="0" rIns="0" bIns="0" rtlCol="0" anchor="ctr"/>
          <a:lstStyle/>
          <a:p>
            <a:pPr indent="0" marL="0">
              <a:lnSpc>
                <a:spcPct val="110000"/>
              </a:lnSpc>
              <a:buNone/>
            </a:pPr>
            <a:r>
              <a:rPr lang="en-US" sz="1000" dirty="0">
                <a:solidFill>
                  <a:srgbClr val="7A7570"/>
                </a:solidFill>
                <a:latin typeface="Calibri" pitchFamily="34" charset="0"/>
                <a:ea typeface="Calibri" pitchFamily="34" charset="-122"/>
                <a:cs typeface="Calibri" pitchFamily="34" charset="-120"/>
              </a:rPr>
              <a:t>Votre marque au second plan</a:t>
            </a:r>
            <a:endParaRPr lang="en-US" sz="1000" dirty="0"/>
          </a:p>
        </p:txBody>
      </p:sp>
      <p:sp>
        <p:nvSpPr>
          <p:cNvPr id="16" name="Text 14"/>
          <p:cNvSpPr/>
          <p:nvPr/>
        </p:nvSpPr>
        <p:spPr>
          <a:xfrm>
            <a:off x="4956048" y="3154680"/>
            <a:ext cx="274320" cy="411480"/>
          </a:xfrm>
          <a:prstGeom prst="rect">
            <a:avLst/>
          </a:prstGeom>
          <a:noFill/>
          <a:ln/>
        </p:spPr>
        <p:txBody>
          <a:bodyPr wrap="square" lIns="0" tIns="0" rIns="0" bIns="0" rtlCol="0" anchor="ctr"/>
          <a:lstStyle/>
          <a:p>
            <a:pPr indent="0" marL="0">
              <a:buNone/>
            </a:pPr>
            <a:r>
              <a:rPr lang="en-US" sz="1300" dirty="0">
                <a:solidFill>
                  <a:srgbClr val="E05252"/>
                </a:solidFill>
                <a:latin typeface="Arial" pitchFamily="34" charset="0"/>
                <a:ea typeface="Arial" pitchFamily="34" charset="-122"/>
                <a:cs typeface="Arial" pitchFamily="34" charset="-120"/>
              </a:rPr>
              <a:t>✗</a:t>
            </a:r>
            <a:endParaRPr lang="en-US" sz="1300" dirty="0"/>
          </a:p>
        </p:txBody>
      </p:sp>
      <p:sp>
        <p:nvSpPr>
          <p:cNvPr id="17" name="Text 15"/>
          <p:cNvSpPr/>
          <p:nvPr/>
        </p:nvSpPr>
        <p:spPr>
          <a:xfrm>
            <a:off x="5230368" y="3154680"/>
            <a:ext cx="1508760" cy="411480"/>
          </a:xfrm>
          <a:prstGeom prst="rect">
            <a:avLst/>
          </a:prstGeom>
          <a:noFill/>
          <a:ln/>
        </p:spPr>
        <p:txBody>
          <a:bodyPr wrap="square" lIns="0" tIns="0" rIns="0" bIns="0" rtlCol="0" anchor="ctr"/>
          <a:lstStyle/>
          <a:p>
            <a:pPr indent="0" marL="0">
              <a:lnSpc>
                <a:spcPct val="110000"/>
              </a:lnSpc>
              <a:buNone/>
            </a:pPr>
            <a:r>
              <a:rPr lang="en-US" sz="1000" dirty="0">
                <a:solidFill>
                  <a:srgbClr val="7A7570"/>
                </a:solidFill>
                <a:latin typeface="Calibri" pitchFamily="34" charset="0"/>
                <a:ea typeface="Calibri" pitchFamily="34" charset="-122"/>
                <a:cs typeface="Calibri" pitchFamily="34" charset="-120"/>
              </a:rPr>
              <a:t>0 contrôle sur vos prix</a:t>
            </a:r>
            <a:endParaRPr lang="en-US" sz="1000" dirty="0"/>
          </a:p>
        </p:txBody>
      </p:sp>
      <p:sp>
        <p:nvSpPr>
          <p:cNvPr id="18" name="Shape 16"/>
          <p:cNvSpPr/>
          <p:nvPr/>
        </p:nvSpPr>
        <p:spPr>
          <a:xfrm>
            <a:off x="6995160" y="502920"/>
            <a:ext cx="2011680" cy="4297680"/>
          </a:xfrm>
          <a:prstGeom prst="rect">
            <a:avLst/>
          </a:prstGeom>
          <a:solidFill>
            <a:srgbClr val="0D0A03"/>
          </a:solidFill>
          <a:ln w="12700">
            <a:solidFill>
              <a:srgbClr val="C9A84C"/>
            </a:solidFill>
            <a:prstDash val="solid"/>
          </a:ln>
        </p:spPr>
      </p:sp>
      <p:sp>
        <p:nvSpPr>
          <p:cNvPr id="19" name="Shape 17"/>
          <p:cNvSpPr/>
          <p:nvPr/>
        </p:nvSpPr>
        <p:spPr>
          <a:xfrm>
            <a:off x="6995160" y="502920"/>
            <a:ext cx="2011680" cy="411480"/>
          </a:xfrm>
          <a:prstGeom prst="rect">
            <a:avLst/>
          </a:prstGeom>
          <a:solidFill>
            <a:srgbClr val="C9A84C"/>
          </a:solidFill>
          <a:ln w="12700">
            <a:solidFill>
              <a:srgbClr val="C9A84C"/>
            </a:solidFill>
            <a:prstDash val="solid"/>
          </a:ln>
        </p:spPr>
      </p:sp>
      <p:sp>
        <p:nvSpPr>
          <p:cNvPr id="20" name="Text 18"/>
          <p:cNvSpPr/>
          <p:nvPr/>
        </p:nvSpPr>
        <p:spPr>
          <a:xfrm>
            <a:off x="6995160" y="521208"/>
            <a:ext cx="2011680" cy="374904"/>
          </a:xfrm>
          <a:prstGeom prst="rect">
            <a:avLst/>
          </a:prstGeom>
          <a:noFill/>
          <a:ln/>
        </p:spPr>
        <p:txBody>
          <a:bodyPr wrap="square" lIns="0" tIns="0" rIns="0" bIns="0" rtlCol="0" anchor="ctr"/>
          <a:lstStyle/>
          <a:p>
            <a:pPr algn="ctr" indent="0" marL="0">
              <a:buNone/>
            </a:pPr>
            <a:r>
              <a:rPr lang="en-US" sz="900" b="1" spc="100" kern="0" dirty="0">
                <a:solidFill>
                  <a:srgbClr val="080808"/>
                </a:solidFill>
                <a:latin typeface="Consolas" pitchFamily="34" charset="0"/>
                <a:ea typeface="Consolas" pitchFamily="34" charset="-122"/>
                <a:cs typeface="Consolas" pitchFamily="34" charset="-120"/>
              </a:rPr>
              <a:t>HonoPs</a:t>
            </a:r>
            <a:endParaRPr lang="en-US" sz="900" dirty="0"/>
          </a:p>
        </p:txBody>
      </p:sp>
      <p:sp>
        <p:nvSpPr>
          <p:cNvPr id="21" name="Text 19"/>
          <p:cNvSpPr/>
          <p:nvPr/>
        </p:nvSpPr>
        <p:spPr>
          <a:xfrm>
            <a:off x="7104888" y="1097280"/>
            <a:ext cx="274320" cy="411480"/>
          </a:xfrm>
          <a:prstGeom prst="rect">
            <a:avLst/>
          </a:prstGeom>
          <a:noFill/>
          <a:ln/>
        </p:spPr>
        <p:txBody>
          <a:bodyPr wrap="square" lIns="0" tIns="0" rIns="0" bIns="0" rtlCol="0" anchor="ctr"/>
          <a:lstStyle/>
          <a:p>
            <a:pPr indent="0" marL="0">
              <a:buNone/>
            </a:pPr>
            <a:r>
              <a:rPr lang="en-US" sz="1300" dirty="0">
                <a:solidFill>
                  <a:srgbClr val="3ECF8E"/>
                </a:solidFill>
                <a:latin typeface="Arial" pitchFamily="34" charset="0"/>
                <a:ea typeface="Arial" pitchFamily="34" charset="-122"/>
                <a:cs typeface="Arial" pitchFamily="34" charset="-120"/>
              </a:rPr>
              <a:t>✓</a:t>
            </a:r>
            <a:endParaRPr lang="en-US" sz="1300" dirty="0"/>
          </a:p>
        </p:txBody>
      </p:sp>
      <p:sp>
        <p:nvSpPr>
          <p:cNvPr id="22" name="Text 20"/>
          <p:cNvSpPr/>
          <p:nvPr/>
        </p:nvSpPr>
        <p:spPr>
          <a:xfrm>
            <a:off x="7379208" y="1097280"/>
            <a:ext cx="1508760" cy="411480"/>
          </a:xfrm>
          <a:prstGeom prst="rect">
            <a:avLst/>
          </a:prstGeom>
          <a:noFill/>
          <a:ln/>
        </p:spPr>
        <p:txBody>
          <a:bodyPr wrap="square" lIns="0" tIns="0" rIns="0" bIns="0" rtlCol="0" anchor="ctr"/>
          <a:lstStyle/>
          <a:p>
            <a:pPr indent="0" marL="0">
              <a:lnSpc>
                <a:spcPct val="110000"/>
              </a:lnSpc>
              <a:buNone/>
            </a:pPr>
            <a:r>
              <a:rPr lang="en-US" sz="1000" dirty="0">
                <a:solidFill>
                  <a:srgbClr val="F0ECE3"/>
                </a:solidFill>
                <a:latin typeface="Calibri" pitchFamily="34" charset="0"/>
                <a:ea typeface="Calibri" pitchFamily="34" charset="-122"/>
                <a:cs typeface="Calibri" pitchFamily="34" charset="-120"/>
              </a:rPr>
              <a:t>0% de commission</a:t>
            </a:r>
            <a:endParaRPr lang="en-US" sz="1000" dirty="0"/>
          </a:p>
        </p:txBody>
      </p:sp>
      <p:sp>
        <p:nvSpPr>
          <p:cNvPr id="23" name="Text 21"/>
          <p:cNvSpPr/>
          <p:nvPr/>
        </p:nvSpPr>
        <p:spPr>
          <a:xfrm>
            <a:off x="7104888" y="1783080"/>
            <a:ext cx="274320" cy="411480"/>
          </a:xfrm>
          <a:prstGeom prst="rect">
            <a:avLst/>
          </a:prstGeom>
          <a:noFill/>
          <a:ln/>
        </p:spPr>
        <p:txBody>
          <a:bodyPr wrap="square" lIns="0" tIns="0" rIns="0" bIns="0" rtlCol="0" anchor="ctr"/>
          <a:lstStyle/>
          <a:p>
            <a:pPr indent="0" marL="0">
              <a:buNone/>
            </a:pPr>
            <a:r>
              <a:rPr lang="en-US" sz="1300" dirty="0">
                <a:solidFill>
                  <a:srgbClr val="3ECF8E"/>
                </a:solidFill>
                <a:latin typeface="Arial" pitchFamily="34" charset="0"/>
                <a:ea typeface="Arial" pitchFamily="34" charset="-122"/>
                <a:cs typeface="Arial" pitchFamily="34" charset="-120"/>
              </a:rPr>
              <a:t>✓</a:t>
            </a:r>
            <a:endParaRPr lang="en-US" sz="1300" dirty="0"/>
          </a:p>
        </p:txBody>
      </p:sp>
      <p:sp>
        <p:nvSpPr>
          <p:cNvPr id="24" name="Text 22"/>
          <p:cNvSpPr/>
          <p:nvPr/>
        </p:nvSpPr>
        <p:spPr>
          <a:xfrm>
            <a:off x="7379208" y="1783080"/>
            <a:ext cx="1508760" cy="411480"/>
          </a:xfrm>
          <a:prstGeom prst="rect">
            <a:avLst/>
          </a:prstGeom>
          <a:noFill/>
          <a:ln/>
        </p:spPr>
        <p:txBody>
          <a:bodyPr wrap="square" lIns="0" tIns="0" rIns="0" bIns="0" rtlCol="0" anchor="ctr"/>
          <a:lstStyle/>
          <a:p>
            <a:pPr indent="0" marL="0">
              <a:lnSpc>
                <a:spcPct val="110000"/>
              </a:lnSpc>
              <a:buNone/>
            </a:pPr>
            <a:r>
              <a:rPr lang="en-US" sz="1000" dirty="0">
                <a:solidFill>
                  <a:srgbClr val="F0ECE3"/>
                </a:solidFill>
                <a:latin typeface="Calibri" pitchFamily="34" charset="0"/>
                <a:ea typeface="Calibri" pitchFamily="34" charset="-122"/>
                <a:cs typeface="Calibri" pitchFamily="34" charset="-120"/>
              </a:rPr>
              <a:t>Données clients = à vous</a:t>
            </a:r>
            <a:endParaRPr lang="en-US" sz="1000" dirty="0"/>
          </a:p>
        </p:txBody>
      </p:sp>
      <p:sp>
        <p:nvSpPr>
          <p:cNvPr id="25" name="Text 23"/>
          <p:cNvSpPr/>
          <p:nvPr/>
        </p:nvSpPr>
        <p:spPr>
          <a:xfrm>
            <a:off x="7104888" y="2468880"/>
            <a:ext cx="274320" cy="411480"/>
          </a:xfrm>
          <a:prstGeom prst="rect">
            <a:avLst/>
          </a:prstGeom>
          <a:noFill/>
          <a:ln/>
        </p:spPr>
        <p:txBody>
          <a:bodyPr wrap="square" lIns="0" tIns="0" rIns="0" bIns="0" rtlCol="0" anchor="ctr"/>
          <a:lstStyle/>
          <a:p>
            <a:pPr indent="0" marL="0">
              <a:buNone/>
            </a:pPr>
            <a:r>
              <a:rPr lang="en-US" sz="1300" dirty="0">
                <a:solidFill>
                  <a:srgbClr val="3ECF8E"/>
                </a:solidFill>
                <a:latin typeface="Arial" pitchFamily="34" charset="0"/>
                <a:ea typeface="Arial" pitchFamily="34" charset="-122"/>
                <a:cs typeface="Arial" pitchFamily="34" charset="-120"/>
              </a:rPr>
              <a:t>✓</a:t>
            </a:r>
            <a:endParaRPr lang="en-US" sz="1300" dirty="0"/>
          </a:p>
        </p:txBody>
      </p:sp>
      <p:sp>
        <p:nvSpPr>
          <p:cNvPr id="26" name="Text 24"/>
          <p:cNvSpPr/>
          <p:nvPr/>
        </p:nvSpPr>
        <p:spPr>
          <a:xfrm>
            <a:off x="7379208" y="2468880"/>
            <a:ext cx="1508760" cy="411480"/>
          </a:xfrm>
          <a:prstGeom prst="rect">
            <a:avLst/>
          </a:prstGeom>
          <a:noFill/>
          <a:ln/>
        </p:spPr>
        <p:txBody>
          <a:bodyPr wrap="square" lIns="0" tIns="0" rIns="0" bIns="0" rtlCol="0" anchor="ctr"/>
          <a:lstStyle/>
          <a:p>
            <a:pPr indent="0" marL="0">
              <a:lnSpc>
                <a:spcPct val="110000"/>
              </a:lnSpc>
              <a:buNone/>
            </a:pPr>
            <a:r>
              <a:rPr lang="en-US" sz="1000" dirty="0">
                <a:solidFill>
                  <a:srgbClr val="F0ECE3"/>
                </a:solidFill>
                <a:latin typeface="Calibri" pitchFamily="34" charset="0"/>
                <a:ea typeface="Calibri" pitchFamily="34" charset="-122"/>
                <a:cs typeface="Calibri" pitchFamily="34" charset="-120"/>
              </a:rPr>
              <a:t>Votre marque, votre site</a:t>
            </a:r>
            <a:endParaRPr lang="en-US" sz="1000" dirty="0"/>
          </a:p>
        </p:txBody>
      </p:sp>
      <p:sp>
        <p:nvSpPr>
          <p:cNvPr id="27" name="Text 25"/>
          <p:cNvSpPr/>
          <p:nvPr/>
        </p:nvSpPr>
        <p:spPr>
          <a:xfrm>
            <a:off x="7104888" y="3154680"/>
            <a:ext cx="274320" cy="411480"/>
          </a:xfrm>
          <a:prstGeom prst="rect">
            <a:avLst/>
          </a:prstGeom>
          <a:noFill/>
          <a:ln/>
        </p:spPr>
        <p:txBody>
          <a:bodyPr wrap="square" lIns="0" tIns="0" rIns="0" bIns="0" rtlCol="0" anchor="ctr"/>
          <a:lstStyle/>
          <a:p>
            <a:pPr indent="0" marL="0">
              <a:buNone/>
            </a:pPr>
            <a:r>
              <a:rPr lang="en-US" sz="1300" dirty="0">
                <a:solidFill>
                  <a:srgbClr val="3ECF8E"/>
                </a:solidFill>
                <a:latin typeface="Arial" pitchFamily="34" charset="0"/>
                <a:ea typeface="Arial" pitchFamily="34" charset="-122"/>
                <a:cs typeface="Arial" pitchFamily="34" charset="-120"/>
              </a:rPr>
              <a:t>✓</a:t>
            </a:r>
            <a:endParaRPr lang="en-US" sz="1300" dirty="0"/>
          </a:p>
        </p:txBody>
      </p:sp>
      <p:sp>
        <p:nvSpPr>
          <p:cNvPr id="28" name="Text 26"/>
          <p:cNvSpPr/>
          <p:nvPr/>
        </p:nvSpPr>
        <p:spPr>
          <a:xfrm>
            <a:off x="7379208" y="3154680"/>
            <a:ext cx="1508760" cy="411480"/>
          </a:xfrm>
          <a:prstGeom prst="rect">
            <a:avLst/>
          </a:prstGeom>
          <a:noFill/>
          <a:ln/>
        </p:spPr>
        <p:txBody>
          <a:bodyPr wrap="square" lIns="0" tIns="0" rIns="0" bIns="0" rtlCol="0" anchor="ctr"/>
          <a:lstStyle/>
          <a:p>
            <a:pPr indent="0" marL="0">
              <a:lnSpc>
                <a:spcPct val="110000"/>
              </a:lnSpc>
              <a:buNone/>
            </a:pPr>
            <a:r>
              <a:rPr lang="en-US" sz="1000" dirty="0">
                <a:solidFill>
                  <a:srgbClr val="F0ECE3"/>
                </a:solidFill>
                <a:latin typeface="Calibri" pitchFamily="34" charset="0"/>
                <a:ea typeface="Calibri" pitchFamily="34" charset="-122"/>
                <a:cs typeface="Calibri" pitchFamily="34" charset="-120"/>
              </a:rPr>
              <a:t>Vous décidez vos prix</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900" spc="300" kern="0" dirty="0">
                <a:solidFill>
                  <a:srgbClr val="C9A84C"/>
                </a:solidFill>
                <a:latin typeface="Consolas" pitchFamily="34" charset="0"/>
                <a:ea typeface="Consolas" pitchFamily="34" charset="-122"/>
                <a:cs typeface="Consolas" pitchFamily="34" charset="-120"/>
              </a:rPr>
              <a:t>DÉMONSTRATION 1 / 3</a:t>
            </a:r>
            <a:endParaRPr lang="en-US" sz="900" dirty="0"/>
          </a:p>
        </p:txBody>
      </p:sp>
      <p:sp>
        <p:nvSpPr>
          <p:cNvPr id="4" name="Text 2"/>
          <p:cNvSpPr/>
          <p:nvPr/>
        </p:nvSpPr>
        <p:spPr>
          <a:xfrm>
            <a:off x="548640" y="502920"/>
            <a:ext cx="4572000" cy="1005840"/>
          </a:xfrm>
          <a:prstGeom prst="rect">
            <a:avLst/>
          </a:prstGeom>
          <a:noFill/>
          <a:ln/>
        </p:spPr>
        <p:txBody>
          <a:bodyPr wrap="square" lIns="0" tIns="0" rIns="0" bIns="0" rtlCol="0" anchor="ctr"/>
          <a:lstStyle/>
          <a:p>
            <a:pPr algn="l" indent="0" marL="0">
              <a:buNone/>
            </a:pPr>
            <a:r>
              <a:rPr lang="en-US" sz="3600" b="1" spc="300" kern="0" dirty="0">
                <a:solidFill>
                  <a:srgbClr val="F0ECE3"/>
                </a:solidFill>
                <a:latin typeface="Arial Black" pitchFamily="34" charset="0"/>
                <a:ea typeface="Arial Black" pitchFamily="34" charset="-122"/>
                <a:cs typeface="Arial Black" pitchFamily="34" charset="-120"/>
              </a:rPr>
              <a:t>Votre site web.</a:t>
            </a:r>
            <a:endParaRPr lang="en-US" sz="3600" dirty="0"/>
          </a:p>
          <a:p>
            <a:pPr algn="l" indent="0" marL="0">
              <a:buNone/>
            </a:pPr>
            <a:r>
              <a:rPr lang="en-US" sz="3600" b="1" spc="300" kern="0" dirty="0">
                <a:solidFill>
                  <a:srgbClr val="F0ECE3"/>
                </a:solidFill>
                <a:latin typeface="Arial Black" pitchFamily="34" charset="0"/>
                <a:ea typeface="Arial Black" pitchFamily="34" charset="-122"/>
                <a:cs typeface="Arial Black" pitchFamily="34" charset="-120"/>
              </a:rPr>
              <a:t>En 10 minutes.</a:t>
            </a:r>
            <a:endParaRPr lang="en-US" sz="3600" dirty="0"/>
          </a:p>
        </p:txBody>
      </p:sp>
      <p:sp>
        <p:nvSpPr>
          <p:cNvPr id="5" name="Text 3"/>
          <p:cNvSpPr/>
          <p:nvPr/>
        </p:nvSpPr>
        <p:spPr>
          <a:xfrm>
            <a:off x="548640" y="1645920"/>
            <a:ext cx="3931920" cy="914400"/>
          </a:xfrm>
          <a:prstGeom prst="rect">
            <a:avLst/>
          </a:prstGeom>
          <a:noFill/>
          <a:ln/>
        </p:spPr>
        <p:txBody>
          <a:bodyPr wrap="square" lIns="0" tIns="0" rIns="0" bIns="0" rtlCol="0" anchor="ctr"/>
          <a:lstStyle/>
          <a:p>
            <a:pPr algn="l" indent="0" marL="0">
              <a:lnSpc>
                <a:spcPct val="130000"/>
              </a:lnSpc>
              <a:buNone/>
            </a:pPr>
            <a:r>
              <a:rPr lang="en-US" sz="1300" dirty="0">
                <a:solidFill>
                  <a:srgbClr val="7A7570"/>
                </a:solidFill>
                <a:latin typeface="Calibri" pitchFamily="34" charset="0"/>
                <a:ea typeface="Calibri" pitchFamily="34" charset="-122"/>
                <a:cs typeface="Calibri" pitchFamily="34" charset="-120"/>
              </a:rPr>
              <a:t>Page propre avec votre nom, vos couleurs</a:t>
            </a:r>
            <a:endParaRPr lang="en-US" sz="1300" dirty="0"/>
          </a:p>
          <a:p>
            <a:pPr algn="l" indent="0" marL="0">
              <a:lnSpc>
                <a:spcPct val="130000"/>
              </a:lnSpc>
              <a:buNone/>
            </a:pPr>
            <a:r>
              <a:rPr lang="en-US" sz="1300" dirty="0">
                <a:solidFill>
                  <a:srgbClr val="7A7570"/>
                </a:solidFill>
                <a:latin typeface="Calibri" pitchFamily="34" charset="0"/>
                <a:ea typeface="Calibri" pitchFamily="34" charset="-122"/>
                <a:cs typeface="Calibri" pitchFamily="34" charset="-120"/>
              </a:rPr>
              <a:t>et vos événements. Vos clients achètent</a:t>
            </a:r>
            <a:endParaRPr lang="en-US" sz="1300" dirty="0"/>
          </a:p>
          <a:p>
            <a:pPr algn="l" indent="0" marL="0">
              <a:lnSpc>
                <a:spcPct val="130000"/>
              </a:lnSpc>
              <a:buNone/>
            </a:pPr>
            <a:r>
              <a:rPr lang="en-US" sz="1300" dirty="0">
                <a:solidFill>
                  <a:srgbClr val="7A7570"/>
                </a:solidFill>
                <a:latin typeface="Calibri" pitchFamily="34" charset="0"/>
                <a:ea typeface="Calibri" pitchFamily="34" charset="-122"/>
                <a:cs typeface="Calibri" pitchFamily="34" charset="-120"/>
              </a:rPr>
              <a:t>directement sur votre site.</a:t>
            </a:r>
            <a:endParaRPr lang="en-US" sz="1300" dirty="0"/>
          </a:p>
        </p:txBody>
      </p:sp>
      <p:sp>
        <p:nvSpPr>
          <p:cNvPr id="6" name="Shape 4"/>
          <p:cNvSpPr/>
          <p:nvPr/>
        </p:nvSpPr>
        <p:spPr>
          <a:xfrm>
            <a:off x="4389120" y="365760"/>
            <a:ext cx="4480560" cy="4480560"/>
          </a:xfrm>
          <a:prstGeom prst="rect">
            <a:avLst/>
          </a:prstGeom>
          <a:solidFill>
            <a:srgbClr val="141414"/>
          </a:solidFill>
          <a:ln w="12700">
            <a:solidFill>
              <a:srgbClr val="1E1E1E"/>
            </a:solidFill>
            <a:prstDash val="solid"/>
          </a:ln>
        </p:spPr>
      </p:sp>
      <p:sp>
        <p:nvSpPr>
          <p:cNvPr id="7" name="Shape 5"/>
          <p:cNvSpPr/>
          <p:nvPr/>
        </p:nvSpPr>
        <p:spPr>
          <a:xfrm>
            <a:off x="4389120" y="365760"/>
            <a:ext cx="4480560" cy="274320"/>
          </a:xfrm>
          <a:prstGeom prst="rect">
            <a:avLst/>
          </a:prstGeom>
          <a:solidFill>
            <a:srgbClr val="0A0A0A"/>
          </a:solidFill>
          <a:ln w="12700">
            <a:solidFill>
              <a:srgbClr val="1E1E1E"/>
            </a:solidFill>
            <a:prstDash val="solid"/>
          </a:ln>
        </p:spPr>
      </p:sp>
      <p:sp>
        <p:nvSpPr>
          <p:cNvPr id="8" name="Text 6"/>
          <p:cNvSpPr/>
          <p:nvPr/>
        </p:nvSpPr>
        <p:spPr>
          <a:xfrm>
            <a:off x="4434840" y="374904"/>
            <a:ext cx="4389120" cy="246888"/>
          </a:xfrm>
          <a:prstGeom prst="rect">
            <a:avLst/>
          </a:prstGeom>
          <a:noFill/>
          <a:ln/>
        </p:spPr>
        <p:txBody>
          <a:bodyPr wrap="square" lIns="0" tIns="0" rIns="0" bIns="0" rtlCol="0" anchor="ctr"/>
          <a:lstStyle/>
          <a:p>
            <a:pPr indent="0" marL="0">
              <a:buNone/>
            </a:pPr>
            <a:r>
              <a:rPr lang="en-US" sz="700" dirty="0">
                <a:solidFill>
                  <a:srgbClr val="7A7570"/>
                </a:solidFill>
                <a:latin typeface="Consolas" pitchFamily="34" charset="0"/>
                <a:ea typeface="Consolas" pitchFamily="34" charset="-122"/>
                <a:cs typeface="Consolas" pitchFamily="34" charset="-120"/>
              </a:rPr>
              <a:t>GALLERY CLUB  ·  Événements  ·  Galerie  ·  VIP</a:t>
            </a:r>
            <a:endParaRPr lang="en-US" sz="700" dirty="0"/>
          </a:p>
        </p:txBody>
      </p:sp>
      <p:sp>
        <p:nvSpPr>
          <p:cNvPr id="9" name="Shape 7"/>
          <p:cNvSpPr/>
          <p:nvPr/>
        </p:nvSpPr>
        <p:spPr>
          <a:xfrm>
            <a:off x="4389120" y="640080"/>
            <a:ext cx="4480560" cy="1463040"/>
          </a:xfrm>
          <a:prstGeom prst="rect">
            <a:avLst/>
          </a:prstGeom>
          <a:solidFill>
            <a:srgbClr val="1A0533"/>
          </a:solidFill>
          <a:ln w="12700">
            <a:solidFill>
              <a:srgbClr val="1E1E1E"/>
            </a:solidFill>
            <a:prstDash val="solid"/>
          </a:ln>
        </p:spPr>
      </p:sp>
      <p:sp>
        <p:nvSpPr>
          <p:cNvPr id="10" name="Text 8"/>
          <p:cNvSpPr/>
          <p:nvPr/>
        </p:nvSpPr>
        <p:spPr>
          <a:xfrm>
            <a:off x="4526280" y="868680"/>
            <a:ext cx="4114800" cy="1005840"/>
          </a:xfrm>
          <a:prstGeom prst="rect">
            <a:avLst/>
          </a:prstGeom>
          <a:noFill/>
          <a:ln/>
        </p:spPr>
        <p:txBody>
          <a:bodyPr wrap="square" lIns="0" tIns="0" rIns="0" bIns="0" rtlCol="0" anchor="ctr"/>
          <a:lstStyle/>
          <a:p>
            <a:pPr indent="0" marL="0">
              <a:buNone/>
            </a:pPr>
            <a:r>
              <a:rPr lang="en-US" sz="2200" b="1" dirty="0">
                <a:solidFill>
                  <a:srgbClr val="F0ECE3"/>
                </a:solidFill>
                <a:latin typeface="Arial Black" pitchFamily="34" charset="0"/>
                <a:ea typeface="Arial Black" pitchFamily="34" charset="-122"/>
                <a:cs typeface="Arial Black" pitchFamily="34" charset="-120"/>
              </a:rPr>
              <a:t>THE NIGHT</a:t>
            </a:r>
            <a:endParaRPr lang="en-US" sz="2200" dirty="0"/>
          </a:p>
          <a:p>
            <a:pPr indent="0" marL="0">
              <a:buNone/>
            </a:pPr>
            <a:r>
              <a:rPr lang="en-US" sz="2200" b="1" dirty="0">
                <a:solidFill>
                  <a:srgbClr val="F0ECE3"/>
                </a:solidFill>
                <a:latin typeface="Arial Black" pitchFamily="34" charset="0"/>
                <a:ea typeface="Arial Black" pitchFamily="34" charset="-122"/>
                <a:cs typeface="Arial Black" pitchFamily="34" charset="-120"/>
              </a:rPr>
              <a:t>STARTS HERE</a:t>
            </a:r>
            <a:endParaRPr lang="en-US" sz="2200" dirty="0"/>
          </a:p>
        </p:txBody>
      </p:sp>
      <p:sp>
        <p:nvSpPr>
          <p:cNvPr id="11" name="Shape 9"/>
          <p:cNvSpPr/>
          <p:nvPr/>
        </p:nvSpPr>
        <p:spPr>
          <a:xfrm>
            <a:off x="4526280" y="1600200"/>
            <a:ext cx="1097280" cy="256032"/>
          </a:xfrm>
          <a:prstGeom prst="rect">
            <a:avLst/>
          </a:prstGeom>
          <a:solidFill>
            <a:srgbClr val="C9A84C"/>
          </a:solidFill>
          <a:ln w="12700">
            <a:solidFill>
              <a:srgbClr val="C9A84C"/>
            </a:solidFill>
            <a:prstDash val="solid"/>
          </a:ln>
        </p:spPr>
      </p:sp>
      <p:sp>
        <p:nvSpPr>
          <p:cNvPr id="12" name="Text 10"/>
          <p:cNvSpPr/>
          <p:nvPr/>
        </p:nvSpPr>
        <p:spPr>
          <a:xfrm>
            <a:off x="4526280" y="1609344"/>
            <a:ext cx="1097280" cy="237744"/>
          </a:xfrm>
          <a:prstGeom prst="rect">
            <a:avLst/>
          </a:prstGeom>
          <a:noFill/>
          <a:ln/>
        </p:spPr>
        <p:txBody>
          <a:bodyPr wrap="square" lIns="0" tIns="0" rIns="0" bIns="0" rtlCol="0" anchor="ctr"/>
          <a:lstStyle/>
          <a:p>
            <a:pPr algn="ctr" indent="0" marL="0">
              <a:buNone/>
            </a:pPr>
            <a:r>
              <a:rPr lang="en-US" sz="700" b="1" dirty="0">
                <a:solidFill>
                  <a:srgbClr val="080808"/>
                </a:solidFill>
                <a:latin typeface="Consolas" pitchFamily="34" charset="0"/>
                <a:ea typeface="Consolas" pitchFamily="34" charset="-122"/>
                <a:cs typeface="Consolas" pitchFamily="34" charset="-120"/>
              </a:rPr>
              <a:t>VOIR ÉVÉNEMENTS</a:t>
            </a:r>
            <a:endParaRPr lang="en-US" sz="700" dirty="0"/>
          </a:p>
        </p:txBody>
      </p:sp>
      <p:sp>
        <p:nvSpPr>
          <p:cNvPr id="13" name="Shape 11"/>
          <p:cNvSpPr/>
          <p:nvPr/>
        </p:nvSpPr>
        <p:spPr>
          <a:xfrm>
            <a:off x="4407408" y="2212848"/>
            <a:ext cx="1417320" cy="1188720"/>
          </a:xfrm>
          <a:prstGeom prst="rect">
            <a:avLst/>
          </a:prstGeom>
          <a:solidFill>
            <a:srgbClr val="1A0533"/>
          </a:solidFill>
          <a:ln w="12700">
            <a:solidFill>
              <a:srgbClr val="1E1E1E"/>
            </a:solidFill>
            <a:prstDash val="solid"/>
          </a:ln>
        </p:spPr>
      </p:sp>
      <p:sp>
        <p:nvSpPr>
          <p:cNvPr id="14" name="Text 12"/>
          <p:cNvSpPr/>
          <p:nvPr/>
        </p:nvSpPr>
        <p:spPr>
          <a:xfrm>
            <a:off x="4407408" y="3017520"/>
            <a:ext cx="1417320" cy="274320"/>
          </a:xfrm>
          <a:prstGeom prst="rect">
            <a:avLst/>
          </a:prstGeom>
          <a:noFill/>
          <a:ln/>
        </p:spPr>
        <p:txBody>
          <a:bodyPr wrap="square" lIns="0" tIns="0" rIns="0" bIns="0" rtlCol="0" anchor="ctr"/>
          <a:lstStyle/>
          <a:p>
            <a:pPr algn="ctr" indent="0" marL="0">
              <a:buNone/>
            </a:pPr>
            <a:r>
              <a:rPr lang="en-US" sz="700" b="1" dirty="0">
                <a:solidFill>
                  <a:srgbClr val="F0ECE3"/>
                </a:solidFill>
                <a:latin typeface="Arial Black" pitchFamily="34" charset="0"/>
                <a:ea typeface="Arial Black" pitchFamily="34" charset="-122"/>
                <a:cs typeface="Arial Black" pitchFamily="34" charset="-120"/>
              </a:rPr>
              <a:t>TECHNO NIGHT</a:t>
            </a:r>
            <a:endParaRPr lang="en-US" sz="700" dirty="0"/>
          </a:p>
        </p:txBody>
      </p:sp>
      <p:sp>
        <p:nvSpPr>
          <p:cNvPr id="15" name="Text 13"/>
          <p:cNvSpPr/>
          <p:nvPr/>
        </p:nvSpPr>
        <p:spPr>
          <a:xfrm>
            <a:off x="4407408" y="3246120"/>
            <a:ext cx="1417320" cy="164592"/>
          </a:xfrm>
          <a:prstGeom prst="rect">
            <a:avLst/>
          </a:prstGeom>
          <a:noFill/>
          <a:ln/>
        </p:spPr>
        <p:txBody>
          <a:bodyPr wrap="square" lIns="0" tIns="0" rIns="0" bIns="0" rtlCol="0" anchor="ctr"/>
          <a:lstStyle/>
          <a:p>
            <a:pPr algn="ctr" indent="0" marL="0">
              <a:buNone/>
            </a:pPr>
            <a:r>
              <a:rPr lang="en-US" sz="650" dirty="0">
                <a:solidFill>
                  <a:srgbClr val="C9A84C"/>
                </a:solidFill>
                <a:latin typeface="Consolas" pitchFamily="34" charset="0"/>
                <a:ea typeface="Consolas" pitchFamily="34" charset="-122"/>
                <a:cs typeface="Consolas" pitchFamily="34" charset="-120"/>
              </a:rPr>
              <a:t>Dès 15€</a:t>
            </a:r>
            <a:endParaRPr lang="en-US" sz="650" dirty="0"/>
          </a:p>
        </p:txBody>
      </p:sp>
      <p:sp>
        <p:nvSpPr>
          <p:cNvPr id="16" name="Shape 14"/>
          <p:cNvSpPr/>
          <p:nvPr/>
        </p:nvSpPr>
        <p:spPr>
          <a:xfrm>
            <a:off x="5888736" y="2212848"/>
            <a:ext cx="1417320" cy="1188720"/>
          </a:xfrm>
          <a:prstGeom prst="rect">
            <a:avLst/>
          </a:prstGeom>
          <a:solidFill>
            <a:srgbClr val="0A1628"/>
          </a:solidFill>
          <a:ln w="12700">
            <a:solidFill>
              <a:srgbClr val="1E1E1E"/>
            </a:solidFill>
            <a:prstDash val="solid"/>
          </a:ln>
        </p:spPr>
      </p:sp>
      <p:sp>
        <p:nvSpPr>
          <p:cNvPr id="17" name="Text 15"/>
          <p:cNvSpPr/>
          <p:nvPr/>
        </p:nvSpPr>
        <p:spPr>
          <a:xfrm>
            <a:off x="5888736" y="3017520"/>
            <a:ext cx="1417320" cy="274320"/>
          </a:xfrm>
          <a:prstGeom prst="rect">
            <a:avLst/>
          </a:prstGeom>
          <a:noFill/>
          <a:ln/>
        </p:spPr>
        <p:txBody>
          <a:bodyPr wrap="square" lIns="0" tIns="0" rIns="0" bIns="0" rtlCol="0" anchor="ctr"/>
          <a:lstStyle/>
          <a:p>
            <a:pPr algn="ctr" indent="0" marL="0">
              <a:buNone/>
            </a:pPr>
            <a:r>
              <a:rPr lang="en-US" sz="700" b="1" dirty="0">
                <a:solidFill>
                  <a:srgbClr val="F0ECE3"/>
                </a:solidFill>
                <a:latin typeface="Arial Black" pitchFamily="34" charset="0"/>
                <a:ea typeface="Arial Black" pitchFamily="34" charset="-122"/>
                <a:cs typeface="Arial Black" pitchFamily="34" charset="-120"/>
              </a:rPr>
              <a:t>HOUSE SESSION</a:t>
            </a:r>
            <a:endParaRPr lang="en-US" sz="700" dirty="0"/>
          </a:p>
        </p:txBody>
      </p:sp>
      <p:sp>
        <p:nvSpPr>
          <p:cNvPr id="18" name="Text 16"/>
          <p:cNvSpPr/>
          <p:nvPr/>
        </p:nvSpPr>
        <p:spPr>
          <a:xfrm>
            <a:off x="5888736" y="3246120"/>
            <a:ext cx="1417320" cy="164592"/>
          </a:xfrm>
          <a:prstGeom prst="rect">
            <a:avLst/>
          </a:prstGeom>
          <a:noFill/>
          <a:ln/>
        </p:spPr>
        <p:txBody>
          <a:bodyPr wrap="square" lIns="0" tIns="0" rIns="0" bIns="0" rtlCol="0" anchor="ctr"/>
          <a:lstStyle/>
          <a:p>
            <a:pPr algn="ctr" indent="0" marL="0">
              <a:buNone/>
            </a:pPr>
            <a:r>
              <a:rPr lang="en-US" sz="650" dirty="0">
                <a:solidFill>
                  <a:srgbClr val="C9A84C"/>
                </a:solidFill>
                <a:latin typeface="Consolas" pitchFamily="34" charset="0"/>
                <a:ea typeface="Consolas" pitchFamily="34" charset="-122"/>
                <a:cs typeface="Consolas" pitchFamily="34" charset="-120"/>
              </a:rPr>
              <a:t>Dès 15€</a:t>
            </a:r>
            <a:endParaRPr lang="en-US" sz="650" dirty="0"/>
          </a:p>
        </p:txBody>
      </p:sp>
      <p:sp>
        <p:nvSpPr>
          <p:cNvPr id="19" name="Shape 17"/>
          <p:cNvSpPr/>
          <p:nvPr/>
        </p:nvSpPr>
        <p:spPr>
          <a:xfrm>
            <a:off x="7370064" y="2212848"/>
            <a:ext cx="1417320" cy="1188720"/>
          </a:xfrm>
          <a:prstGeom prst="rect">
            <a:avLst/>
          </a:prstGeom>
          <a:solidFill>
            <a:srgbClr val="0A1A0A"/>
          </a:solidFill>
          <a:ln w="12700">
            <a:solidFill>
              <a:srgbClr val="1E1E1E"/>
            </a:solidFill>
            <a:prstDash val="solid"/>
          </a:ln>
        </p:spPr>
      </p:sp>
      <p:sp>
        <p:nvSpPr>
          <p:cNvPr id="20" name="Text 18"/>
          <p:cNvSpPr/>
          <p:nvPr/>
        </p:nvSpPr>
        <p:spPr>
          <a:xfrm>
            <a:off x="7370064" y="3017520"/>
            <a:ext cx="1417320" cy="274320"/>
          </a:xfrm>
          <a:prstGeom prst="rect">
            <a:avLst/>
          </a:prstGeom>
          <a:noFill/>
          <a:ln/>
        </p:spPr>
        <p:txBody>
          <a:bodyPr wrap="square" lIns="0" tIns="0" rIns="0" bIns="0" rtlCol="0" anchor="ctr"/>
          <a:lstStyle/>
          <a:p>
            <a:pPr algn="ctr" indent="0" marL="0">
              <a:buNone/>
            </a:pPr>
            <a:r>
              <a:rPr lang="en-US" sz="700" b="1" dirty="0">
                <a:solidFill>
                  <a:srgbClr val="F0ECE3"/>
                </a:solidFill>
                <a:latin typeface="Arial Black" pitchFamily="34" charset="0"/>
                <a:ea typeface="Arial Black" pitchFamily="34" charset="-122"/>
                <a:cs typeface="Arial Black" pitchFamily="34" charset="-120"/>
              </a:rPr>
              <a:t>SOIRÉE VIP</a:t>
            </a:r>
            <a:endParaRPr lang="en-US" sz="700" dirty="0"/>
          </a:p>
        </p:txBody>
      </p:sp>
      <p:sp>
        <p:nvSpPr>
          <p:cNvPr id="21" name="Text 19"/>
          <p:cNvSpPr/>
          <p:nvPr/>
        </p:nvSpPr>
        <p:spPr>
          <a:xfrm>
            <a:off x="7370064" y="3246120"/>
            <a:ext cx="1417320" cy="164592"/>
          </a:xfrm>
          <a:prstGeom prst="rect">
            <a:avLst/>
          </a:prstGeom>
          <a:noFill/>
          <a:ln/>
        </p:spPr>
        <p:txBody>
          <a:bodyPr wrap="square" lIns="0" tIns="0" rIns="0" bIns="0" rtlCol="0" anchor="ctr"/>
          <a:lstStyle/>
          <a:p>
            <a:pPr algn="ctr" indent="0" marL="0">
              <a:buNone/>
            </a:pPr>
            <a:r>
              <a:rPr lang="en-US" sz="650" dirty="0">
                <a:solidFill>
                  <a:srgbClr val="C9A84C"/>
                </a:solidFill>
                <a:latin typeface="Consolas" pitchFamily="34" charset="0"/>
                <a:ea typeface="Consolas" pitchFamily="34" charset="-122"/>
                <a:cs typeface="Consolas" pitchFamily="34" charset="-120"/>
              </a:rPr>
              <a:t>Dès 15€</a:t>
            </a:r>
            <a:endParaRPr lang="en-US" sz="650" dirty="0"/>
          </a:p>
        </p:txBody>
      </p:sp>
      <p:sp>
        <p:nvSpPr>
          <p:cNvPr id="22" name="Shape 20"/>
          <p:cNvSpPr/>
          <p:nvPr/>
        </p:nvSpPr>
        <p:spPr>
          <a:xfrm>
            <a:off x="548640" y="2743200"/>
            <a:ext cx="3657600" cy="310896"/>
          </a:xfrm>
          <a:prstGeom prst="rect">
            <a:avLst/>
          </a:prstGeom>
          <a:solidFill>
            <a:srgbClr val="0A0A05"/>
          </a:solidFill>
          <a:ln w="12700">
            <a:solidFill>
              <a:srgbClr val="1E1A08"/>
            </a:solidFill>
            <a:prstDash val="solid"/>
          </a:ln>
        </p:spPr>
      </p:sp>
      <p:sp>
        <p:nvSpPr>
          <p:cNvPr id="23" name="Text 21"/>
          <p:cNvSpPr/>
          <p:nvPr/>
        </p:nvSpPr>
        <p:spPr>
          <a:xfrm>
            <a:off x="685800" y="2761488"/>
            <a:ext cx="3383280" cy="274320"/>
          </a:xfrm>
          <a:prstGeom prst="rect">
            <a:avLst/>
          </a:prstGeom>
          <a:noFill/>
          <a:ln/>
        </p:spPr>
        <p:txBody>
          <a:bodyPr wrap="square" lIns="0" tIns="0" rIns="0" bIns="0" rtlCol="0" anchor="ctr"/>
          <a:lstStyle/>
          <a:p>
            <a:pPr indent="0" marL="0">
              <a:buNone/>
            </a:pPr>
            <a:r>
              <a:rPr lang="en-US" sz="1100" dirty="0">
                <a:solidFill>
                  <a:srgbClr val="F0ECE3"/>
                </a:solidFill>
                <a:latin typeface="Calibri" pitchFamily="34" charset="0"/>
                <a:ea typeface="Calibri" pitchFamily="34" charset="-122"/>
                <a:cs typeface="Calibri" pitchFamily="34" charset="-120"/>
              </a:rPr>
              <a:t>🌐 Multilingue FR/EN/DE/ES automatique</a:t>
            </a:r>
            <a:endParaRPr lang="en-US" sz="1100" dirty="0"/>
          </a:p>
        </p:txBody>
      </p:sp>
      <p:sp>
        <p:nvSpPr>
          <p:cNvPr id="24" name="Shape 22"/>
          <p:cNvSpPr/>
          <p:nvPr/>
        </p:nvSpPr>
        <p:spPr>
          <a:xfrm>
            <a:off x="548640" y="3154680"/>
            <a:ext cx="3657600" cy="310896"/>
          </a:xfrm>
          <a:prstGeom prst="rect">
            <a:avLst/>
          </a:prstGeom>
          <a:solidFill>
            <a:srgbClr val="0A0A05"/>
          </a:solidFill>
          <a:ln w="12700">
            <a:solidFill>
              <a:srgbClr val="1E1A08"/>
            </a:solidFill>
            <a:prstDash val="solid"/>
          </a:ln>
        </p:spPr>
      </p:sp>
      <p:sp>
        <p:nvSpPr>
          <p:cNvPr id="25" name="Text 23"/>
          <p:cNvSpPr/>
          <p:nvPr/>
        </p:nvSpPr>
        <p:spPr>
          <a:xfrm>
            <a:off x="685800" y="3172968"/>
            <a:ext cx="3383280" cy="274320"/>
          </a:xfrm>
          <a:prstGeom prst="rect">
            <a:avLst/>
          </a:prstGeom>
          <a:noFill/>
          <a:ln/>
        </p:spPr>
        <p:txBody>
          <a:bodyPr wrap="square" lIns="0" tIns="0" rIns="0" bIns="0" rtlCol="0" anchor="ctr"/>
          <a:lstStyle/>
          <a:p>
            <a:pPr indent="0" marL="0">
              <a:buNone/>
            </a:pPr>
            <a:r>
              <a:rPr lang="en-US" sz="1100" dirty="0">
                <a:solidFill>
                  <a:srgbClr val="F0ECE3"/>
                </a:solidFill>
                <a:latin typeface="Calibri" pitchFamily="34" charset="0"/>
                <a:ea typeface="Calibri" pitchFamily="34" charset="-122"/>
                <a:cs typeface="Calibri" pitchFamily="34" charset="-120"/>
              </a:rPr>
              <a:t>🎟  Billets + QR code sécurisé</a:t>
            </a:r>
            <a:endParaRPr lang="en-US" sz="1100" dirty="0"/>
          </a:p>
        </p:txBody>
      </p:sp>
      <p:sp>
        <p:nvSpPr>
          <p:cNvPr id="26" name="Shape 24"/>
          <p:cNvSpPr/>
          <p:nvPr/>
        </p:nvSpPr>
        <p:spPr>
          <a:xfrm>
            <a:off x="548640" y="3566160"/>
            <a:ext cx="3657600" cy="310896"/>
          </a:xfrm>
          <a:prstGeom prst="rect">
            <a:avLst/>
          </a:prstGeom>
          <a:solidFill>
            <a:srgbClr val="0A0A05"/>
          </a:solidFill>
          <a:ln w="12700">
            <a:solidFill>
              <a:srgbClr val="1E1A08"/>
            </a:solidFill>
            <a:prstDash val="solid"/>
          </a:ln>
        </p:spPr>
      </p:sp>
      <p:sp>
        <p:nvSpPr>
          <p:cNvPr id="27" name="Text 25"/>
          <p:cNvSpPr/>
          <p:nvPr/>
        </p:nvSpPr>
        <p:spPr>
          <a:xfrm>
            <a:off x="685800" y="3584448"/>
            <a:ext cx="3383280" cy="274320"/>
          </a:xfrm>
          <a:prstGeom prst="rect">
            <a:avLst/>
          </a:prstGeom>
          <a:noFill/>
          <a:ln/>
        </p:spPr>
        <p:txBody>
          <a:bodyPr wrap="square" lIns="0" tIns="0" rIns="0" bIns="0" rtlCol="0" anchor="ctr"/>
          <a:lstStyle/>
          <a:p>
            <a:pPr indent="0" marL="0">
              <a:buNone/>
            </a:pPr>
            <a:r>
              <a:rPr lang="en-US" sz="1100" dirty="0">
                <a:solidFill>
                  <a:srgbClr val="F0ECE3"/>
                </a:solidFill>
                <a:latin typeface="Calibri" pitchFamily="34" charset="0"/>
                <a:ea typeface="Calibri" pitchFamily="34" charset="-122"/>
                <a:cs typeface="Calibri" pitchFamily="34" charset="-120"/>
              </a:rPr>
              <a:t>★  Programme de fidélité</a:t>
            </a:r>
            <a:endParaRPr lang="en-US" sz="1100" dirty="0"/>
          </a:p>
        </p:txBody>
      </p:sp>
      <p:sp>
        <p:nvSpPr>
          <p:cNvPr id="28" name="Shape 26"/>
          <p:cNvSpPr/>
          <p:nvPr/>
        </p:nvSpPr>
        <p:spPr>
          <a:xfrm>
            <a:off x="548640" y="3977640"/>
            <a:ext cx="3657600" cy="310896"/>
          </a:xfrm>
          <a:prstGeom prst="rect">
            <a:avLst/>
          </a:prstGeom>
          <a:solidFill>
            <a:srgbClr val="0A0A05"/>
          </a:solidFill>
          <a:ln w="12700">
            <a:solidFill>
              <a:srgbClr val="1E1A08"/>
            </a:solidFill>
            <a:prstDash val="solid"/>
          </a:ln>
        </p:spPr>
      </p:sp>
      <p:sp>
        <p:nvSpPr>
          <p:cNvPr id="29" name="Text 27"/>
          <p:cNvSpPr/>
          <p:nvPr/>
        </p:nvSpPr>
        <p:spPr>
          <a:xfrm>
            <a:off x="685800" y="3995928"/>
            <a:ext cx="3383280" cy="274320"/>
          </a:xfrm>
          <a:prstGeom prst="rect">
            <a:avLst/>
          </a:prstGeom>
          <a:noFill/>
          <a:ln/>
        </p:spPr>
        <p:txBody>
          <a:bodyPr wrap="square" lIns="0" tIns="0" rIns="0" bIns="0" rtlCol="0" anchor="ctr"/>
          <a:lstStyle/>
          <a:p>
            <a:pPr indent="0" marL="0">
              <a:buNone/>
            </a:pPr>
            <a:r>
              <a:rPr lang="en-US" sz="1100" dirty="0">
                <a:solidFill>
                  <a:srgbClr val="F0ECE3"/>
                </a:solidFill>
                <a:latin typeface="Calibri" pitchFamily="34" charset="0"/>
                <a:ea typeface="Calibri" pitchFamily="34" charset="-122"/>
                <a:cs typeface="Calibri" pitchFamily="34" charset="-120"/>
              </a:rPr>
              <a:t>📸 Galerie photos des soirées</a:t>
            </a:r>
            <a:endParaRPr lang="en-US" sz="1100" dirty="0"/>
          </a:p>
        </p:txBody>
      </p:sp>
      <p:sp>
        <p:nvSpPr>
          <p:cNvPr id="30" name="Shape 28"/>
          <p:cNvSpPr/>
          <p:nvPr/>
        </p:nvSpPr>
        <p:spPr>
          <a:xfrm>
            <a:off x="548640" y="4389120"/>
            <a:ext cx="3657600" cy="310896"/>
          </a:xfrm>
          <a:prstGeom prst="rect">
            <a:avLst/>
          </a:prstGeom>
          <a:solidFill>
            <a:srgbClr val="0A0A05"/>
          </a:solidFill>
          <a:ln w="12700">
            <a:solidFill>
              <a:srgbClr val="1E1A08"/>
            </a:solidFill>
            <a:prstDash val="solid"/>
          </a:ln>
        </p:spPr>
      </p:sp>
      <p:sp>
        <p:nvSpPr>
          <p:cNvPr id="31" name="Text 29"/>
          <p:cNvSpPr/>
          <p:nvPr/>
        </p:nvSpPr>
        <p:spPr>
          <a:xfrm>
            <a:off x="685800" y="4407408"/>
            <a:ext cx="3383280" cy="274320"/>
          </a:xfrm>
          <a:prstGeom prst="rect">
            <a:avLst/>
          </a:prstGeom>
          <a:noFill/>
          <a:ln/>
        </p:spPr>
        <p:txBody>
          <a:bodyPr wrap="square" lIns="0" tIns="0" rIns="0" bIns="0" rtlCol="0" anchor="ctr"/>
          <a:lstStyle/>
          <a:p>
            <a:pPr indent="0" marL="0">
              <a:buNone/>
            </a:pPr>
            <a:r>
              <a:rPr lang="en-US" sz="1100" dirty="0">
                <a:solidFill>
                  <a:srgbClr val="F0ECE3"/>
                </a:solidFill>
                <a:latin typeface="Calibri" pitchFamily="34" charset="0"/>
                <a:ea typeface="Calibri" pitchFamily="34" charset="-122"/>
                <a:cs typeface="Calibri" pitchFamily="34" charset="-120"/>
              </a:rPr>
              <a:t>🔄 Revente de billets sécurisée</a:t>
            </a:r>
            <a:endParaRPr lang="en-US" sz="1100" dirty="0"/>
          </a:p>
        </p:txBody>
      </p:sp>
      <p:sp>
        <p:nvSpPr>
          <p:cNvPr id="32" name="Shape 30"/>
          <p:cNvSpPr/>
          <p:nvPr/>
        </p:nvSpPr>
        <p:spPr>
          <a:xfrm>
            <a:off x="548640" y="4663440"/>
            <a:ext cx="3657600" cy="347472"/>
          </a:xfrm>
          <a:prstGeom prst="rect">
            <a:avLst/>
          </a:prstGeom>
          <a:solidFill>
            <a:srgbClr val="C9A84C"/>
          </a:solidFill>
          <a:ln w="12700">
            <a:solidFill>
              <a:srgbClr val="C9A84C"/>
            </a:solidFill>
            <a:prstDash val="solid"/>
          </a:ln>
        </p:spPr>
      </p:sp>
      <p:sp>
        <p:nvSpPr>
          <p:cNvPr id="33" name="Text 31"/>
          <p:cNvSpPr/>
          <p:nvPr/>
        </p:nvSpPr>
        <p:spPr>
          <a:xfrm>
            <a:off x="548640" y="4681728"/>
            <a:ext cx="3657600" cy="310896"/>
          </a:xfrm>
          <a:prstGeom prst="rect">
            <a:avLst/>
          </a:prstGeom>
          <a:noFill/>
          <a:ln/>
        </p:spPr>
        <p:txBody>
          <a:bodyPr wrap="square" lIns="0" tIns="0" rIns="0" bIns="0" rtlCol="0" anchor="ctr"/>
          <a:lstStyle/>
          <a:p>
            <a:pPr algn="ctr" indent="0" marL="0">
              <a:buNone/>
            </a:pPr>
            <a:r>
              <a:rPr lang="en-US" sz="1000" b="1" spc="100" kern="0" dirty="0">
                <a:solidFill>
                  <a:srgbClr val="080808"/>
                </a:solidFill>
                <a:latin typeface="Consolas" pitchFamily="34" charset="0"/>
                <a:ea typeface="Consolas" pitchFamily="34" charset="-122"/>
                <a:cs typeface="Consolas" pitchFamily="34" charset="-120"/>
              </a:rPr>
              <a:t>→  Ouvrir le site démo en direct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900" spc="300" kern="0" dirty="0">
                <a:solidFill>
                  <a:srgbClr val="C9A84C"/>
                </a:solidFill>
                <a:latin typeface="Consolas" pitchFamily="34" charset="0"/>
                <a:ea typeface="Consolas" pitchFamily="34" charset="-122"/>
                <a:cs typeface="Consolas" pitchFamily="34" charset="-120"/>
              </a:rPr>
              <a:t>DÉMONSTRATION 2 / 3</a:t>
            </a:r>
            <a:endParaRPr lang="en-US" sz="900" dirty="0"/>
          </a:p>
        </p:txBody>
      </p:sp>
      <p:sp>
        <p:nvSpPr>
          <p:cNvPr id="4" name="Text 2"/>
          <p:cNvSpPr/>
          <p:nvPr/>
        </p:nvSpPr>
        <p:spPr>
          <a:xfrm>
            <a:off x="548640" y="502920"/>
            <a:ext cx="4114800" cy="1005840"/>
          </a:xfrm>
          <a:prstGeom prst="rect">
            <a:avLst/>
          </a:prstGeom>
          <a:noFill/>
          <a:ln/>
        </p:spPr>
        <p:txBody>
          <a:bodyPr wrap="square" lIns="0" tIns="0" rIns="0" bIns="0" rtlCol="0" anchor="ctr"/>
          <a:lstStyle/>
          <a:p>
            <a:pPr algn="l" indent="0" marL="0">
              <a:buNone/>
            </a:pPr>
            <a:r>
              <a:rPr lang="en-US" sz="4000" b="1" spc="300" kern="0" dirty="0">
                <a:solidFill>
                  <a:srgbClr val="F0ECE3"/>
                </a:solidFill>
                <a:latin typeface="Arial Black" pitchFamily="34" charset="0"/>
                <a:ea typeface="Arial Black" pitchFamily="34" charset="-122"/>
                <a:cs typeface="Arial Black" pitchFamily="34" charset="-120"/>
              </a:rPr>
              <a:t>Tout sous</a:t>
            </a:r>
            <a:endParaRPr lang="en-US" sz="4000" dirty="0"/>
          </a:p>
          <a:p>
            <a:pPr algn="l" indent="0" marL="0">
              <a:buNone/>
            </a:pPr>
            <a:r>
              <a:rPr lang="en-US" sz="4000" b="1" spc="300" kern="0" dirty="0">
                <a:solidFill>
                  <a:srgbClr val="F0ECE3"/>
                </a:solidFill>
                <a:latin typeface="Arial Black" pitchFamily="34" charset="0"/>
                <a:ea typeface="Arial Black" pitchFamily="34" charset="-122"/>
                <a:cs typeface="Arial Black" pitchFamily="34" charset="-120"/>
              </a:rPr>
              <a:t>contrôle.</a:t>
            </a:r>
            <a:endParaRPr lang="en-US" sz="4000" dirty="0"/>
          </a:p>
        </p:txBody>
      </p:sp>
      <p:sp>
        <p:nvSpPr>
          <p:cNvPr id="5" name="Text 3"/>
          <p:cNvSpPr/>
          <p:nvPr/>
        </p:nvSpPr>
        <p:spPr>
          <a:xfrm>
            <a:off x="548640" y="1600200"/>
            <a:ext cx="3931920" cy="914400"/>
          </a:xfrm>
          <a:prstGeom prst="rect">
            <a:avLst/>
          </a:prstGeom>
          <a:noFill/>
          <a:ln/>
        </p:spPr>
        <p:txBody>
          <a:bodyPr wrap="square" lIns="0" tIns="0" rIns="0" bIns="0" rtlCol="0" anchor="ctr"/>
          <a:lstStyle/>
          <a:p>
            <a:pPr algn="l" indent="0" marL="0">
              <a:lnSpc>
                <a:spcPct val="130000"/>
              </a:lnSpc>
              <a:buNone/>
            </a:pPr>
            <a:r>
              <a:rPr lang="en-US" sz="1300" dirty="0">
                <a:solidFill>
                  <a:srgbClr val="7A7570"/>
                </a:solidFill>
                <a:latin typeface="Calibri" pitchFamily="34" charset="0"/>
                <a:ea typeface="Calibri" pitchFamily="34" charset="-122"/>
                <a:cs typeface="Calibri" pitchFamily="34" charset="-120"/>
              </a:rPr>
              <a:t>Panneau d'administration complet.</a:t>
            </a:r>
            <a:endParaRPr lang="en-US" sz="1300" dirty="0"/>
          </a:p>
          <a:p>
            <a:pPr algn="l" indent="0" marL="0">
              <a:lnSpc>
                <a:spcPct val="130000"/>
              </a:lnSpc>
              <a:buNone/>
            </a:pPr>
            <a:r>
              <a:rPr lang="en-US" sz="1300" dirty="0">
                <a:solidFill>
                  <a:srgbClr val="7A7570"/>
                </a:solidFill>
                <a:latin typeface="Calibri" pitchFamily="34" charset="0"/>
                <a:ea typeface="Calibri" pitchFamily="34" charset="-122"/>
                <a:cs typeface="Calibri" pitchFamily="34" charset="-120"/>
              </a:rPr>
              <a:t>Ventes en temps réel, réservations,</a:t>
            </a:r>
            <a:endParaRPr lang="en-US" sz="1300" dirty="0"/>
          </a:p>
          <a:p>
            <a:pPr algn="l" indent="0" marL="0">
              <a:lnSpc>
                <a:spcPct val="130000"/>
              </a:lnSpc>
              <a:buNone/>
            </a:pPr>
            <a:r>
              <a:rPr lang="en-US" sz="1300" dirty="0">
                <a:solidFill>
                  <a:srgbClr val="7A7570"/>
                </a:solidFill>
                <a:latin typeface="Calibri" pitchFamily="34" charset="0"/>
                <a:ea typeface="Calibri" pitchFamily="34" charset="-122"/>
                <a:cs typeface="Calibri" pitchFamily="34" charset="-120"/>
              </a:rPr>
              <a:t>newsletter, scanner QR et bien plus.</a:t>
            </a:r>
            <a:endParaRPr lang="en-US" sz="1300" dirty="0"/>
          </a:p>
        </p:txBody>
      </p:sp>
      <p:sp>
        <p:nvSpPr>
          <p:cNvPr id="6" name="Shape 4"/>
          <p:cNvSpPr/>
          <p:nvPr/>
        </p:nvSpPr>
        <p:spPr>
          <a:xfrm>
            <a:off x="4297680" y="365760"/>
            <a:ext cx="4572000" cy="4572000"/>
          </a:xfrm>
          <a:prstGeom prst="rect">
            <a:avLst/>
          </a:prstGeom>
          <a:solidFill>
            <a:srgbClr val="0F0F0F"/>
          </a:solidFill>
          <a:ln w="12700">
            <a:solidFill>
              <a:srgbClr val="1E1E1E"/>
            </a:solidFill>
            <a:prstDash val="solid"/>
          </a:ln>
        </p:spPr>
      </p:sp>
      <p:sp>
        <p:nvSpPr>
          <p:cNvPr id="7" name="Shape 5"/>
          <p:cNvSpPr/>
          <p:nvPr/>
        </p:nvSpPr>
        <p:spPr>
          <a:xfrm>
            <a:off x="4297680" y="365760"/>
            <a:ext cx="914400" cy="4572000"/>
          </a:xfrm>
          <a:prstGeom prst="rect">
            <a:avLst/>
          </a:prstGeom>
          <a:solidFill>
            <a:srgbClr val="0A0A0A"/>
          </a:solidFill>
          <a:ln w="12700">
            <a:solidFill>
              <a:srgbClr val="1E1E1E"/>
            </a:solidFill>
            <a:prstDash val="solid"/>
          </a:ln>
        </p:spPr>
      </p:sp>
      <p:sp>
        <p:nvSpPr>
          <p:cNvPr id="8" name="Shape 6"/>
          <p:cNvSpPr/>
          <p:nvPr/>
        </p:nvSpPr>
        <p:spPr>
          <a:xfrm>
            <a:off x="4315968" y="685800"/>
            <a:ext cx="877824" cy="347472"/>
          </a:xfrm>
          <a:prstGeom prst="rect">
            <a:avLst/>
          </a:prstGeom>
          <a:solidFill>
            <a:srgbClr val="1A1200"/>
          </a:solidFill>
          <a:ln w="12700">
            <a:solidFill>
              <a:srgbClr val="2A1E00"/>
            </a:solidFill>
            <a:prstDash val="solid"/>
          </a:ln>
        </p:spPr>
      </p:sp>
      <p:sp>
        <p:nvSpPr>
          <p:cNvPr id="9" name="Text 7"/>
          <p:cNvSpPr/>
          <p:nvPr/>
        </p:nvSpPr>
        <p:spPr>
          <a:xfrm>
            <a:off x="4325112" y="713232"/>
            <a:ext cx="859536" cy="292608"/>
          </a:xfrm>
          <a:prstGeom prst="rect">
            <a:avLst/>
          </a:prstGeom>
          <a:noFill/>
          <a:ln/>
        </p:spPr>
        <p:txBody>
          <a:bodyPr wrap="square" lIns="0" tIns="0" rIns="0" bIns="0" rtlCol="0" anchor="ctr"/>
          <a:lstStyle/>
          <a:p>
            <a:pPr indent="0" marL="0">
              <a:buNone/>
            </a:pPr>
            <a:r>
              <a:rPr lang="en-US" sz="650" dirty="0">
                <a:solidFill>
                  <a:srgbClr val="C9A84C"/>
                </a:solidFill>
                <a:latin typeface="Consolas" pitchFamily="34" charset="0"/>
                <a:ea typeface="Consolas" pitchFamily="34" charset="-122"/>
                <a:cs typeface="Consolas" pitchFamily="34" charset="-120"/>
              </a:rPr>
              <a:t>▦ Tableau de bord</a:t>
            </a:r>
            <a:endParaRPr lang="en-US" sz="650" dirty="0"/>
          </a:p>
        </p:txBody>
      </p:sp>
      <p:sp>
        <p:nvSpPr>
          <p:cNvPr id="10" name="Text 8"/>
          <p:cNvSpPr/>
          <p:nvPr/>
        </p:nvSpPr>
        <p:spPr>
          <a:xfrm>
            <a:off x="4325112" y="1188720"/>
            <a:ext cx="859536" cy="292608"/>
          </a:xfrm>
          <a:prstGeom prst="rect">
            <a:avLst/>
          </a:prstGeom>
          <a:noFill/>
          <a:ln/>
        </p:spPr>
        <p:txBody>
          <a:bodyPr wrap="square" lIns="0" tIns="0" rIns="0" bIns="0" rtlCol="0" anchor="ctr"/>
          <a:lstStyle/>
          <a:p>
            <a:pPr indent="0" marL="0">
              <a:buNone/>
            </a:pPr>
            <a:r>
              <a:rPr lang="en-US" sz="650" dirty="0">
                <a:solidFill>
                  <a:srgbClr val="7A7570"/>
                </a:solidFill>
                <a:latin typeface="Consolas" pitchFamily="34" charset="0"/>
                <a:ea typeface="Consolas" pitchFamily="34" charset="-122"/>
                <a:cs typeface="Consolas" pitchFamily="34" charset="-120"/>
              </a:rPr>
              <a:t>◈ Événements</a:t>
            </a:r>
            <a:endParaRPr lang="en-US" sz="650" dirty="0"/>
          </a:p>
        </p:txBody>
      </p:sp>
      <p:sp>
        <p:nvSpPr>
          <p:cNvPr id="11" name="Text 9"/>
          <p:cNvSpPr/>
          <p:nvPr/>
        </p:nvSpPr>
        <p:spPr>
          <a:xfrm>
            <a:off x="4325112" y="1664208"/>
            <a:ext cx="859536" cy="292608"/>
          </a:xfrm>
          <a:prstGeom prst="rect">
            <a:avLst/>
          </a:prstGeom>
          <a:noFill/>
          <a:ln/>
        </p:spPr>
        <p:txBody>
          <a:bodyPr wrap="square" lIns="0" tIns="0" rIns="0" bIns="0" rtlCol="0" anchor="ctr"/>
          <a:lstStyle/>
          <a:p>
            <a:pPr indent="0" marL="0">
              <a:buNone/>
            </a:pPr>
            <a:r>
              <a:rPr lang="en-US" sz="650" dirty="0">
                <a:solidFill>
                  <a:srgbClr val="7A7570"/>
                </a:solidFill>
                <a:latin typeface="Consolas" pitchFamily="34" charset="0"/>
                <a:ea typeface="Consolas" pitchFamily="34" charset="-122"/>
                <a:cs typeface="Consolas" pitchFamily="34" charset="-120"/>
              </a:rPr>
              <a:t>◎ Réservations</a:t>
            </a:r>
            <a:endParaRPr lang="en-US" sz="650" dirty="0"/>
          </a:p>
        </p:txBody>
      </p:sp>
      <p:sp>
        <p:nvSpPr>
          <p:cNvPr id="12" name="Text 10"/>
          <p:cNvSpPr/>
          <p:nvPr/>
        </p:nvSpPr>
        <p:spPr>
          <a:xfrm>
            <a:off x="4325112" y="2139696"/>
            <a:ext cx="859536" cy="292608"/>
          </a:xfrm>
          <a:prstGeom prst="rect">
            <a:avLst/>
          </a:prstGeom>
          <a:noFill/>
          <a:ln/>
        </p:spPr>
        <p:txBody>
          <a:bodyPr wrap="square" lIns="0" tIns="0" rIns="0" bIns="0" rtlCol="0" anchor="ctr"/>
          <a:lstStyle/>
          <a:p>
            <a:pPr indent="0" marL="0">
              <a:buNone/>
            </a:pPr>
            <a:r>
              <a:rPr lang="en-US" sz="650" dirty="0">
                <a:solidFill>
                  <a:srgbClr val="7A7570"/>
                </a:solidFill>
                <a:latin typeface="Consolas" pitchFamily="34" charset="0"/>
                <a:ea typeface="Consolas" pitchFamily="34" charset="-122"/>
                <a:cs typeface="Consolas" pitchFamily="34" charset="-120"/>
              </a:rPr>
              <a:t>⬡ Scanner QR</a:t>
            </a:r>
            <a:endParaRPr lang="en-US" sz="650" dirty="0"/>
          </a:p>
        </p:txBody>
      </p:sp>
      <p:sp>
        <p:nvSpPr>
          <p:cNvPr id="13" name="Text 11"/>
          <p:cNvSpPr/>
          <p:nvPr/>
        </p:nvSpPr>
        <p:spPr>
          <a:xfrm>
            <a:off x="4325112" y="2615184"/>
            <a:ext cx="859536" cy="292608"/>
          </a:xfrm>
          <a:prstGeom prst="rect">
            <a:avLst/>
          </a:prstGeom>
          <a:noFill/>
          <a:ln/>
        </p:spPr>
        <p:txBody>
          <a:bodyPr wrap="square" lIns="0" tIns="0" rIns="0" bIns="0" rtlCol="0" anchor="ctr"/>
          <a:lstStyle/>
          <a:p>
            <a:pPr indent="0" marL="0">
              <a:buNone/>
            </a:pPr>
            <a:r>
              <a:rPr lang="en-US" sz="650" dirty="0">
                <a:solidFill>
                  <a:srgbClr val="7A7570"/>
                </a:solidFill>
                <a:latin typeface="Consolas" pitchFamily="34" charset="0"/>
                <a:ea typeface="Consolas" pitchFamily="34" charset="-122"/>
                <a:cs typeface="Consolas" pitchFamily="34" charset="-120"/>
              </a:rPr>
              <a:t>✉ Newsletter</a:t>
            </a:r>
            <a:endParaRPr lang="en-US" sz="650" dirty="0"/>
          </a:p>
        </p:txBody>
      </p:sp>
      <p:sp>
        <p:nvSpPr>
          <p:cNvPr id="14" name="Text 12"/>
          <p:cNvSpPr/>
          <p:nvPr/>
        </p:nvSpPr>
        <p:spPr>
          <a:xfrm>
            <a:off x="4325112" y="3090672"/>
            <a:ext cx="859536" cy="292608"/>
          </a:xfrm>
          <a:prstGeom prst="rect">
            <a:avLst/>
          </a:prstGeom>
          <a:noFill/>
          <a:ln/>
        </p:spPr>
        <p:txBody>
          <a:bodyPr wrap="square" lIns="0" tIns="0" rIns="0" bIns="0" rtlCol="0" anchor="ctr"/>
          <a:lstStyle/>
          <a:p>
            <a:pPr indent="0" marL="0">
              <a:buNone/>
            </a:pPr>
            <a:r>
              <a:rPr lang="en-US" sz="650" dirty="0">
                <a:solidFill>
                  <a:srgbClr val="7A7570"/>
                </a:solidFill>
                <a:latin typeface="Consolas" pitchFamily="34" charset="0"/>
                <a:ea typeface="Consolas" pitchFamily="34" charset="-122"/>
                <a:cs typeface="Consolas" pitchFamily="34" charset="-120"/>
              </a:rPr>
              <a:t>🖼 Images</a:t>
            </a:r>
            <a:endParaRPr lang="en-US" sz="650" dirty="0"/>
          </a:p>
        </p:txBody>
      </p:sp>
      <p:sp>
        <p:nvSpPr>
          <p:cNvPr id="15" name="Shape 13"/>
          <p:cNvSpPr/>
          <p:nvPr/>
        </p:nvSpPr>
        <p:spPr>
          <a:xfrm>
            <a:off x="5321808" y="548640"/>
            <a:ext cx="1600200" cy="749808"/>
          </a:xfrm>
          <a:prstGeom prst="rect">
            <a:avLst/>
          </a:prstGeom>
          <a:solidFill>
            <a:srgbClr val="141414"/>
          </a:solidFill>
          <a:ln w="12700">
            <a:solidFill>
              <a:srgbClr val="1E1E1E"/>
            </a:solidFill>
            <a:prstDash val="solid"/>
          </a:ln>
        </p:spPr>
      </p:sp>
      <p:sp>
        <p:nvSpPr>
          <p:cNvPr id="16" name="Text 14"/>
          <p:cNvSpPr/>
          <p:nvPr/>
        </p:nvSpPr>
        <p:spPr>
          <a:xfrm>
            <a:off x="5321808" y="594360"/>
            <a:ext cx="1600200" cy="457200"/>
          </a:xfrm>
          <a:prstGeom prst="rect">
            <a:avLst/>
          </a:prstGeom>
          <a:noFill/>
          <a:ln/>
        </p:spPr>
        <p:txBody>
          <a:bodyPr wrap="square" lIns="0" tIns="0" rIns="0" bIns="0" rtlCol="0" anchor="ctr"/>
          <a:lstStyle/>
          <a:p>
            <a:pPr algn="ctr" indent="0" marL="0">
              <a:buNone/>
            </a:pPr>
            <a:r>
              <a:rPr lang="en-US" sz="2000" dirty="0">
                <a:solidFill>
                  <a:srgbClr val="C9A84C"/>
                </a:solidFill>
                <a:latin typeface="Arial Black" pitchFamily="34" charset="0"/>
                <a:ea typeface="Arial Black" pitchFamily="34" charset="-122"/>
                <a:cs typeface="Arial Black" pitchFamily="34" charset="-120"/>
              </a:rPr>
              <a:t>247</a:t>
            </a:r>
            <a:endParaRPr lang="en-US" sz="2000" dirty="0"/>
          </a:p>
        </p:txBody>
      </p:sp>
      <p:sp>
        <p:nvSpPr>
          <p:cNvPr id="17" name="Text 15"/>
          <p:cNvSpPr/>
          <p:nvPr/>
        </p:nvSpPr>
        <p:spPr>
          <a:xfrm>
            <a:off x="5321808" y="1051560"/>
            <a:ext cx="1600200" cy="201168"/>
          </a:xfrm>
          <a:prstGeom prst="rect">
            <a:avLst/>
          </a:prstGeom>
          <a:noFill/>
          <a:ln/>
        </p:spPr>
        <p:txBody>
          <a:bodyPr wrap="square" lIns="0" tIns="0" rIns="0" bIns="0" rtlCol="0" anchor="ctr"/>
          <a:lstStyle/>
          <a:p>
            <a:pPr algn="ctr" indent="0" marL="0">
              <a:buNone/>
            </a:pPr>
            <a:r>
              <a:rPr lang="en-US" sz="650" spc="100" kern="0" dirty="0">
                <a:solidFill>
                  <a:srgbClr val="7A7570"/>
                </a:solidFill>
                <a:latin typeface="Consolas" pitchFamily="34" charset="0"/>
                <a:ea typeface="Consolas" pitchFamily="34" charset="-122"/>
                <a:cs typeface="Consolas" pitchFamily="34" charset="-120"/>
              </a:rPr>
              <a:t>BILLETS</a:t>
            </a:r>
            <a:endParaRPr lang="en-US" sz="650" dirty="0"/>
          </a:p>
        </p:txBody>
      </p:sp>
      <p:sp>
        <p:nvSpPr>
          <p:cNvPr id="18" name="Shape 16"/>
          <p:cNvSpPr/>
          <p:nvPr/>
        </p:nvSpPr>
        <p:spPr>
          <a:xfrm>
            <a:off x="7040880" y="548640"/>
            <a:ext cx="1600200" cy="749808"/>
          </a:xfrm>
          <a:prstGeom prst="rect">
            <a:avLst/>
          </a:prstGeom>
          <a:solidFill>
            <a:srgbClr val="141414"/>
          </a:solidFill>
          <a:ln w="12700">
            <a:solidFill>
              <a:srgbClr val="1E1E1E"/>
            </a:solidFill>
            <a:prstDash val="solid"/>
          </a:ln>
        </p:spPr>
      </p:sp>
      <p:sp>
        <p:nvSpPr>
          <p:cNvPr id="19" name="Text 17"/>
          <p:cNvSpPr/>
          <p:nvPr/>
        </p:nvSpPr>
        <p:spPr>
          <a:xfrm>
            <a:off x="7040880" y="594360"/>
            <a:ext cx="1600200" cy="457200"/>
          </a:xfrm>
          <a:prstGeom prst="rect">
            <a:avLst/>
          </a:prstGeom>
          <a:noFill/>
          <a:ln/>
        </p:spPr>
        <p:txBody>
          <a:bodyPr wrap="square" lIns="0" tIns="0" rIns="0" bIns="0" rtlCol="0" anchor="ctr"/>
          <a:lstStyle/>
          <a:p>
            <a:pPr algn="ctr" indent="0" marL="0">
              <a:buNone/>
            </a:pPr>
            <a:r>
              <a:rPr lang="en-US" sz="2000" dirty="0">
                <a:solidFill>
                  <a:srgbClr val="3ECF8E"/>
                </a:solidFill>
                <a:latin typeface="Arial Black" pitchFamily="34" charset="0"/>
                <a:ea typeface="Arial Black" pitchFamily="34" charset="-122"/>
                <a:cs typeface="Arial Black" pitchFamily="34" charset="-120"/>
              </a:rPr>
              <a:t>4.2K€</a:t>
            </a:r>
            <a:endParaRPr lang="en-US" sz="2000" dirty="0"/>
          </a:p>
        </p:txBody>
      </p:sp>
      <p:sp>
        <p:nvSpPr>
          <p:cNvPr id="20" name="Text 18"/>
          <p:cNvSpPr/>
          <p:nvPr/>
        </p:nvSpPr>
        <p:spPr>
          <a:xfrm>
            <a:off x="7040880" y="1051560"/>
            <a:ext cx="1600200" cy="201168"/>
          </a:xfrm>
          <a:prstGeom prst="rect">
            <a:avLst/>
          </a:prstGeom>
          <a:noFill/>
          <a:ln/>
        </p:spPr>
        <p:txBody>
          <a:bodyPr wrap="square" lIns="0" tIns="0" rIns="0" bIns="0" rtlCol="0" anchor="ctr"/>
          <a:lstStyle/>
          <a:p>
            <a:pPr algn="ctr" indent="0" marL="0">
              <a:buNone/>
            </a:pPr>
            <a:r>
              <a:rPr lang="en-US" sz="650" spc="100" kern="0" dirty="0">
                <a:solidFill>
                  <a:srgbClr val="7A7570"/>
                </a:solidFill>
                <a:latin typeface="Consolas" pitchFamily="34" charset="0"/>
                <a:ea typeface="Consolas" pitchFamily="34" charset="-122"/>
                <a:cs typeface="Consolas" pitchFamily="34" charset="-120"/>
              </a:rPr>
              <a:t>REVENUS</a:t>
            </a:r>
            <a:endParaRPr lang="en-US" sz="650" dirty="0"/>
          </a:p>
        </p:txBody>
      </p:sp>
      <p:sp>
        <p:nvSpPr>
          <p:cNvPr id="21" name="Shape 19"/>
          <p:cNvSpPr/>
          <p:nvPr/>
        </p:nvSpPr>
        <p:spPr>
          <a:xfrm>
            <a:off x="5321808" y="1417320"/>
            <a:ext cx="1600200" cy="749808"/>
          </a:xfrm>
          <a:prstGeom prst="rect">
            <a:avLst/>
          </a:prstGeom>
          <a:solidFill>
            <a:srgbClr val="141414"/>
          </a:solidFill>
          <a:ln w="12700">
            <a:solidFill>
              <a:srgbClr val="1E1E1E"/>
            </a:solidFill>
            <a:prstDash val="solid"/>
          </a:ln>
        </p:spPr>
      </p:sp>
      <p:sp>
        <p:nvSpPr>
          <p:cNvPr id="22" name="Text 20"/>
          <p:cNvSpPr/>
          <p:nvPr/>
        </p:nvSpPr>
        <p:spPr>
          <a:xfrm>
            <a:off x="5321808" y="1463040"/>
            <a:ext cx="1600200" cy="457200"/>
          </a:xfrm>
          <a:prstGeom prst="rect">
            <a:avLst/>
          </a:prstGeom>
          <a:noFill/>
          <a:ln/>
        </p:spPr>
        <p:txBody>
          <a:bodyPr wrap="square" lIns="0" tIns="0" rIns="0" bIns="0" rtlCol="0" anchor="ctr"/>
          <a:lstStyle/>
          <a:p>
            <a:pPr algn="ctr" indent="0" marL="0">
              <a:buNone/>
            </a:pPr>
            <a:r>
              <a:rPr lang="en-US" sz="2000" dirty="0">
                <a:solidFill>
                  <a:srgbClr val="F0884A"/>
                </a:solidFill>
                <a:latin typeface="Arial Black" pitchFamily="34" charset="0"/>
                <a:ea typeface="Arial Black" pitchFamily="34" charset="-122"/>
                <a:cs typeface="Arial Black" pitchFamily="34" charset="-120"/>
              </a:rPr>
              <a:t>3</a:t>
            </a:r>
            <a:endParaRPr lang="en-US" sz="2000" dirty="0"/>
          </a:p>
        </p:txBody>
      </p:sp>
      <p:sp>
        <p:nvSpPr>
          <p:cNvPr id="23" name="Text 21"/>
          <p:cNvSpPr/>
          <p:nvPr/>
        </p:nvSpPr>
        <p:spPr>
          <a:xfrm>
            <a:off x="5321808" y="1920240"/>
            <a:ext cx="1600200" cy="201168"/>
          </a:xfrm>
          <a:prstGeom prst="rect">
            <a:avLst/>
          </a:prstGeom>
          <a:noFill/>
          <a:ln/>
        </p:spPr>
        <p:txBody>
          <a:bodyPr wrap="square" lIns="0" tIns="0" rIns="0" bIns="0" rtlCol="0" anchor="ctr"/>
          <a:lstStyle/>
          <a:p>
            <a:pPr algn="ctr" indent="0" marL="0">
              <a:buNone/>
            </a:pPr>
            <a:r>
              <a:rPr lang="en-US" sz="650" spc="100" kern="0" dirty="0">
                <a:solidFill>
                  <a:srgbClr val="7A7570"/>
                </a:solidFill>
                <a:latin typeface="Consolas" pitchFamily="34" charset="0"/>
                <a:ea typeface="Consolas" pitchFamily="34" charset="-122"/>
                <a:cs typeface="Consolas" pitchFamily="34" charset="-120"/>
              </a:rPr>
              <a:t>RÉSERV.</a:t>
            </a:r>
            <a:endParaRPr lang="en-US" sz="650" dirty="0"/>
          </a:p>
        </p:txBody>
      </p:sp>
      <p:sp>
        <p:nvSpPr>
          <p:cNvPr id="24" name="Shape 22"/>
          <p:cNvSpPr/>
          <p:nvPr/>
        </p:nvSpPr>
        <p:spPr>
          <a:xfrm>
            <a:off x="7040880" y="1417320"/>
            <a:ext cx="1600200" cy="749808"/>
          </a:xfrm>
          <a:prstGeom prst="rect">
            <a:avLst/>
          </a:prstGeom>
          <a:solidFill>
            <a:srgbClr val="141414"/>
          </a:solidFill>
          <a:ln w="12700">
            <a:solidFill>
              <a:srgbClr val="1E1E1E"/>
            </a:solidFill>
            <a:prstDash val="solid"/>
          </a:ln>
        </p:spPr>
      </p:sp>
      <p:sp>
        <p:nvSpPr>
          <p:cNvPr id="25" name="Text 23"/>
          <p:cNvSpPr/>
          <p:nvPr/>
        </p:nvSpPr>
        <p:spPr>
          <a:xfrm>
            <a:off x="7040880" y="1463040"/>
            <a:ext cx="1600200" cy="457200"/>
          </a:xfrm>
          <a:prstGeom prst="rect">
            <a:avLst/>
          </a:prstGeom>
          <a:noFill/>
          <a:ln/>
        </p:spPr>
        <p:txBody>
          <a:bodyPr wrap="square" lIns="0" tIns="0" rIns="0" bIns="0" rtlCol="0" anchor="ctr"/>
          <a:lstStyle/>
          <a:p>
            <a:pPr algn="ctr" indent="0" marL="0">
              <a:buNone/>
            </a:pPr>
            <a:r>
              <a:rPr lang="en-US" sz="2000" dirty="0">
                <a:solidFill>
                  <a:srgbClr val="5B9CF6"/>
                </a:solidFill>
                <a:latin typeface="Arial Black" pitchFamily="34" charset="0"/>
                <a:ea typeface="Arial Black" pitchFamily="34" charset="-122"/>
                <a:cs typeface="Arial Black" pitchFamily="34" charset="-120"/>
              </a:rPr>
              <a:t>1.4K</a:t>
            </a:r>
            <a:endParaRPr lang="en-US" sz="2000" dirty="0"/>
          </a:p>
        </p:txBody>
      </p:sp>
      <p:sp>
        <p:nvSpPr>
          <p:cNvPr id="26" name="Text 24"/>
          <p:cNvSpPr/>
          <p:nvPr/>
        </p:nvSpPr>
        <p:spPr>
          <a:xfrm>
            <a:off x="7040880" y="1920240"/>
            <a:ext cx="1600200" cy="201168"/>
          </a:xfrm>
          <a:prstGeom prst="rect">
            <a:avLst/>
          </a:prstGeom>
          <a:noFill/>
          <a:ln/>
        </p:spPr>
        <p:txBody>
          <a:bodyPr wrap="square" lIns="0" tIns="0" rIns="0" bIns="0" rtlCol="0" anchor="ctr"/>
          <a:lstStyle/>
          <a:p>
            <a:pPr algn="ctr" indent="0" marL="0">
              <a:buNone/>
            </a:pPr>
            <a:r>
              <a:rPr lang="en-US" sz="650" spc="100" kern="0" dirty="0">
                <a:solidFill>
                  <a:srgbClr val="7A7570"/>
                </a:solidFill>
                <a:latin typeface="Consolas" pitchFamily="34" charset="0"/>
                <a:ea typeface="Consolas" pitchFamily="34" charset="-122"/>
                <a:cs typeface="Consolas" pitchFamily="34" charset="-120"/>
              </a:rPr>
              <a:t>ABONNÉS</a:t>
            </a:r>
            <a:endParaRPr lang="en-US" sz="650" dirty="0"/>
          </a:p>
        </p:txBody>
      </p:sp>
      <p:sp>
        <p:nvSpPr>
          <p:cNvPr id="27" name="Shape 25"/>
          <p:cNvSpPr/>
          <p:nvPr/>
        </p:nvSpPr>
        <p:spPr>
          <a:xfrm>
            <a:off x="5321808" y="2286000"/>
            <a:ext cx="3429000" cy="1280160"/>
          </a:xfrm>
          <a:prstGeom prst="rect">
            <a:avLst/>
          </a:prstGeom>
          <a:solidFill>
            <a:srgbClr val="141414"/>
          </a:solidFill>
          <a:ln w="12700">
            <a:solidFill>
              <a:srgbClr val="1E1E1E"/>
            </a:solidFill>
            <a:prstDash val="solid"/>
          </a:ln>
        </p:spPr>
      </p:sp>
      <p:sp>
        <p:nvSpPr>
          <p:cNvPr id="28" name="Shape 26"/>
          <p:cNvSpPr/>
          <p:nvPr/>
        </p:nvSpPr>
        <p:spPr>
          <a:xfrm>
            <a:off x="5440680" y="2825496"/>
            <a:ext cx="329184" cy="329184"/>
          </a:xfrm>
          <a:prstGeom prst="rect">
            <a:avLst/>
          </a:prstGeom>
          <a:solidFill>
            <a:srgbClr val="C9A84C">
              <a:alpha val="30000"/>
            </a:srgbClr>
          </a:solidFill>
          <a:ln w="12700">
            <a:solidFill>
              <a:srgbClr val="C9A84C">
                <a:alpha val="50000"/>
              </a:srgbClr>
            </a:solidFill>
            <a:prstDash val="solid"/>
          </a:ln>
        </p:spPr>
      </p:sp>
      <p:sp>
        <p:nvSpPr>
          <p:cNvPr id="29" name="Shape 27"/>
          <p:cNvSpPr/>
          <p:nvPr/>
        </p:nvSpPr>
        <p:spPr>
          <a:xfrm>
            <a:off x="5879592" y="2578608"/>
            <a:ext cx="329184" cy="576072"/>
          </a:xfrm>
          <a:prstGeom prst="rect">
            <a:avLst/>
          </a:prstGeom>
          <a:solidFill>
            <a:srgbClr val="C9A84C">
              <a:alpha val="30000"/>
            </a:srgbClr>
          </a:solidFill>
          <a:ln w="12700">
            <a:solidFill>
              <a:srgbClr val="C9A84C">
                <a:alpha val="50000"/>
              </a:srgbClr>
            </a:solidFill>
            <a:prstDash val="solid"/>
          </a:ln>
        </p:spPr>
      </p:sp>
      <p:sp>
        <p:nvSpPr>
          <p:cNvPr id="30" name="Shape 28"/>
          <p:cNvSpPr/>
          <p:nvPr/>
        </p:nvSpPr>
        <p:spPr>
          <a:xfrm>
            <a:off x="6318504" y="2866644"/>
            <a:ext cx="329184" cy="288036"/>
          </a:xfrm>
          <a:prstGeom prst="rect">
            <a:avLst/>
          </a:prstGeom>
          <a:solidFill>
            <a:srgbClr val="C9A84C">
              <a:alpha val="30000"/>
            </a:srgbClr>
          </a:solidFill>
          <a:ln w="12700">
            <a:solidFill>
              <a:srgbClr val="C9A84C">
                <a:alpha val="50000"/>
              </a:srgbClr>
            </a:solidFill>
            <a:prstDash val="solid"/>
          </a:ln>
        </p:spPr>
      </p:sp>
      <p:sp>
        <p:nvSpPr>
          <p:cNvPr id="31" name="Shape 29"/>
          <p:cNvSpPr/>
          <p:nvPr/>
        </p:nvSpPr>
        <p:spPr>
          <a:xfrm>
            <a:off x="6757416" y="2414016"/>
            <a:ext cx="329184" cy="740664"/>
          </a:xfrm>
          <a:prstGeom prst="rect">
            <a:avLst/>
          </a:prstGeom>
          <a:solidFill>
            <a:srgbClr val="C9A84C">
              <a:alpha val="30000"/>
            </a:srgbClr>
          </a:solidFill>
          <a:ln w="12700">
            <a:solidFill>
              <a:srgbClr val="C9A84C">
                <a:alpha val="50000"/>
              </a:srgbClr>
            </a:solidFill>
            <a:prstDash val="solid"/>
          </a:ln>
        </p:spPr>
      </p:sp>
      <p:sp>
        <p:nvSpPr>
          <p:cNvPr id="32" name="Shape 30"/>
          <p:cNvSpPr/>
          <p:nvPr/>
        </p:nvSpPr>
        <p:spPr>
          <a:xfrm>
            <a:off x="7196328" y="2619756"/>
            <a:ext cx="329184" cy="534924"/>
          </a:xfrm>
          <a:prstGeom prst="rect">
            <a:avLst/>
          </a:prstGeom>
          <a:solidFill>
            <a:srgbClr val="C9A84C">
              <a:alpha val="30000"/>
            </a:srgbClr>
          </a:solidFill>
          <a:ln w="12700">
            <a:solidFill>
              <a:srgbClr val="C9A84C">
                <a:alpha val="50000"/>
              </a:srgbClr>
            </a:solidFill>
            <a:prstDash val="solid"/>
          </a:ln>
        </p:spPr>
      </p:sp>
      <p:sp>
        <p:nvSpPr>
          <p:cNvPr id="33" name="Shape 31"/>
          <p:cNvSpPr/>
          <p:nvPr/>
        </p:nvSpPr>
        <p:spPr>
          <a:xfrm>
            <a:off x="7635240" y="2331720"/>
            <a:ext cx="329184" cy="822960"/>
          </a:xfrm>
          <a:prstGeom prst="rect">
            <a:avLst/>
          </a:prstGeom>
          <a:solidFill>
            <a:srgbClr val="C9A84C">
              <a:alpha val="30000"/>
            </a:srgbClr>
          </a:solidFill>
          <a:ln w="12700">
            <a:solidFill>
              <a:srgbClr val="C9A84C">
                <a:alpha val="50000"/>
              </a:srgbClr>
            </a:solidFill>
            <a:prstDash val="solid"/>
          </a:ln>
        </p:spPr>
      </p:sp>
      <p:sp>
        <p:nvSpPr>
          <p:cNvPr id="34" name="Shape 32"/>
          <p:cNvSpPr/>
          <p:nvPr/>
        </p:nvSpPr>
        <p:spPr>
          <a:xfrm>
            <a:off x="8074152" y="2455164"/>
            <a:ext cx="329184" cy="699516"/>
          </a:xfrm>
          <a:prstGeom prst="rect">
            <a:avLst/>
          </a:prstGeom>
          <a:solidFill>
            <a:srgbClr val="C9A84C"/>
          </a:solidFill>
          <a:ln w="12700">
            <a:solidFill>
              <a:srgbClr val="C9A84C"/>
            </a:solidFill>
            <a:prstDash val="solid"/>
          </a:ln>
        </p:spPr>
      </p:sp>
      <p:sp>
        <p:nvSpPr>
          <p:cNvPr id="35" name="Shape 33"/>
          <p:cNvSpPr/>
          <p:nvPr/>
        </p:nvSpPr>
        <p:spPr>
          <a:xfrm>
            <a:off x="5321808" y="3675888"/>
            <a:ext cx="3429000" cy="502920"/>
          </a:xfrm>
          <a:prstGeom prst="rect">
            <a:avLst/>
          </a:prstGeom>
          <a:solidFill>
            <a:srgbClr val="141414"/>
          </a:solidFill>
          <a:ln w="12700">
            <a:solidFill>
              <a:srgbClr val="1E1E1E"/>
            </a:solidFill>
            <a:prstDash val="solid"/>
          </a:ln>
        </p:spPr>
      </p:sp>
      <p:sp>
        <p:nvSpPr>
          <p:cNvPr id="36" name="Shape 34"/>
          <p:cNvSpPr/>
          <p:nvPr/>
        </p:nvSpPr>
        <p:spPr>
          <a:xfrm>
            <a:off x="5321808" y="3675888"/>
            <a:ext cx="1005840" cy="502920"/>
          </a:xfrm>
          <a:prstGeom prst="rect">
            <a:avLst/>
          </a:prstGeom>
          <a:solidFill>
            <a:srgbClr val="0A2208"/>
          </a:solidFill>
          <a:ln w="12700">
            <a:solidFill>
              <a:srgbClr val="1A4410"/>
            </a:solidFill>
            <a:prstDash val="solid"/>
          </a:ln>
        </p:spPr>
      </p:sp>
      <p:sp>
        <p:nvSpPr>
          <p:cNvPr id="37" name="Text 35"/>
          <p:cNvSpPr/>
          <p:nvPr/>
        </p:nvSpPr>
        <p:spPr>
          <a:xfrm>
            <a:off x="5330952" y="3749040"/>
            <a:ext cx="987552" cy="347472"/>
          </a:xfrm>
          <a:prstGeom prst="rect">
            <a:avLst/>
          </a:prstGeom>
          <a:noFill/>
          <a:ln/>
        </p:spPr>
        <p:txBody>
          <a:bodyPr wrap="square" lIns="0" tIns="0" rIns="0" bIns="0" rtlCol="0" anchor="ctr"/>
          <a:lstStyle/>
          <a:p>
            <a:pPr algn="ctr" indent="0" marL="0">
              <a:buNone/>
            </a:pPr>
            <a:r>
              <a:rPr lang="en-US" sz="750" b="1" dirty="0">
                <a:solidFill>
                  <a:srgbClr val="3ECF8E"/>
                </a:solidFill>
                <a:latin typeface="Consolas" pitchFamily="34" charset="0"/>
                <a:ea typeface="Consolas" pitchFamily="34" charset="-122"/>
                <a:cs typeface="Consolas" pitchFamily="34" charset="-120"/>
              </a:rPr>
              <a:t>✔ VALIDE</a:t>
            </a:r>
            <a:endParaRPr lang="en-US" sz="750" dirty="0"/>
          </a:p>
        </p:txBody>
      </p:sp>
      <p:sp>
        <p:nvSpPr>
          <p:cNvPr id="38" name="Text 36"/>
          <p:cNvSpPr/>
          <p:nvPr/>
        </p:nvSpPr>
        <p:spPr>
          <a:xfrm>
            <a:off x="6400800" y="3749040"/>
            <a:ext cx="2286000" cy="347472"/>
          </a:xfrm>
          <a:prstGeom prst="rect">
            <a:avLst/>
          </a:prstGeom>
          <a:noFill/>
          <a:ln/>
        </p:spPr>
        <p:txBody>
          <a:bodyPr wrap="square" lIns="0" tIns="0" rIns="0" bIns="0" rtlCol="0" anchor="ctr"/>
          <a:lstStyle/>
          <a:p>
            <a:pPr indent="0" marL="0">
              <a:buNone/>
            </a:pPr>
            <a:r>
              <a:rPr lang="en-US" sz="800" dirty="0">
                <a:solidFill>
                  <a:srgbClr val="F0ECE3"/>
                </a:solidFill>
                <a:latin typeface="Calibri" pitchFamily="34" charset="0"/>
                <a:ea typeface="Calibri" pitchFamily="34" charset="-122"/>
                <a:cs typeface="Calibri" pitchFamily="34" charset="-120"/>
              </a:rPr>
              <a:t>Carlos M. · Normal · Techno Night</a:t>
            </a:r>
            <a:endParaRPr lang="en-US" sz="800" dirty="0"/>
          </a:p>
        </p:txBody>
      </p:sp>
      <p:sp>
        <p:nvSpPr>
          <p:cNvPr id="39" name="Shape 37"/>
          <p:cNvSpPr/>
          <p:nvPr/>
        </p:nvSpPr>
        <p:spPr>
          <a:xfrm>
            <a:off x="548640" y="2788920"/>
            <a:ext cx="3566160" cy="292608"/>
          </a:xfrm>
          <a:prstGeom prst="rect">
            <a:avLst/>
          </a:prstGeom>
          <a:solidFill>
            <a:srgbClr val="050505"/>
          </a:solidFill>
          <a:ln w="12700">
            <a:solidFill>
              <a:srgbClr val="151505"/>
            </a:solidFill>
            <a:prstDash val="solid"/>
          </a:ln>
        </p:spPr>
      </p:sp>
      <p:sp>
        <p:nvSpPr>
          <p:cNvPr id="40" name="Text 38"/>
          <p:cNvSpPr/>
          <p:nvPr/>
        </p:nvSpPr>
        <p:spPr>
          <a:xfrm>
            <a:off x="685800" y="2807208"/>
            <a:ext cx="3291840" cy="256032"/>
          </a:xfrm>
          <a:prstGeom prst="rect">
            <a:avLst/>
          </a:prstGeom>
          <a:noFill/>
          <a:ln/>
        </p:spPr>
        <p:txBody>
          <a:bodyPr wrap="square" lIns="0" tIns="0" rIns="0" bIns="0" rtlCol="0" anchor="ctr"/>
          <a:lstStyle/>
          <a:p>
            <a:pPr indent="0" marL="0">
              <a:buNone/>
            </a:pPr>
            <a:r>
              <a:rPr lang="en-US" sz="1050" dirty="0">
                <a:solidFill>
                  <a:srgbClr val="F0ECE3"/>
                </a:solidFill>
                <a:latin typeface="Calibri" pitchFamily="34" charset="0"/>
                <a:ea typeface="Calibri" pitchFamily="34" charset="-122"/>
                <a:cs typeface="Calibri" pitchFamily="34" charset="-120"/>
              </a:rPr>
              <a:t>📊 Ventes en temps réel</a:t>
            </a:r>
            <a:endParaRPr lang="en-US" sz="1050" dirty="0"/>
          </a:p>
        </p:txBody>
      </p:sp>
      <p:sp>
        <p:nvSpPr>
          <p:cNvPr id="41" name="Shape 39"/>
          <p:cNvSpPr/>
          <p:nvPr/>
        </p:nvSpPr>
        <p:spPr>
          <a:xfrm>
            <a:off x="548640" y="3163824"/>
            <a:ext cx="3566160" cy="292608"/>
          </a:xfrm>
          <a:prstGeom prst="rect">
            <a:avLst/>
          </a:prstGeom>
          <a:solidFill>
            <a:srgbClr val="050505"/>
          </a:solidFill>
          <a:ln w="12700">
            <a:solidFill>
              <a:srgbClr val="151505"/>
            </a:solidFill>
            <a:prstDash val="solid"/>
          </a:ln>
        </p:spPr>
      </p:sp>
      <p:sp>
        <p:nvSpPr>
          <p:cNvPr id="42" name="Text 40"/>
          <p:cNvSpPr/>
          <p:nvPr/>
        </p:nvSpPr>
        <p:spPr>
          <a:xfrm>
            <a:off x="685800" y="3182112"/>
            <a:ext cx="3291840" cy="256032"/>
          </a:xfrm>
          <a:prstGeom prst="rect">
            <a:avLst/>
          </a:prstGeom>
          <a:noFill/>
          <a:ln/>
        </p:spPr>
        <p:txBody>
          <a:bodyPr wrap="square" lIns="0" tIns="0" rIns="0" bIns="0" rtlCol="0" anchor="ctr"/>
          <a:lstStyle/>
          <a:p>
            <a:pPr indent="0" marL="0">
              <a:buNone/>
            </a:pPr>
            <a:r>
              <a:rPr lang="en-US" sz="1050" dirty="0">
                <a:solidFill>
                  <a:srgbClr val="F0ECE3"/>
                </a:solidFill>
                <a:latin typeface="Calibri" pitchFamily="34" charset="0"/>
                <a:ea typeface="Calibri" pitchFamily="34" charset="-122"/>
                <a:cs typeface="Calibri" pitchFamily="34" charset="-120"/>
              </a:rPr>
              <a:t>📱 Scanner QR avec caméra</a:t>
            </a:r>
            <a:endParaRPr lang="en-US" sz="1050" dirty="0"/>
          </a:p>
        </p:txBody>
      </p:sp>
      <p:sp>
        <p:nvSpPr>
          <p:cNvPr id="43" name="Shape 41"/>
          <p:cNvSpPr/>
          <p:nvPr/>
        </p:nvSpPr>
        <p:spPr>
          <a:xfrm>
            <a:off x="548640" y="3538728"/>
            <a:ext cx="3566160" cy="292608"/>
          </a:xfrm>
          <a:prstGeom prst="rect">
            <a:avLst/>
          </a:prstGeom>
          <a:solidFill>
            <a:srgbClr val="050505"/>
          </a:solidFill>
          <a:ln w="12700">
            <a:solidFill>
              <a:srgbClr val="151505"/>
            </a:solidFill>
            <a:prstDash val="solid"/>
          </a:ln>
        </p:spPr>
      </p:sp>
      <p:sp>
        <p:nvSpPr>
          <p:cNvPr id="44" name="Text 42"/>
          <p:cNvSpPr/>
          <p:nvPr/>
        </p:nvSpPr>
        <p:spPr>
          <a:xfrm>
            <a:off x="685800" y="3557016"/>
            <a:ext cx="3291840" cy="256032"/>
          </a:xfrm>
          <a:prstGeom prst="rect">
            <a:avLst/>
          </a:prstGeom>
          <a:noFill/>
          <a:ln/>
        </p:spPr>
        <p:txBody>
          <a:bodyPr wrap="square" lIns="0" tIns="0" rIns="0" bIns="0" rtlCol="0" anchor="ctr"/>
          <a:lstStyle/>
          <a:p>
            <a:pPr indent="0" marL="0">
              <a:buNone/>
            </a:pPr>
            <a:r>
              <a:rPr lang="en-US" sz="1050" dirty="0">
                <a:solidFill>
                  <a:srgbClr val="F0ECE3"/>
                </a:solidFill>
                <a:latin typeface="Calibri" pitchFamily="34" charset="0"/>
                <a:ea typeface="Calibri" pitchFamily="34" charset="-122"/>
                <a:cs typeface="Calibri" pitchFamily="34" charset="-120"/>
              </a:rPr>
              <a:t>✉  Newsletter à 1.482 personnes</a:t>
            </a:r>
            <a:endParaRPr lang="en-US" sz="1050" dirty="0"/>
          </a:p>
        </p:txBody>
      </p:sp>
      <p:sp>
        <p:nvSpPr>
          <p:cNvPr id="45" name="Shape 43"/>
          <p:cNvSpPr/>
          <p:nvPr/>
        </p:nvSpPr>
        <p:spPr>
          <a:xfrm>
            <a:off x="548640" y="3913632"/>
            <a:ext cx="3566160" cy="292608"/>
          </a:xfrm>
          <a:prstGeom prst="rect">
            <a:avLst/>
          </a:prstGeom>
          <a:solidFill>
            <a:srgbClr val="050505"/>
          </a:solidFill>
          <a:ln w="12700">
            <a:solidFill>
              <a:srgbClr val="151505"/>
            </a:solidFill>
            <a:prstDash val="solid"/>
          </a:ln>
        </p:spPr>
      </p:sp>
      <p:sp>
        <p:nvSpPr>
          <p:cNvPr id="46" name="Text 44"/>
          <p:cNvSpPr/>
          <p:nvPr/>
        </p:nvSpPr>
        <p:spPr>
          <a:xfrm>
            <a:off x="685800" y="3931920"/>
            <a:ext cx="3291840" cy="256032"/>
          </a:xfrm>
          <a:prstGeom prst="rect">
            <a:avLst/>
          </a:prstGeom>
          <a:noFill/>
          <a:ln/>
        </p:spPr>
        <p:txBody>
          <a:bodyPr wrap="square" lIns="0" tIns="0" rIns="0" bIns="0" rtlCol="0" anchor="ctr"/>
          <a:lstStyle/>
          <a:p>
            <a:pPr indent="0" marL="0">
              <a:buNone/>
            </a:pPr>
            <a:r>
              <a:rPr lang="en-US" sz="1050" dirty="0">
                <a:solidFill>
                  <a:srgbClr val="F0ECE3"/>
                </a:solidFill>
                <a:latin typeface="Calibri" pitchFamily="34" charset="0"/>
                <a:ea typeface="Calibri" pitchFamily="34" charset="-122"/>
                <a:cs typeface="Calibri" pitchFamily="34" charset="-120"/>
              </a:rPr>
              <a:t>🖼  Gestion de photos par catégorie</a:t>
            </a:r>
            <a:endParaRPr lang="en-US" sz="1050" dirty="0"/>
          </a:p>
        </p:txBody>
      </p:sp>
      <p:sp>
        <p:nvSpPr>
          <p:cNvPr id="47" name="Shape 45"/>
          <p:cNvSpPr/>
          <p:nvPr/>
        </p:nvSpPr>
        <p:spPr>
          <a:xfrm>
            <a:off x="548640" y="4288536"/>
            <a:ext cx="3566160" cy="292608"/>
          </a:xfrm>
          <a:prstGeom prst="rect">
            <a:avLst/>
          </a:prstGeom>
          <a:solidFill>
            <a:srgbClr val="050505"/>
          </a:solidFill>
          <a:ln w="12700">
            <a:solidFill>
              <a:srgbClr val="151505"/>
            </a:solidFill>
            <a:prstDash val="solid"/>
          </a:ln>
        </p:spPr>
      </p:sp>
      <p:sp>
        <p:nvSpPr>
          <p:cNvPr id="48" name="Text 46"/>
          <p:cNvSpPr/>
          <p:nvPr/>
        </p:nvSpPr>
        <p:spPr>
          <a:xfrm>
            <a:off x="685800" y="4306824"/>
            <a:ext cx="3291840" cy="256032"/>
          </a:xfrm>
          <a:prstGeom prst="rect">
            <a:avLst/>
          </a:prstGeom>
          <a:noFill/>
          <a:ln/>
        </p:spPr>
        <p:txBody>
          <a:bodyPr wrap="square" lIns="0" tIns="0" rIns="0" bIns="0" rtlCol="0" anchor="ctr"/>
          <a:lstStyle/>
          <a:p>
            <a:pPr indent="0" marL="0">
              <a:buNone/>
            </a:pPr>
            <a:r>
              <a:rPr lang="en-US" sz="1050" dirty="0">
                <a:solidFill>
                  <a:srgbClr val="F0ECE3"/>
                </a:solidFill>
                <a:latin typeface="Calibri" pitchFamily="34" charset="0"/>
                <a:ea typeface="Calibri" pitchFamily="34" charset="-122"/>
                <a:cs typeface="Calibri" pitchFamily="34" charset="-120"/>
              </a:rPr>
              <a:t>📈 Prédictions de ventes IA</a:t>
            </a:r>
            <a:endParaRPr lang="en-US" sz="1050" dirty="0"/>
          </a:p>
        </p:txBody>
      </p:sp>
      <p:sp>
        <p:nvSpPr>
          <p:cNvPr id="49" name="Shape 47"/>
          <p:cNvSpPr/>
          <p:nvPr/>
        </p:nvSpPr>
        <p:spPr>
          <a:xfrm>
            <a:off x="548640" y="4663440"/>
            <a:ext cx="3657600" cy="347472"/>
          </a:xfrm>
          <a:prstGeom prst="rect">
            <a:avLst/>
          </a:prstGeom>
          <a:solidFill>
            <a:srgbClr val="C9A84C"/>
          </a:solidFill>
          <a:ln w="12700">
            <a:solidFill>
              <a:srgbClr val="C9A84C"/>
            </a:solidFill>
            <a:prstDash val="solid"/>
          </a:ln>
        </p:spPr>
      </p:sp>
      <p:sp>
        <p:nvSpPr>
          <p:cNvPr id="50" name="Text 48"/>
          <p:cNvSpPr/>
          <p:nvPr/>
        </p:nvSpPr>
        <p:spPr>
          <a:xfrm>
            <a:off x="548640" y="4681728"/>
            <a:ext cx="3657600" cy="310896"/>
          </a:xfrm>
          <a:prstGeom prst="rect">
            <a:avLst/>
          </a:prstGeom>
          <a:noFill/>
          <a:ln/>
        </p:spPr>
        <p:txBody>
          <a:bodyPr wrap="square" lIns="0" tIns="0" rIns="0" bIns="0" rtlCol="0" anchor="ctr"/>
          <a:lstStyle/>
          <a:p>
            <a:pPr algn="ctr" indent="0" marL="0">
              <a:buNone/>
            </a:pPr>
            <a:r>
              <a:rPr lang="en-US" sz="1000" b="1" spc="100" kern="0" dirty="0">
                <a:solidFill>
                  <a:srgbClr val="080808"/>
                </a:solidFill>
                <a:latin typeface="Consolas" pitchFamily="34" charset="0"/>
                <a:ea typeface="Consolas" pitchFamily="34" charset="-122"/>
                <a:cs typeface="Consolas" pitchFamily="34" charset="-120"/>
              </a:rPr>
              <a:t>→  Ouvrir le tableau de bord démo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900" spc="300" kern="0" dirty="0">
                <a:solidFill>
                  <a:srgbClr val="C9A84C"/>
                </a:solidFill>
                <a:latin typeface="Consolas" pitchFamily="34" charset="0"/>
                <a:ea typeface="Consolas" pitchFamily="34" charset="-122"/>
                <a:cs typeface="Consolas" pitchFamily="34" charset="-120"/>
              </a:rPr>
              <a:t>LE PRIX</a:t>
            </a:r>
            <a:endParaRPr lang="en-US" sz="900" dirty="0"/>
          </a:p>
        </p:txBody>
      </p:sp>
      <p:sp>
        <p:nvSpPr>
          <p:cNvPr id="4" name="Text 2"/>
          <p:cNvSpPr/>
          <p:nvPr/>
        </p:nvSpPr>
        <p:spPr>
          <a:xfrm>
            <a:off x="548640" y="457200"/>
            <a:ext cx="5029200" cy="1005840"/>
          </a:xfrm>
          <a:prstGeom prst="rect">
            <a:avLst/>
          </a:prstGeom>
          <a:noFill/>
          <a:ln/>
        </p:spPr>
        <p:txBody>
          <a:bodyPr wrap="square" lIns="0" tIns="0" rIns="0" bIns="0" rtlCol="0" anchor="ctr"/>
          <a:lstStyle/>
          <a:p>
            <a:pPr algn="l" indent="0" marL="0">
              <a:buNone/>
            </a:pPr>
            <a:r>
              <a:rPr lang="en-US" sz="4000" b="1" spc="300" kern="0" dirty="0">
                <a:solidFill>
                  <a:srgbClr val="F0ECE3"/>
                </a:solidFill>
                <a:latin typeface="Arial Black" pitchFamily="34" charset="0"/>
                <a:ea typeface="Arial Black" pitchFamily="34" charset="-122"/>
                <a:cs typeface="Arial Black" pitchFamily="34" charset="-120"/>
              </a:rPr>
              <a:t>200€ par mois.</a:t>
            </a:r>
            <a:endParaRPr lang="en-US" sz="4000" dirty="0"/>
          </a:p>
          <a:p>
            <a:pPr algn="l" indent="0" marL="0">
              <a:buNone/>
            </a:pPr>
            <a:r>
              <a:rPr lang="en-US" sz="4000" b="1" spc="300" kern="0" dirty="0">
                <a:solidFill>
                  <a:srgbClr val="F0ECE3"/>
                </a:solidFill>
                <a:latin typeface="Arial Black" pitchFamily="34" charset="0"/>
                <a:ea typeface="Arial Black" pitchFamily="34" charset="-122"/>
                <a:cs typeface="Arial Black" pitchFamily="34" charset="-120"/>
              </a:rPr>
              <a:t>Tout inclus.</a:t>
            </a:r>
            <a:endParaRPr lang="en-US" sz="4000" dirty="0"/>
          </a:p>
        </p:txBody>
      </p:sp>
      <p:sp>
        <p:nvSpPr>
          <p:cNvPr id="5" name="Text 3"/>
          <p:cNvSpPr/>
          <p:nvPr/>
        </p:nvSpPr>
        <p:spPr>
          <a:xfrm>
            <a:off x="548640" y="1554480"/>
            <a:ext cx="4572000" cy="548640"/>
          </a:xfrm>
          <a:prstGeom prst="rect">
            <a:avLst/>
          </a:prstGeom>
          <a:noFill/>
          <a:ln/>
        </p:spPr>
        <p:txBody>
          <a:bodyPr wrap="square" lIns="0" tIns="0" rIns="0" bIns="0" rtlCol="0" anchor="ctr"/>
          <a:lstStyle/>
          <a:p>
            <a:pPr algn="l" indent="0" marL="0">
              <a:lnSpc>
                <a:spcPct val="130000"/>
              </a:lnSpc>
              <a:buNone/>
            </a:pPr>
            <a:r>
              <a:rPr lang="en-US" sz="1600" dirty="0">
                <a:solidFill>
                  <a:srgbClr val="7A7570"/>
                </a:solidFill>
                <a:latin typeface="Calibri" pitchFamily="34" charset="0"/>
                <a:ea typeface="Calibri" pitchFamily="34" charset="-122"/>
                <a:cs typeface="Calibri" pitchFamily="34" charset="-120"/>
              </a:rPr>
              <a:t>Sans commissions. Sans surprises.</a:t>
            </a:r>
            <a:endParaRPr lang="en-US" sz="1600" dirty="0"/>
          </a:p>
          <a:p>
            <a:pPr algn="l" indent="0" marL="0">
              <a:lnSpc>
                <a:spcPct val="130000"/>
              </a:lnSpc>
              <a:buNone/>
            </a:pPr>
            <a:r>
              <a:rPr lang="en-US" sz="1600" dirty="0">
                <a:solidFill>
                  <a:srgbClr val="7A7570"/>
                </a:solidFill>
                <a:latin typeface="Calibri" pitchFamily="34" charset="0"/>
                <a:ea typeface="Calibri" pitchFamily="34" charset="-122"/>
                <a:cs typeface="Calibri" pitchFamily="34" charset="-120"/>
              </a:rPr>
              <a:t>Sans frais cachés.</a:t>
            </a:r>
            <a:endParaRPr lang="en-US" sz="1600" dirty="0"/>
          </a:p>
        </p:txBody>
      </p:sp>
      <p:sp>
        <p:nvSpPr>
          <p:cNvPr id="6" name="Shape 4"/>
          <p:cNvSpPr/>
          <p:nvPr/>
        </p:nvSpPr>
        <p:spPr>
          <a:xfrm>
            <a:off x="548640" y="2240280"/>
            <a:ext cx="3840480" cy="2560320"/>
          </a:xfrm>
          <a:prstGeom prst="rect">
            <a:avLst/>
          </a:prstGeom>
          <a:solidFill>
            <a:srgbClr val="0D0A03"/>
          </a:solidFill>
          <a:ln w="12700">
            <a:solidFill>
              <a:srgbClr val="C9A84C"/>
            </a:solidFill>
            <a:prstDash val="solid"/>
          </a:ln>
        </p:spPr>
      </p:sp>
      <p:sp>
        <p:nvSpPr>
          <p:cNvPr id="7" name="Shape 5"/>
          <p:cNvSpPr/>
          <p:nvPr/>
        </p:nvSpPr>
        <p:spPr>
          <a:xfrm>
            <a:off x="548640" y="2240280"/>
            <a:ext cx="3840480" cy="2560320"/>
          </a:xfrm>
          <a:prstGeom prst="rect">
            <a:avLst/>
          </a:prstGeom>
          <a:solidFill>
            <a:srgbClr val="0D0A03"/>
          </a:solidFill>
          <a:ln w="25400">
            <a:solidFill>
              <a:srgbClr val="C9A84C"/>
            </a:solidFill>
            <a:prstDash val="solid"/>
          </a:ln>
        </p:spPr>
      </p:sp>
      <p:sp>
        <p:nvSpPr>
          <p:cNvPr id="8" name="Text 6"/>
          <p:cNvSpPr/>
          <p:nvPr/>
        </p:nvSpPr>
        <p:spPr>
          <a:xfrm>
            <a:off x="548640" y="2423160"/>
            <a:ext cx="3840480" cy="1188720"/>
          </a:xfrm>
          <a:prstGeom prst="rect">
            <a:avLst/>
          </a:prstGeom>
          <a:noFill/>
          <a:ln/>
        </p:spPr>
        <p:txBody>
          <a:bodyPr wrap="square" lIns="0" tIns="0" rIns="0" bIns="0" rtlCol="0" anchor="ctr"/>
          <a:lstStyle/>
          <a:p>
            <a:pPr algn="ctr" indent="0" marL="0">
              <a:buNone/>
            </a:pPr>
            <a:r>
              <a:rPr lang="en-US" sz="8000" b="1" spc="300" kern="0" dirty="0">
                <a:solidFill>
                  <a:srgbClr val="C9A84C"/>
                </a:solidFill>
                <a:latin typeface="Arial Black" pitchFamily="34" charset="0"/>
                <a:ea typeface="Arial Black" pitchFamily="34" charset="-122"/>
                <a:cs typeface="Arial Black" pitchFamily="34" charset="-120"/>
              </a:rPr>
              <a:t>200€</a:t>
            </a:r>
            <a:endParaRPr lang="en-US" sz="8000" dirty="0"/>
          </a:p>
        </p:txBody>
      </p:sp>
      <p:sp>
        <p:nvSpPr>
          <p:cNvPr id="9" name="Text 7"/>
          <p:cNvSpPr/>
          <p:nvPr/>
        </p:nvSpPr>
        <p:spPr>
          <a:xfrm>
            <a:off x="548640" y="3547872"/>
            <a:ext cx="3840480" cy="274320"/>
          </a:xfrm>
          <a:prstGeom prst="rect">
            <a:avLst/>
          </a:prstGeom>
          <a:noFill/>
          <a:ln/>
        </p:spPr>
        <p:txBody>
          <a:bodyPr wrap="square" lIns="0" tIns="0" rIns="0" bIns="0" rtlCol="0" anchor="ctr"/>
          <a:lstStyle/>
          <a:p>
            <a:pPr algn="ctr" indent="0" marL="0">
              <a:buNone/>
            </a:pPr>
            <a:r>
              <a:rPr lang="en-US" sz="850" spc="300" kern="0" dirty="0">
                <a:solidFill>
                  <a:srgbClr val="7A7570"/>
                </a:solidFill>
                <a:latin typeface="Consolas" pitchFamily="34" charset="0"/>
                <a:ea typeface="Consolas" pitchFamily="34" charset="-122"/>
                <a:cs typeface="Consolas" pitchFamily="34" charset="-120"/>
              </a:rPr>
              <a:t>PAR MOIS · TOUT INCLUS</a:t>
            </a:r>
            <a:endParaRPr lang="en-US" sz="850" dirty="0"/>
          </a:p>
        </p:txBody>
      </p:sp>
      <p:sp>
        <p:nvSpPr>
          <p:cNvPr id="10" name="Shape 8"/>
          <p:cNvSpPr/>
          <p:nvPr/>
        </p:nvSpPr>
        <p:spPr>
          <a:xfrm>
            <a:off x="731520" y="3858768"/>
            <a:ext cx="3474720" cy="685800"/>
          </a:xfrm>
          <a:prstGeom prst="rect">
            <a:avLst/>
          </a:prstGeom>
          <a:solidFill>
            <a:srgbClr val="C9A84C"/>
          </a:solidFill>
          <a:ln w="12700">
            <a:solidFill>
              <a:srgbClr val="C9A84C"/>
            </a:solidFill>
            <a:prstDash val="solid"/>
          </a:ln>
        </p:spPr>
      </p:sp>
      <p:sp>
        <p:nvSpPr>
          <p:cNvPr id="11" name="Text 9"/>
          <p:cNvSpPr/>
          <p:nvPr/>
        </p:nvSpPr>
        <p:spPr>
          <a:xfrm>
            <a:off x="731520" y="3931920"/>
            <a:ext cx="3474720" cy="512064"/>
          </a:xfrm>
          <a:prstGeom prst="rect">
            <a:avLst/>
          </a:prstGeom>
          <a:noFill/>
          <a:ln/>
        </p:spPr>
        <p:txBody>
          <a:bodyPr wrap="square" lIns="0" tIns="0" rIns="0" bIns="0" rtlCol="0" anchor="ctr"/>
          <a:lstStyle/>
          <a:p>
            <a:pPr algn="ctr" indent="0" marL="0">
              <a:buNone/>
            </a:pPr>
            <a:r>
              <a:rPr lang="en-US" sz="950" b="1" spc="100" kern="0" dirty="0">
                <a:solidFill>
                  <a:srgbClr val="080808"/>
                </a:solidFill>
                <a:latin typeface="Consolas" pitchFamily="34" charset="0"/>
                <a:ea typeface="Consolas" pitchFamily="34" charset="-122"/>
                <a:cs typeface="Consolas" pitchFamily="34" charset="-120"/>
              </a:rPr>
              <a:t>90 JOURS GRATUITS → SANS CARTE</a:t>
            </a:r>
            <a:endParaRPr lang="en-US" sz="950" dirty="0"/>
          </a:p>
        </p:txBody>
      </p:sp>
      <p:sp>
        <p:nvSpPr>
          <p:cNvPr id="12" name="Shape 10"/>
          <p:cNvSpPr/>
          <p:nvPr/>
        </p:nvSpPr>
        <p:spPr>
          <a:xfrm>
            <a:off x="4663440" y="411480"/>
            <a:ext cx="4206240" cy="4572000"/>
          </a:xfrm>
          <a:prstGeom prst="rect">
            <a:avLst/>
          </a:prstGeom>
          <a:solidFill>
            <a:srgbClr val="050505"/>
          </a:solidFill>
          <a:ln w="12700">
            <a:solidFill>
              <a:srgbClr val="1E1E1E"/>
            </a:solidFill>
            <a:prstDash val="solid"/>
          </a:ln>
        </p:spPr>
      </p:sp>
      <p:sp>
        <p:nvSpPr>
          <p:cNvPr id="13" name="Text 11"/>
          <p:cNvSpPr/>
          <p:nvPr/>
        </p:nvSpPr>
        <p:spPr>
          <a:xfrm>
            <a:off x="4663440" y="502920"/>
            <a:ext cx="4206240" cy="274320"/>
          </a:xfrm>
          <a:prstGeom prst="rect">
            <a:avLst/>
          </a:prstGeom>
          <a:noFill/>
          <a:ln/>
        </p:spPr>
        <p:txBody>
          <a:bodyPr wrap="square" lIns="0" tIns="0" rIns="0" bIns="0" rtlCol="0" anchor="ctr"/>
          <a:lstStyle/>
          <a:p>
            <a:pPr algn="ctr" indent="0" marL="0">
              <a:buNone/>
            </a:pPr>
            <a:r>
              <a:rPr lang="en-US" sz="800" spc="300" kern="0" dirty="0">
                <a:solidFill>
                  <a:srgbClr val="7A7570"/>
                </a:solidFill>
                <a:latin typeface="Consolas" pitchFamily="34" charset="0"/>
                <a:ea typeface="Consolas" pitchFamily="34" charset="-122"/>
                <a:cs typeface="Consolas" pitchFamily="34" charset="-120"/>
              </a:rPr>
              <a:t>CE QUI EST INCLUS</a:t>
            </a:r>
            <a:endParaRPr lang="en-US" sz="800" dirty="0"/>
          </a:p>
        </p:txBody>
      </p:sp>
      <p:sp>
        <p:nvSpPr>
          <p:cNvPr id="14" name="Text 12"/>
          <p:cNvSpPr/>
          <p:nvPr/>
        </p:nvSpPr>
        <p:spPr>
          <a:xfrm>
            <a:off x="4846320" y="896112"/>
            <a:ext cx="3840480" cy="320040"/>
          </a:xfrm>
          <a:prstGeom prst="rect">
            <a:avLst/>
          </a:prstGeom>
          <a:noFill/>
          <a:ln/>
        </p:spPr>
        <p:txBody>
          <a:bodyPr wrap="square" lIns="0" tIns="0" rIns="0" bIns="0" rtlCol="0" anchor="ctr"/>
          <a:lstStyle/>
          <a:p>
            <a:pPr indent="0" marL="0">
              <a:buNone/>
            </a:pPr>
            <a:r>
              <a:rPr lang="en-US" sz="1150" dirty="0">
                <a:solidFill>
                  <a:srgbClr val="F0ECE3"/>
                </a:solidFill>
                <a:latin typeface="Calibri" pitchFamily="34" charset="0"/>
                <a:ea typeface="Calibri" pitchFamily="34" charset="-122"/>
                <a:cs typeface="Calibri" pitchFamily="34" charset="-120"/>
              </a:rPr>
              <a:t>✓  Site web propre personnalisé</a:t>
            </a:r>
            <a:endParaRPr lang="en-US" sz="1150" dirty="0"/>
          </a:p>
        </p:txBody>
      </p:sp>
      <p:sp>
        <p:nvSpPr>
          <p:cNvPr id="15" name="Text 13"/>
          <p:cNvSpPr/>
          <p:nvPr/>
        </p:nvSpPr>
        <p:spPr>
          <a:xfrm>
            <a:off x="4846320" y="1271016"/>
            <a:ext cx="3840480" cy="320040"/>
          </a:xfrm>
          <a:prstGeom prst="rect">
            <a:avLst/>
          </a:prstGeom>
          <a:noFill/>
          <a:ln/>
        </p:spPr>
        <p:txBody>
          <a:bodyPr wrap="square" lIns="0" tIns="0" rIns="0" bIns="0" rtlCol="0" anchor="ctr"/>
          <a:lstStyle/>
          <a:p>
            <a:pPr indent="0" marL="0">
              <a:buNone/>
            </a:pPr>
            <a:r>
              <a:rPr lang="en-US" sz="1150" dirty="0">
                <a:solidFill>
                  <a:srgbClr val="D4CFC7"/>
                </a:solidFill>
                <a:latin typeface="Calibri" pitchFamily="34" charset="0"/>
                <a:ea typeface="Calibri" pitchFamily="34" charset="-122"/>
                <a:cs typeface="Calibri" pitchFamily="34" charset="-120"/>
              </a:rPr>
              <a:t>✓  Billetterie complète (illimitée)</a:t>
            </a:r>
            <a:endParaRPr lang="en-US" sz="1150" dirty="0"/>
          </a:p>
        </p:txBody>
      </p:sp>
      <p:sp>
        <p:nvSpPr>
          <p:cNvPr id="16" name="Text 14"/>
          <p:cNvSpPr/>
          <p:nvPr/>
        </p:nvSpPr>
        <p:spPr>
          <a:xfrm>
            <a:off x="4846320" y="1645920"/>
            <a:ext cx="3840480" cy="320040"/>
          </a:xfrm>
          <a:prstGeom prst="rect">
            <a:avLst/>
          </a:prstGeom>
          <a:noFill/>
          <a:ln/>
        </p:spPr>
        <p:txBody>
          <a:bodyPr wrap="square" lIns="0" tIns="0" rIns="0" bIns="0" rtlCol="0" anchor="ctr"/>
          <a:lstStyle/>
          <a:p>
            <a:pPr indent="0" marL="0">
              <a:buNone/>
            </a:pPr>
            <a:r>
              <a:rPr lang="en-US" sz="1150" dirty="0">
                <a:solidFill>
                  <a:srgbClr val="F0ECE3"/>
                </a:solidFill>
                <a:latin typeface="Calibri" pitchFamily="34" charset="0"/>
                <a:ea typeface="Calibri" pitchFamily="34" charset="-122"/>
                <a:cs typeface="Calibri" pitchFamily="34" charset="-120"/>
              </a:rPr>
              <a:t>✓  QR Code anti-fraude</a:t>
            </a:r>
            <a:endParaRPr lang="en-US" sz="1150" dirty="0"/>
          </a:p>
        </p:txBody>
      </p:sp>
      <p:sp>
        <p:nvSpPr>
          <p:cNvPr id="17" name="Text 15"/>
          <p:cNvSpPr/>
          <p:nvPr/>
        </p:nvSpPr>
        <p:spPr>
          <a:xfrm>
            <a:off x="4846320" y="2020824"/>
            <a:ext cx="3840480" cy="320040"/>
          </a:xfrm>
          <a:prstGeom prst="rect">
            <a:avLst/>
          </a:prstGeom>
          <a:noFill/>
          <a:ln/>
        </p:spPr>
        <p:txBody>
          <a:bodyPr wrap="square" lIns="0" tIns="0" rIns="0" bIns="0" rtlCol="0" anchor="ctr"/>
          <a:lstStyle/>
          <a:p>
            <a:pPr indent="0" marL="0">
              <a:buNone/>
            </a:pPr>
            <a:r>
              <a:rPr lang="en-US" sz="1150" dirty="0">
                <a:solidFill>
                  <a:srgbClr val="D4CFC7"/>
                </a:solidFill>
                <a:latin typeface="Calibri" pitchFamily="34" charset="0"/>
                <a:ea typeface="Calibri" pitchFamily="34" charset="-122"/>
                <a:cs typeface="Calibri" pitchFamily="34" charset="-120"/>
              </a:rPr>
              <a:t>✓  Tableau de bord admin</a:t>
            </a:r>
            <a:endParaRPr lang="en-US" sz="1150" dirty="0"/>
          </a:p>
        </p:txBody>
      </p:sp>
      <p:sp>
        <p:nvSpPr>
          <p:cNvPr id="18" name="Text 16"/>
          <p:cNvSpPr/>
          <p:nvPr/>
        </p:nvSpPr>
        <p:spPr>
          <a:xfrm>
            <a:off x="4846320" y="2395728"/>
            <a:ext cx="3840480" cy="320040"/>
          </a:xfrm>
          <a:prstGeom prst="rect">
            <a:avLst/>
          </a:prstGeom>
          <a:noFill/>
          <a:ln/>
        </p:spPr>
        <p:txBody>
          <a:bodyPr wrap="square" lIns="0" tIns="0" rIns="0" bIns="0" rtlCol="0" anchor="ctr"/>
          <a:lstStyle/>
          <a:p>
            <a:pPr indent="0" marL="0">
              <a:buNone/>
            </a:pPr>
            <a:r>
              <a:rPr lang="en-US" sz="1150" dirty="0">
                <a:solidFill>
                  <a:srgbClr val="F0ECE3"/>
                </a:solidFill>
                <a:latin typeface="Calibri" pitchFamily="34" charset="0"/>
                <a:ea typeface="Calibri" pitchFamily="34" charset="-122"/>
                <a:cs typeface="Calibri" pitchFamily="34" charset="-120"/>
              </a:rPr>
              <a:t>✓  Scanner QR avec caméra</a:t>
            </a:r>
            <a:endParaRPr lang="en-US" sz="1150" dirty="0"/>
          </a:p>
        </p:txBody>
      </p:sp>
      <p:sp>
        <p:nvSpPr>
          <p:cNvPr id="19" name="Text 17"/>
          <p:cNvSpPr/>
          <p:nvPr/>
        </p:nvSpPr>
        <p:spPr>
          <a:xfrm>
            <a:off x="4846320" y="2770632"/>
            <a:ext cx="3840480" cy="320040"/>
          </a:xfrm>
          <a:prstGeom prst="rect">
            <a:avLst/>
          </a:prstGeom>
          <a:noFill/>
          <a:ln/>
        </p:spPr>
        <p:txBody>
          <a:bodyPr wrap="square" lIns="0" tIns="0" rIns="0" bIns="0" rtlCol="0" anchor="ctr"/>
          <a:lstStyle/>
          <a:p>
            <a:pPr indent="0" marL="0">
              <a:buNone/>
            </a:pPr>
            <a:r>
              <a:rPr lang="en-US" sz="1150" dirty="0">
                <a:solidFill>
                  <a:srgbClr val="D4CFC7"/>
                </a:solidFill>
                <a:latin typeface="Calibri" pitchFamily="34" charset="0"/>
                <a:ea typeface="Calibri" pitchFamily="34" charset="-122"/>
                <a:cs typeface="Calibri" pitchFamily="34" charset="-120"/>
              </a:rPr>
              <a:t>✓  Newsletter illimitée</a:t>
            </a:r>
            <a:endParaRPr lang="en-US" sz="1150" dirty="0"/>
          </a:p>
        </p:txBody>
      </p:sp>
      <p:sp>
        <p:nvSpPr>
          <p:cNvPr id="20" name="Text 18"/>
          <p:cNvSpPr/>
          <p:nvPr/>
        </p:nvSpPr>
        <p:spPr>
          <a:xfrm>
            <a:off x="4846320" y="3145536"/>
            <a:ext cx="3840480" cy="320040"/>
          </a:xfrm>
          <a:prstGeom prst="rect">
            <a:avLst/>
          </a:prstGeom>
          <a:noFill/>
          <a:ln/>
        </p:spPr>
        <p:txBody>
          <a:bodyPr wrap="square" lIns="0" tIns="0" rIns="0" bIns="0" rtlCol="0" anchor="ctr"/>
          <a:lstStyle/>
          <a:p>
            <a:pPr indent="0" marL="0">
              <a:buNone/>
            </a:pPr>
            <a:r>
              <a:rPr lang="en-US" sz="1150" dirty="0">
                <a:solidFill>
                  <a:srgbClr val="F0ECE3"/>
                </a:solidFill>
                <a:latin typeface="Calibri" pitchFamily="34" charset="0"/>
                <a:ea typeface="Calibri" pitchFamily="34" charset="-122"/>
                <a:cs typeface="Calibri" pitchFamily="34" charset="-120"/>
              </a:rPr>
              <a:t>✓  Programme de fidélité VIP</a:t>
            </a:r>
            <a:endParaRPr lang="en-US" sz="1150" dirty="0"/>
          </a:p>
        </p:txBody>
      </p:sp>
      <p:sp>
        <p:nvSpPr>
          <p:cNvPr id="21" name="Text 19"/>
          <p:cNvSpPr/>
          <p:nvPr/>
        </p:nvSpPr>
        <p:spPr>
          <a:xfrm>
            <a:off x="4846320" y="3520440"/>
            <a:ext cx="3840480" cy="320040"/>
          </a:xfrm>
          <a:prstGeom prst="rect">
            <a:avLst/>
          </a:prstGeom>
          <a:noFill/>
          <a:ln/>
        </p:spPr>
        <p:txBody>
          <a:bodyPr wrap="square" lIns="0" tIns="0" rIns="0" bIns="0" rtlCol="0" anchor="ctr"/>
          <a:lstStyle/>
          <a:p>
            <a:pPr indent="0" marL="0">
              <a:buNone/>
            </a:pPr>
            <a:r>
              <a:rPr lang="en-US" sz="1150" dirty="0">
                <a:solidFill>
                  <a:srgbClr val="D4CFC7"/>
                </a:solidFill>
                <a:latin typeface="Calibri" pitchFamily="34" charset="0"/>
                <a:ea typeface="Calibri" pitchFamily="34" charset="-122"/>
                <a:cs typeface="Calibri" pitchFamily="34" charset="-120"/>
              </a:rPr>
              <a:t>✓  Revente de billets sécurisée</a:t>
            </a:r>
            <a:endParaRPr lang="en-US" sz="1150" dirty="0"/>
          </a:p>
        </p:txBody>
      </p:sp>
      <p:sp>
        <p:nvSpPr>
          <p:cNvPr id="22" name="Text 20"/>
          <p:cNvSpPr/>
          <p:nvPr/>
        </p:nvSpPr>
        <p:spPr>
          <a:xfrm>
            <a:off x="4846320" y="3895344"/>
            <a:ext cx="3840480" cy="320040"/>
          </a:xfrm>
          <a:prstGeom prst="rect">
            <a:avLst/>
          </a:prstGeom>
          <a:noFill/>
          <a:ln/>
        </p:spPr>
        <p:txBody>
          <a:bodyPr wrap="square" lIns="0" tIns="0" rIns="0" bIns="0" rtlCol="0" anchor="ctr"/>
          <a:lstStyle/>
          <a:p>
            <a:pPr indent="0" marL="0">
              <a:buNone/>
            </a:pPr>
            <a:r>
              <a:rPr lang="en-US" sz="1150" dirty="0">
                <a:solidFill>
                  <a:srgbClr val="F0ECE3"/>
                </a:solidFill>
                <a:latin typeface="Calibri" pitchFamily="34" charset="0"/>
                <a:ea typeface="Calibri" pitchFamily="34" charset="-122"/>
                <a:cs typeface="Calibri" pitchFamily="34" charset="-120"/>
              </a:rPr>
              <a:t>✓  Prédictions de ventes IA</a:t>
            </a:r>
            <a:endParaRPr lang="en-US" sz="1150" dirty="0"/>
          </a:p>
        </p:txBody>
      </p:sp>
      <p:sp>
        <p:nvSpPr>
          <p:cNvPr id="23" name="Text 21"/>
          <p:cNvSpPr/>
          <p:nvPr/>
        </p:nvSpPr>
        <p:spPr>
          <a:xfrm>
            <a:off x="4846320" y="4270248"/>
            <a:ext cx="3840480" cy="320040"/>
          </a:xfrm>
          <a:prstGeom prst="rect">
            <a:avLst/>
          </a:prstGeom>
          <a:noFill/>
          <a:ln/>
        </p:spPr>
        <p:txBody>
          <a:bodyPr wrap="square" lIns="0" tIns="0" rIns="0" bIns="0" rtlCol="0" anchor="ctr"/>
          <a:lstStyle/>
          <a:p>
            <a:pPr indent="0" marL="0">
              <a:buNone/>
            </a:pPr>
            <a:r>
              <a:rPr lang="en-US" sz="1150" dirty="0">
                <a:solidFill>
                  <a:srgbClr val="D4CFC7"/>
                </a:solidFill>
                <a:latin typeface="Calibri" pitchFamily="34" charset="0"/>
                <a:ea typeface="Calibri" pitchFamily="34" charset="-122"/>
                <a:cs typeface="Calibri" pitchFamily="34" charset="-120"/>
              </a:rPr>
              <a:t>✓  Support dédié en français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900" spc="300" kern="0" dirty="0">
                <a:solidFill>
                  <a:srgbClr val="C9A84C"/>
                </a:solidFill>
                <a:latin typeface="Consolas" pitchFamily="34" charset="0"/>
                <a:ea typeface="Consolas" pitchFamily="34" charset="-122"/>
                <a:cs typeface="Consolas" pitchFamily="34" charset="-120"/>
              </a:rPr>
              <a:t>LE CALCUL</a:t>
            </a:r>
            <a:endParaRPr lang="en-US" sz="900" dirty="0"/>
          </a:p>
        </p:txBody>
      </p:sp>
      <p:sp>
        <p:nvSpPr>
          <p:cNvPr id="4" name="Text 2"/>
          <p:cNvSpPr/>
          <p:nvPr/>
        </p:nvSpPr>
        <p:spPr>
          <a:xfrm>
            <a:off x="548640" y="457200"/>
            <a:ext cx="7315200" cy="914400"/>
          </a:xfrm>
          <a:prstGeom prst="rect">
            <a:avLst/>
          </a:prstGeom>
          <a:noFill/>
          <a:ln/>
        </p:spPr>
        <p:txBody>
          <a:bodyPr wrap="square" lIns="0" tIns="0" rIns="0" bIns="0" rtlCol="0" anchor="ctr"/>
          <a:lstStyle/>
          <a:p>
            <a:pPr algn="l" indent="0" marL="0">
              <a:buNone/>
            </a:pPr>
            <a:r>
              <a:rPr lang="en-US" sz="3600" b="1" spc="300" kern="0" dirty="0">
                <a:solidFill>
                  <a:srgbClr val="F0ECE3"/>
                </a:solidFill>
                <a:latin typeface="Arial Black" pitchFamily="34" charset="0"/>
                <a:ea typeface="Arial Black" pitchFamily="34" charset="-122"/>
                <a:cs typeface="Arial Black" pitchFamily="34" charset="-120"/>
              </a:rPr>
              <a:t>Ce que vous économisez</a:t>
            </a:r>
            <a:endParaRPr lang="en-US" sz="3600" dirty="0"/>
          </a:p>
          <a:p>
            <a:pPr algn="l" indent="0" marL="0">
              <a:buNone/>
            </a:pPr>
            <a:r>
              <a:rPr lang="en-US" sz="3600" b="1" spc="300" kern="0" dirty="0">
                <a:solidFill>
                  <a:srgbClr val="F0ECE3"/>
                </a:solidFill>
                <a:latin typeface="Arial Black" pitchFamily="34" charset="0"/>
                <a:ea typeface="Arial Black" pitchFamily="34" charset="-122"/>
                <a:cs typeface="Arial Black" pitchFamily="34" charset="-120"/>
              </a:rPr>
              <a:t>chaque mois.</a:t>
            </a:r>
            <a:endParaRPr lang="en-US" sz="3600" dirty="0"/>
          </a:p>
        </p:txBody>
      </p:sp>
      <p:sp>
        <p:nvSpPr>
          <p:cNvPr id="5" name="Shape 3"/>
          <p:cNvSpPr/>
          <p:nvPr/>
        </p:nvSpPr>
        <p:spPr>
          <a:xfrm>
            <a:off x="548640" y="1554480"/>
            <a:ext cx="2926080" cy="658368"/>
          </a:xfrm>
          <a:prstGeom prst="rect">
            <a:avLst/>
          </a:prstGeom>
          <a:solidFill>
            <a:srgbClr val="0A0A0A"/>
          </a:solidFill>
          <a:ln w="12700">
            <a:solidFill>
              <a:srgbClr val="1E1E1E"/>
            </a:solidFill>
            <a:prstDash val="solid"/>
          </a:ln>
        </p:spPr>
      </p:sp>
      <p:sp>
        <p:nvSpPr>
          <p:cNvPr id="6" name="Text 4"/>
          <p:cNvSpPr/>
          <p:nvPr/>
        </p:nvSpPr>
        <p:spPr>
          <a:xfrm>
            <a:off x="658368" y="1572768"/>
            <a:ext cx="2706624" cy="621792"/>
          </a:xfrm>
          <a:prstGeom prst="rect">
            <a:avLst/>
          </a:prstGeom>
          <a:noFill/>
          <a:ln/>
        </p:spPr>
        <p:txBody>
          <a:bodyPr wrap="square" lIns="0" tIns="0" rIns="0" bIns="0" rtlCol="0" anchor="ctr"/>
          <a:lstStyle/>
          <a:p>
            <a:pPr algn="l" indent="0" marL="0">
              <a:buNone/>
            </a:pPr>
            <a:endParaRPr lang="en-US" sz="800" dirty="0"/>
          </a:p>
        </p:txBody>
      </p:sp>
      <p:sp>
        <p:nvSpPr>
          <p:cNvPr id="7" name="Shape 5"/>
          <p:cNvSpPr/>
          <p:nvPr/>
        </p:nvSpPr>
        <p:spPr>
          <a:xfrm>
            <a:off x="3493008" y="1554480"/>
            <a:ext cx="1645920" cy="658368"/>
          </a:xfrm>
          <a:prstGeom prst="rect">
            <a:avLst/>
          </a:prstGeom>
          <a:solidFill>
            <a:srgbClr val="0A0A0A"/>
          </a:solidFill>
          <a:ln w="12700">
            <a:solidFill>
              <a:srgbClr val="1E1E1E"/>
            </a:solidFill>
            <a:prstDash val="solid"/>
          </a:ln>
        </p:spPr>
      </p:sp>
      <p:sp>
        <p:nvSpPr>
          <p:cNvPr id="8" name="Text 6"/>
          <p:cNvSpPr/>
          <p:nvPr/>
        </p:nvSpPr>
        <p:spPr>
          <a:xfrm>
            <a:off x="3602736" y="1572768"/>
            <a:ext cx="1426464" cy="621792"/>
          </a:xfrm>
          <a:prstGeom prst="rect">
            <a:avLst/>
          </a:prstGeom>
          <a:noFill/>
          <a:ln/>
        </p:spPr>
        <p:txBody>
          <a:bodyPr wrap="square" lIns="0" tIns="0" rIns="0" bIns="0" rtlCol="0" anchor="ctr"/>
          <a:lstStyle/>
          <a:p>
            <a:pPr algn="ctr" indent="0" marL="0">
              <a:buNone/>
            </a:pPr>
            <a:r>
              <a:rPr lang="en-US" sz="800" b="1" spc="200" kern="0" dirty="0">
                <a:solidFill>
                  <a:srgbClr val="7A7570"/>
                </a:solidFill>
                <a:latin typeface="Consolas" pitchFamily="34" charset="0"/>
                <a:ea typeface="Consolas" pitchFamily="34" charset="-122"/>
                <a:cs typeface="Consolas" pitchFamily="34" charset="-120"/>
              </a:rPr>
              <a:t>Avec RA (12%)</a:t>
            </a:r>
            <a:endParaRPr lang="en-US" sz="800" dirty="0"/>
          </a:p>
        </p:txBody>
      </p:sp>
      <p:sp>
        <p:nvSpPr>
          <p:cNvPr id="9" name="Shape 7"/>
          <p:cNvSpPr/>
          <p:nvPr/>
        </p:nvSpPr>
        <p:spPr>
          <a:xfrm>
            <a:off x="5230368" y="1554480"/>
            <a:ext cx="1645920" cy="658368"/>
          </a:xfrm>
          <a:prstGeom prst="rect">
            <a:avLst/>
          </a:prstGeom>
          <a:solidFill>
            <a:srgbClr val="0A0A0A"/>
          </a:solidFill>
          <a:ln w="12700">
            <a:solidFill>
              <a:srgbClr val="1E1E1E"/>
            </a:solidFill>
            <a:prstDash val="solid"/>
          </a:ln>
        </p:spPr>
      </p:sp>
      <p:sp>
        <p:nvSpPr>
          <p:cNvPr id="10" name="Text 8"/>
          <p:cNvSpPr/>
          <p:nvPr/>
        </p:nvSpPr>
        <p:spPr>
          <a:xfrm>
            <a:off x="5340096" y="1572768"/>
            <a:ext cx="1426464" cy="621792"/>
          </a:xfrm>
          <a:prstGeom prst="rect">
            <a:avLst/>
          </a:prstGeom>
          <a:noFill/>
          <a:ln/>
        </p:spPr>
        <p:txBody>
          <a:bodyPr wrap="square" lIns="0" tIns="0" rIns="0" bIns="0" rtlCol="0" anchor="ctr"/>
          <a:lstStyle/>
          <a:p>
            <a:pPr algn="ctr" indent="0" marL="0">
              <a:buNone/>
            </a:pPr>
            <a:r>
              <a:rPr lang="en-US" sz="800" b="1" spc="200" kern="0" dirty="0">
                <a:solidFill>
                  <a:srgbClr val="7A7570"/>
                </a:solidFill>
                <a:latin typeface="Consolas" pitchFamily="34" charset="0"/>
                <a:ea typeface="Consolas" pitchFamily="34" charset="-122"/>
                <a:cs typeface="Consolas" pitchFamily="34" charset="-120"/>
              </a:rPr>
              <a:t>Avec HonoPs</a:t>
            </a:r>
            <a:endParaRPr lang="en-US" sz="800" dirty="0"/>
          </a:p>
        </p:txBody>
      </p:sp>
      <p:sp>
        <p:nvSpPr>
          <p:cNvPr id="11" name="Shape 9"/>
          <p:cNvSpPr/>
          <p:nvPr/>
        </p:nvSpPr>
        <p:spPr>
          <a:xfrm>
            <a:off x="6967728" y="1554480"/>
            <a:ext cx="1645920" cy="658368"/>
          </a:xfrm>
          <a:prstGeom prst="rect">
            <a:avLst/>
          </a:prstGeom>
          <a:solidFill>
            <a:srgbClr val="0A0A0A"/>
          </a:solidFill>
          <a:ln w="12700">
            <a:solidFill>
              <a:srgbClr val="1E1E1E"/>
            </a:solidFill>
            <a:prstDash val="solid"/>
          </a:ln>
        </p:spPr>
      </p:sp>
      <p:sp>
        <p:nvSpPr>
          <p:cNvPr id="12" name="Text 10"/>
          <p:cNvSpPr/>
          <p:nvPr/>
        </p:nvSpPr>
        <p:spPr>
          <a:xfrm>
            <a:off x="7077456" y="1572768"/>
            <a:ext cx="1426464" cy="621792"/>
          </a:xfrm>
          <a:prstGeom prst="rect">
            <a:avLst/>
          </a:prstGeom>
          <a:noFill/>
          <a:ln/>
        </p:spPr>
        <p:txBody>
          <a:bodyPr wrap="square" lIns="0" tIns="0" rIns="0" bIns="0" rtlCol="0" anchor="ctr"/>
          <a:lstStyle/>
          <a:p>
            <a:pPr algn="ctr" indent="0" marL="0">
              <a:buNone/>
            </a:pPr>
            <a:r>
              <a:rPr lang="en-US" sz="800" b="1" spc="200" kern="0" dirty="0">
                <a:solidFill>
                  <a:srgbClr val="7A7570"/>
                </a:solidFill>
                <a:latin typeface="Consolas" pitchFamily="34" charset="0"/>
                <a:ea typeface="Consolas" pitchFamily="34" charset="-122"/>
                <a:cs typeface="Consolas" pitchFamily="34" charset="-120"/>
              </a:rPr>
              <a:t>Économie</a:t>
            </a:r>
            <a:endParaRPr lang="en-US" sz="800" dirty="0"/>
          </a:p>
        </p:txBody>
      </p:sp>
      <p:sp>
        <p:nvSpPr>
          <p:cNvPr id="13" name="Shape 11"/>
          <p:cNvSpPr/>
          <p:nvPr/>
        </p:nvSpPr>
        <p:spPr>
          <a:xfrm>
            <a:off x="548640" y="2212848"/>
            <a:ext cx="2926080" cy="658368"/>
          </a:xfrm>
          <a:prstGeom prst="rect">
            <a:avLst/>
          </a:prstGeom>
          <a:solidFill>
            <a:srgbClr val="080808"/>
          </a:solidFill>
          <a:ln w="12700">
            <a:solidFill>
              <a:srgbClr val="1E1E1E"/>
            </a:solidFill>
            <a:prstDash val="solid"/>
          </a:ln>
        </p:spPr>
      </p:sp>
      <p:sp>
        <p:nvSpPr>
          <p:cNvPr id="14" name="Text 12"/>
          <p:cNvSpPr/>
          <p:nvPr/>
        </p:nvSpPr>
        <p:spPr>
          <a:xfrm>
            <a:off x="658368" y="2231136"/>
            <a:ext cx="2706624" cy="621792"/>
          </a:xfrm>
          <a:prstGeom prst="rect">
            <a:avLst/>
          </a:prstGeom>
          <a:noFill/>
          <a:ln/>
        </p:spPr>
        <p:txBody>
          <a:bodyPr wrap="square" lIns="0" tIns="0" rIns="0" bIns="0" rtlCol="0" anchor="ctr"/>
          <a:lstStyle/>
          <a:p>
            <a:pPr algn="l" indent="0" marL="0">
              <a:buNone/>
            </a:pPr>
            <a:r>
              <a:rPr lang="en-US" sz="1200" dirty="0">
                <a:solidFill>
                  <a:srgbClr val="F0ECE3"/>
                </a:solidFill>
                <a:latin typeface="Calibri" pitchFamily="34" charset="0"/>
                <a:ea typeface="Calibri" pitchFamily="34" charset="-122"/>
                <a:cs typeface="Calibri" pitchFamily="34" charset="-120"/>
              </a:rPr>
              <a:t>200 billets × 15€/soir</a:t>
            </a:r>
            <a:endParaRPr lang="en-US" sz="1200" dirty="0"/>
          </a:p>
        </p:txBody>
      </p:sp>
      <p:sp>
        <p:nvSpPr>
          <p:cNvPr id="15" name="Shape 13"/>
          <p:cNvSpPr/>
          <p:nvPr/>
        </p:nvSpPr>
        <p:spPr>
          <a:xfrm>
            <a:off x="3493008" y="2212848"/>
            <a:ext cx="1645920" cy="658368"/>
          </a:xfrm>
          <a:prstGeom prst="rect">
            <a:avLst/>
          </a:prstGeom>
          <a:solidFill>
            <a:srgbClr val="080808"/>
          </a:solidFill>
          <a:ln w="12700">
            <a:solidFill>
              <a:srgbClr val="1E1E1E"/>
            </a:solidFill>
            <a:prstDash val="solid"/>
          </a:ln>
        </p:spPr>
      </p:sp>
      <p:sp>
        <p:nvSpPr>
          <p:cNvPr id="16" name="Text 14"/>
          <p:cNvSpPr/>
          <p:nvPr/>
        </p:nvSpPr>
        <p:spPr>
          <a:xfrm>
            <a:off x="3602736" y="2231136"/>
            <a:ext cx="1426464" cy="621792"/>
          </a:xfrm>
          <a:prstGeom prst="rect">
            <a:avLst/>
          </a:prstGeom>
          <a:noFill/>
          <a:ln/>
        </p:spPr>
        <p:txBody>
          <a:bodyPr wrap="square" lIns="0" tIns="0" rIns="0" bIns="0" rtlCol="0" anchor="ctr"/>
          <a:lstStyle/>
          <a:p>
            <a:pPr algn="ctr" indent="0" marL="0">
              <a:buNone/>
            </a:pPr>
            <a:r>
              <a:rPr lang="en-US" sz="1200" dirty="0">
                <a:solidFill>
                  <a:srgbClr val="E05252"/>
                </a:solidFill>
                <a:latin typeface="Calibri" pitchFamily="34" charset="0"/>
                <a:ea typeface="Calibri" pitchFamily="34" charset="-122"/>
                <a:cs typeface="Calibri" pitchFamily="34" charset="-120"/>
              </a:rPr>
              <a:t>360€/soir</a:t>
            </a:r>
            <a:endParaRPr lang="en-US" sz="1200" dirty="0"/>
          </a:p>
        </p:txBody>
      </p:sp>
      <p:sp>
        <p:nvSpPr>
          <p:cNvPr id="17" name="Shape 15"/>
          <p:cNvSpPr/>
          <p:nvPr/>
        </p:nvSpPr>
        <p:spPr>
          <a:xfrm>
            <a:off x="5230368" y="2212848"/>
            <a:ext cx="1645920" cy="658368"/>
          </a:xfrm>
          <a:prstGeom prst="rect">
            <a:avLst/>
          </a:prstGeom>
          <a:solidFill>
            <a:srgbClr val="080808"/>
          </a:solidFill>
          <a:ln w="12700">
            <a:solidFill>
              <a:srgbClr val="1E1E1E"/>
            </a:solidFill>
            <a:prstDash val="solid"/>
          </a:ln>
        </p:spPr>
      </p:sp>
      <p:sp>
        <p:nvSpPr>
          <p:cNvPr id="18" name="Text 16"/>
          <p:cNvSpPr/>
          <p:nvPr/>
        </p:nvSpPr>
        <p:spPr>
          <a:xfrm>
            <a:off x="5340096" y="2231136"/>
            <a:ext cx="1426464" cy="621792"/>
          </a:xfrm>
          <a:prstGeom prst="rect">
            <a:avLst/>
          </a:prstGeom>
          <a:noFill/>
          <a:ln/>
        </p:spPr>
        <p:txBody>
          <a:bodyPr wrap="square" lIns="0" tIns="0" rIns="0" bIns="0" rtlCol="0" anchor="ctr"/>
          <a:lstStyle/>
          <a:p>
            <a:pPr algn="ctr" indent="0" marL="0">
              <a:buNone/>
            </a:pPr>
            <a:r>
              <a:rPr lang="en-US" sz="1200" dirty="0">
                <a:solidFill>
                  <a:srgbClr val="F0ECE3"/>
                </a:solidFill>
                <a:latin typeface="Calibri" pitchFamily="34" charset="0"/>
                <a:ea typeface="Calibri" pitchFamily="34" charset="-122"/>
                <a:cs typeface="Calibri" pitchFamily="34" charset="-120"/>
              </a:rPr>
              <a:t>0€/soir</a:t>
            </a:r>
            <a:endParaRPr lang="en-US" sz="1200" dirty="0"/>
          </a:p>
        </p:txBody>
      </p:sp>
      <p:sp>
        <p:nvSpPr>
          <p:cNvPr id="19" name="Shape 17"/>
          <p:cNvSpPr/>
          <p:nvPr/>
        </p:nvSpPr>
        <p:spPr>
          <a:xfrm>
            <a:off x="6967728" y="2212848"/>
            <a:ext cx="1645920" cy="658368"/>
          </a:xfrm>
          <a:prstGeom prst="rect">
            <a:avLst/>
          </a:prstGeom>
          <a:solidFill>
            <a:srgbClr val="080808"/>
          </a:solidFill>
          <a:ln w="12700">
            <a:solidFill>
              <a:srgbClr val="1E1E1E"/>
            </a:solidFill>
            <a:prstDash val="solid"/>
          </a:ln>
        </p:spPr>
      </p:sp>
      <p:sp>
        <p:nvSpPr>
          <p:cNvPr id="20" name="Text 18"/>
          <p:cNvSpPr/>
          <p:nvPr/>
        </p:nvSpPr>
        <p:spPr>
          <a:xfrm>
            <a:off x="7077456" y="2231136"/>
            <a:ext cx="1426464" cy="621792"/>
          </a:xfrm>
          <a:prstGeom prst="rect">
            <a:avLst/>
          </a:prstGeom>
          <a:noFill/>
          <a:ln/>
        </p:spPr>
        <p:txBody>
          <a:bodyPr wrap="square" lIns="0" tIns="0" rIns="0" bIns="0" rtlCol="0" anchor="ctr"/>
          <a:lstStyle/>
          <a:p>
            <a:pPr algn="ctr" indent="0" marL="0">
              <a:buNone/>
            </a:pPr>
            <a:r>
              <a:rPr lang="en-US" sz="1200" dirty="0">
                <a:solidFill>
                  <a:srgbClr val="3ECF8E"/>
                </a:solidFill>
                <a:latin typeface="Calibri" pitchFamily="34" charset="0"/>
                <a:ea typeface="Calibri" pitchFamily="34" charset="-122"/>
                <a:cs typeface="Calibri" pitchFamily="34" charset="-120"/>
              </a:rPr>
              <a:t>360€</a:t>
            </a:r>
            <a:endParaRPr lang="en-US" sz="1200" dirty="0"/>
          </a:p>
        </p:txBody>
      </p:sp>
      <p:sp>
        <p:nvSpPr>
          <p:cNvPr id="21" name="Shape 19"/>
          <p:cNvSpPr/>
          <p:nvPr/>
        </p:nvSpPr>
        <p:spPr>
          <a:xfrm>
            <a:off x="548640" y="2871216"/>
            <a:ext cx="2926080" cy="658368"/>
          </a:xfrm>
          <a:prstGeom prst="rect">
            <a:avLst/>
          </a:prstGeom>
          <a:solidFill>
            <a:srgbClr val="080808"/>
          </a:solidFill>
          <a:ln w="12700">
            <a:solidFill>
              <a:srgbClr val="1E1E1E"/>
            </a:solidFill>
            <a:prstDash val="solid"/>
          </a:ln>
        </p:spPr>
      </p:sp>
      <p:sp>
        <p:nvSpPr>
          <p:cNvPr id="22" name="Text 20"/>
          <p:cNvSpPr/>
          <p:nvPr/>
        </p:nvSpPr>
        <p:spPr>
          <a:xfrm>
            <a:off x="658368" y="2889504"/>
            <a:ext cx="2706624" cy="621792"/>
          </a:xfrm>
          <a:prstGeom prst="rect">
            <a:avLst/>
          </a:prstGeom>
          <a:noFill/>
          <a:ln/>
        </p:spPr>
        <p:txBody>
          <a:bodyPr wrap="square" lIns="0" tIns="0" rIns="0" bIns="0" rtlCol="0" anchor="ctr"/>
          <a:lstStyle/>
          <a:p>
            <a:pPr algn="l" indent="0" marL="0">
              <a:buNone/>
            </a:pPr>
            <a:r>
              <a:rPr lang="en-US" sz="1200" dirty="0">
                <a:solidFill>
                  <a:srgbClr val="F0ECE3"/>
                </a:solidFill>
                <a:latin typeface="Calibri" pitchFamily="34" charset="0"/>
                <a:ea typeface="Calibri" pitchFamily="34" charset="-122"/>
                <a:cs typeface="Calibri" pitchFamily="34" charset="-120"/>
              </a:rPr>
              <a:t>3 soirées / semaine</a:t>
            </a:r>
            <a:endParaRPr lang="en-US" sz="1200" dirty="0"/>
          </a:p>
        </p:txBody>
      </p:sp>
      <p:sp>
        <p:nvSpPr>
          <p:cNvPr id="23" name="Shape 21"/>
          <p:cNvSpPr/>
          <p:nvPr/>
        </p:nvSpPr>
        <p:spPr>
          <a:xfrm>
            <a:off x="3493008" y="2871216"/>
            <a:ext cx="1645920" cy="658368"/>
          </a:xfrm>
          <a:prstGeom prst="rect">
            <a:avLst/>
          </a:prstGeom>
          <a:solidFill>
            <a:srgbClr val="080808"/>
          </a:solidFill>
          <a:ln w="12700">
            <a:solidFill>
              <a:srgbClr val="1E1E1E"/>
            </a:solidFill>
            <a:prstDash val="solid"/>
          </a:ln>
        </p:spPr>
      </p:sp>
      <p:sp>
        <p:nvSpPr>
          <p:cNvPr id="24" name="Text 22"/>
          <p:cNvSpPr/>
          <p:nvPr/>
        </p:nvSpPr>
        <p:spPr>
          <a:xfrm>
            <a:off x="3602736" y="2889504"/>
            <a:ext cx="1426464" cy="621792"/>
          </a:xfrm>
          <a:prstGeom prst="rect">
            <a:avLst/>
          </a:prstGeom>
          <a:noFill/>
          <a:ln/>
        </p:spPr>
        <p:txBody>
          <a:bodyPr wrap="square" lIns="0" tIns="0" rIns="0" bIns="0" rtlCol="0" anchor="ctr"/>
          <a:lstStyle/>
          <a:p>
            <a:pPr algn="ctr" indent="0" marL="0">
              <a:buNone/>
            </a:pPr>
            <a:r>
              <a:rPr lang="en-US" sz="1200" dirty="0">
                <a:solidFill>
                  <a:srgbClr val="E05252"/>
                </a:solidFill>
                <a:latin typeface="Calibri" pitchFamily="34" charset="0"/>
                <a:ea typeface="Calibri" pitchFamily="34" charset="-122"/>
                <a:cs typeface="Calibri" pitchFamily="34" charset="-120"/>
              </a:rPr>
              <a:t>4.320€/mois</a:t>
            </a:r>
            <a:endParaRPr lang="en-US" sz="1200" dirty="0"/>
          </a:p>
        </p:txBody>
      </p:sp>
      <p:sp>
        <p:nvSpPr>
          <p:cNvPr id="25" name="Shape 23"/>
          <p:cNvSpPr/>
          <p:nvPr/>
        </p:nvSpPr>
        <p:spPr>
          <a:xfrm>
            <a:off x="5230368" y="2871216"/>
            <a:ext cx="1645920" cy="658368"/>
          </a:xfrm>
          <a:prstGeom prst="rect">
            <a:avLst/>
          </a:prstGeom>
          <a:solidFill>
            <a:srgbClr val="080808"/>
          </a:solidFill>
          <a:ln w="12700">
            <a:solidFill>
              <a:srgbClr val="1E1E1E"/>
            </a:solidFill>
            <a:prstDash val="solid"/>
          </a:ln>
        </p:spPr>
      </p:sp>
      <p:sp>
        <p:nvSpPr>
          <p:cNvPr id="26" name="Text 24"/>
          <p:cNvSpPr/>
          <p:nvPr/>
        </p:nvSpPr>
        <p:spPr>
          <a:xfrm>
            <a:off x="5340096" y="2889504"/>
            <a:ext cx="1426464" cy="621792"/>
          </a:xfrm>
          <a:prstGeom prst="rect">
            <a:avLst/>
          </a:prstGeom>
          <a:noFill/>
          <a:ln/>
        </p:spPr>
        <p:txBody>
          <a:bodyPr wrap="square" lIns="0" tIns="0" rIns="0" bIns="0" rtlCol="0" anchor="ctr"/>
          <a:lstStyle/>
          <a:p>
            <a:pPr algn="ctr" indent="0" marL="0">
              <a:buNone/>
            </a:pPr>
            <a:r>
              <a:rPr lang="en-US" sz="1200" dirty="0">
                <a:solidFill>
                  <a:srgbClr val="F0ECE3"/>
                </a:solidFill>
                <a:latin typeface="Calibri" pitchFamily="34" charset="0"/>
                <a:ea typeface="Calibri" pitchFamily="34" charset="-122"/>
                <a:cs typeface="Calibri" pitchFamily="34" charset="-120"/>
              </a:rPr>
              <a:t>200€/mois</a:t>
            </a:r>
            <a:endParaRPr lang="en-US" sz="1200" dirty="0"/>
          </a:p>
        </p:txBody>
      </p:sp>
      <p:sp>
        <p:nvSpPr>
          <p:cNvPr id="27" name="Shape 25"/>
          <p:cNvSpPr/>
          <p:nvPr/>
        </p:nvSpPr>
        <p:spPr>
          <a:xfrm>
            <a:off x="6967728" y="2871216"/>
            <a:ext cx="1645920" cy="658368"/>
          </a:xfrm>
          <a:prstGeom prst="rect">
            <a:avLst/>
          </a:prstGeom>
          <a:solidFill>
            <a:srgbClr val="080808"/>
          </a:solidFill>
          <a:ln w="12700">
            <a:solidFill>
              <a:srgbClr val="1E1E1E"/>
            </a:solidFill>
            <a:prstDash val="solid"/>
          </a:ln>
        </p:spPr>
      </p:sp>
      <p:sp>
        <p:nvSpPr>
          <p:cNvPr id="28" name="Text 26"/>
          <p:cNvSpPr/>
          <p:nvPr/>
        </p:nvSpPr>
        <p:spPr>
          <a:xfrm>
            <a:off x="7077456" y="2889504"/>
            <a:ext cx="1426464" cy="621792"/>
          </a:xfrm>
          <a:prstGeom prst="rect">
            <a:avLst/>
          </a:prstGeom>
          <a:noFill/>
          <a:ln/>
        </p:spPr>
        <p:txBody>
          <a:bodyPr wrap="square" lIns="0" tIns="0" rIns="0" bIns="0" rtlCol="0" anchor="ctr"/>
          <a:lstStyle/>
          <a:p>
            <a:pPr algn="ctr" indent="0" marL="0">
              <a:buNone/>
            </a:pPr>
            <a:r>
              <a:rPr lang="en-US" sz="1200" dirty="0">
                <a:solidFill>
                  <a:srgbClr val="3ECF8E"/>
                </a:solidFill>
                <a:latin typeface="Calibri" pitchFamily="34" charset="0"/>
                <a:ea typeface="Calibri" pitchFamily="34" charset="-122"/>
                <a:cs typeface="Calibri" pitchFamily="34" charset="-120"/>
              </a:rPr>
              <a:t>4.120€</a:t>
            </a:r>
            <a:endParaRPr lang="en-US" sz="1200" dirty="0"/>
          </a:p>
        </p:txBody>
      </p:sp>
      <p:sp>
        <p:nvSpPr>
          <p:cNvPr id="29" name="Shape 27"/>
          <p:cNvSpPr/>
          <p:nvPr/>
        </p:nvSpPr>
        <p:spPr>
          <a:xfrm>
            <a:off x="548640" y="3529584"/>
            <a:ext cx="2926080" cy="658368"/>
          </a:xfrm>
          <a:prstGeom prst="rect">
            <a:avLst/>
          </a:prstGeom>
          <a:solidFill>
            <a:srgbClr val="0A0A0A"/>
          </a:solidFill>
          <a:ln w="12700">
            <a:solidFill>
              <a:srgbClr val="1E1E1E"/>
            </a:solidFill>
            <a:prstDash val="solid"/>
          </a:ln>
        </p:spPr>
      </p:sp>
      <p:sp>
        <p:nvSpPr>
          <p:cNvPr id="30" name="Text 28"/>
          <p:cNvSpPr/>
          <p:nvPr/>
        </p:nvSpPr>
        <p:spPr>
          <a:xfrm>
            <a:off x="658368" y="3547872"/>
            <a:ext cx="2706624" cy="621792"/>
          </a:xfrm>
          <a:prstGeom prst="rect">
            <a:avLst/>
          </a:prstGeom>
          <a:noFill/>
          <a:ln/>
        </p:spPr>
        <p:txBody>
          <a:bodyPr wrap="square" lIns="0" tIns="0" rIns="0" bIns="0" rtlCol="0" anchor="ctr"/>
          <a:lstStyle/>
          <a:p>
            <a:pPr algn="l" indent="0" marL="0">
              <a:buNone/>
            </a:pPr>
            <a:r>
              <a:rPr lang="en-US" sz="1400" b="1" dirty="0">
                <a:solidFill>
                  <a:srgbClr val="F0ECE3"/>
                </a:solidFill>
                <a:latin typeface="Calibri" pitchFamily="34" charset="0"/>
                <a:ea typeface="Calibri" pitchFamily="34" charset="-122"/>
                <a:cs typeface="Calibri" pitchFamily="34" charset="-120"/>
              </a:rPr>
              <a:t>12 mois</a:t>
            </a:r>
            <a:endParaRPr lang="en-US" sz="1400" dirty="0"/>
          </a:p>
        </p:txBody>
      </p:sp>
      <p:sp>
        <p:nvSpPr>
          <p:cNvPr id="31" name="Shape 29"/>
          <p:cNvSpPr/>
          <p:nvPr/>
        </p:nvSpPr>
        <p:spPr>
          <a:xfrm>
            <a:off x="3493008" y="3529584"/>
            <a:ext cx="1645920" cy="658368"/>
          </a:xfrm>
          <a:prstGeom prst="rect">
            <a:avLst/>
          </a:prstGeom>
          <a:solidFill>
            <a:srgbClr val="200808"/>
          </a:solidFill>
          <a:ln w="12700">
            <a:solidFill>
              <a:srgbClr val="1E1E1E"/>
            </a:solidFill>
            <a:prstDash val="solid"/>
          </a:ln>
        </p:spPr>
      </p:sp>
      <p:sp>
        <p:nvSpPr>
          <p:cNvPr id="32" name="Text 30"/>
          <p:cNvSpPr/>
          <p:nvPr/>
        </p:nvSpPr>
        <p:spPr>
          <a:xfrm>
            <a:off x="3602736" y="3547872"/>
            <a:ext cx="1426464" cy="621792"/>
          </a:xfrm>
          <a:prstGeom prst="rect">
            <a:avLst/>
          </a:prstGeom>
          <a:noFill/>
          <a:ln/>
        </p:spPr>
        <p:txBody>
          <a:bodyPr wrap="square" lIns="0" tIns="0" rIns="0" bIns="0" rtlCol="0" anchor="ctr"/>
          <a:lstStyle/>
          <a:p>
            <a:pPr algn="ctr" indent="0" marL="0">
              <a:buNone/>
            </a:pPr>
            <a:r>
              <a:rPr lang="en-US" sz="1400" b="1" dirty="0">
                <a:solidFill>
                  <a:srgbClr val="E05252"/>
                </a:solidFill>
                <a:latin typeface="Calibri" pitchFamily="34" charset="0"/>
                <a:ea typeface="Calibri" pitchFamily="34" charset="-122"/>
                <a:cs typeface="Calibri" pitchFamily="34" charset="-120"/>
              </a:rPr>
              <a:t>51.840€/an</a:t>
            </a:r>
            <a:endParaRPr lang="en-US" sz="1400" dirty="0"/>
          </a:p>
        </p:txBody>
      </p:sp>
      <p:sp>
        <p:nvSpPr>
          <p:cNvPr id="33" name="Shape 31"/>
          <p:cNvSpPr/>
          <p:nvPr/>
        </p:nvSpPr>
        <p:spPr>
          <a:xfrm>
            <a:off x="5230368" y="3529584"/>
            <a:ext cx="1645920" cy="658368"/>
          </a:xfrm>
          <a:prstGeom prst="rect">
            <a:avLst/>
          </a:prstGeom>
          <a:solidFill>
            <a:srgbClr val="0A0A0A"/>
          </a:solidFill>
          <a:ln w="12700">
            <a:solidFill>
              <a:srgbClr val="1E1E1E"/>
            </a:solidFill>
            <a:prstDash val="solid"/>
          </a:ln>
        </p:spPr>
      </p:sp>
      <p:sp>
        <p:nvSpPr>
          <p:cNvPr id="34" name="Text 32"/>
          <p:cNvSpPr/>
          <p:nvPr/>
        </p:nvSpPr>
        <p:spPr>
          <a:xfrm>
            <a:off x="5340096" y="3547872"/>
            <a:ext cx="1426464" cy="621792"/>
          </a:xfrm>
          <a:prstGeom prst="rect">
            <a:avLst/>
          </a:prstGeom>
          <a:noFill/>
          <a:ln/>
        </p:spPr>
        <p:txBody>
          <a:bodyPr wrap="square" lIns="0" tIns="0" rIns="0" bIns="0" rtlCol="0" anchor="ctr"/>
          <a:lstStyle/>
          <a:p>
            <a:pPr algn="ctr" indent="0" marL="0">
              <a:buNone/>
            </a:pPr>
            <a:r>
              <a:rPr lang="en-US" sz="1400" b="1" dirty="0">
                <a:solidFill>
                  <a:srgbClr val="F0ECE3"/>
                </a:solidFill>
                <a:latin typeface="Calibri" pitchFamily="34" charset="0"/>
                <a:ea typeface="Calibri" pitchFamily="34" charset="-122"/>
                <a:cs typeface="Calibri" pitchFamily="34" charset="-120"/>
              </a:rPr>
              <a:t>2.400€/an</a:t>
            </a:r>
            <a:endParaRPr lang="en-US" sz="1400" dirty="0"/>
          </a:p>
        </p:txBody>
      </p:sp>
      <p:sp>
        <p:nvSpPr>
          <p:cNvPr id="35" name="Shape 33"/>
          <p:cNvSpPr/>
          <p:nvPr/>
        </p:nvSpPr>
        <p:spPr>
          <a:xfrm>
            <a:off x="6967728" y="3529584"/>
            <a:ext cx="1645920" cy="658368"/>
          </a:xfrm>
          <a:prstGeom prst="rect">
            <a:avLst/>
          </a:prstGeom>
          <a:solidFill>
            <a:srgbClr val="0A2000"/>
          </a:solidFill>
          <a:ln w="12700">
            <a:solidFill>
              <a:srgbClr val="1E1E1E"/>
            </a:solidFill>
            <a:prstDash val="solid"/>
          </a:ln>
        </p:spPr>
      </p:sp>
      <p:sp>
        <p:nvSpPr>
          <p:cNvPr id="36" name="Text 34"/>
          <p:cNvSpPr/>
          <p:nvPr/>
        </p:nvSpPr>
        <p:spPr>
          <a:xfrm>
            <a:off x="7077456" y="3547872"/>
            <a:ext cx="1426464" cy="621792"/>
          </a:xfrm>
          <a:prstGeom prst="rect">
            <a:avLst/>
          </a:prstGeom>
          <a:noFill/>
          <a:ln/>
        </p:spPr>
        <p:txBody>
          <a:bodyPr wrap="square" lIns="0" tIns="0" rIns="0" bIns="0" rtlCol="0" anchor="ctr"/>
          <a:lstStyle/>
          <a:p>
            <a:pPr algn="ctr" indent="0" marL="0">
              <a:buNone/>
            </a:pPr>
            <a:r>
              <a:rPr lang="en-US" sz="1400" b="1" dirty="0">
                <a:solidFill>
                  <a:srgbClr val="3ECF8E"/>
                </a:solidFill>
                <a:latin typeface="Calibri" pitchFamily="34" charset="0"/>
                <a:ea typeface="Calibri" pitchFamily="34" charset="-122"/>
                <a:cs typeface="Calibri" pitchFamily="34" charset="-120"/>
              </a:rPr>
              <a:t>49.440€</a:t>
            </a:r>
            <a:endParaRPr lang="en-US" sz="1400" dirty="0"/>
          </a:p>
        </p:txBody>
      </p:sp>
      <p:sp>
        <p:nvSpPr>
          <p:cNvPr id="37" name="Shape 35"/>
          <p:cNvSpPr/>
          <p:nvPr/>
        </p:nvSpPr>
        <p:spPr>
          <a:xfrm>
            <a:off x="548640" y="4251960"/>
            <a:ext cx="8046720" cy="685800"/>
          </a:xfrm>
          <a:prstGeom prst="rect">
            <a:avLst/>
          </a:prstGeom>
          <a:solidFill>
            <a:srgbClr val="050F05"/>
          </a:solidFill>
          <a:ln w="12700">
            <a:solidFill>
              <a:srgbClr val="3ECF8E"/>
            </a:solidFill>
            <a:prstDash val="solid"/>
          </a:ln>
        </p:spPr>
      </p:sp>
      <p:sp>
        <p:nvSpPr>
          <p:cNvPr id="38" name="Shape 36"/>
          <p:cNvSpPr/>
          <p:nvPr/>
        </p:nvSpPr>
        <p:spPr>
          <a:xfrm>
            <a:off x="548640" y="4251960"/>
            <a:ext cx="8046720" cy="685800"/>
          </a:xfrm>
          <a:prstGeom prst="rect">
            <a:avLst/>
          </a:prstGeom>
          <a:solidFill>
            <a:srgbClr val="050F05"/>
          </a:solidFill>
          <a:ln w="12700">
            <a:solidFill>
              <a:srgbClr val="3ECF8E"/>
            </a:solidFill>
            <a:prstDash val="solid"/>
          </a:ln>
        </p:spPr>
      </p:sp>
      <p:sp>
        <p:nvSpPr>
          <p:cNvPr id="39" name="Text 37"/>
          <p:cNvSpPr/>
          <p:nvPr/>
        </p:nvSpPr>
        <p:spPr>
          <a:xfrm>
            <a:off x="731520" y="4325112"/>
            <a:ext cx="3657600" cy="530352"/>
          </a:xfrm>
          <a:prstGeom prst="rect">
            <a:avLst/>
          </a:prstGeom>
          <a:noFill/>
          <a:ln/>
        </p:spPr>
        <p:txBody>
          <a:bodyPr wrap="square" lIns="0" tIns="0" rIns="0" bIns="0" rtlCol="0" anchor="ctr"/>
          <a:lstStyle/>
          <a:p>
            <a:pPr indent="0" marL="0">
              <a:buNone/>
            </a:pPr>
            <a:r>
              <a:rPr lang="en-US" sz="1400" dirty="0">
                <a:solidFill>
                  <a:srgbClr val="7A7570"/>
                </a:solidFill>
                <a:latin typeface="Calibri" pitchFamily="34" charset="0"/>
                <a:ea typeface="Calibri" pitchFamily="34" charset="-122"/>
                <a:cs typeface="Calibri" pitchFamily="34" charset="-120"/>
              </a:rPr>
              <a:t>Économie réelle en 12 mois :</a:t>
            </a:r>
            <a:endParaRPr lang="en-US" sz="1400" dirty="0"/>
          </a:p>
        </p:txBody>
      </p:sp>
      <p:sp>
        <p:nvSpPr>
          <p:cNvPr id="40" name="Text 38"/>
          <p:cNvSpPr/>
          <p:nvPr/>
        </p:nvSpPr>
        <p:spPr>
          <a:xfrm>
            <a:off x="4389120" y="4279392"/>
            <a:ext cx="3474720" cy="594360"/>
          </a:xfrm>
          <a:prstGeom prst="rect">
            <a:avLst/>
          </a:prstGeom>
          <a:noFill/>
          <a:ln/>
        </p:spPr>
        <p:txBody>
          <a:bodyPr wrap="square" lIns="0" tIns="0" rIns="0" bIns="0" rtlCol="0" anchor="ctr"/>
          <a:lstStyle/>
          <a:p>
            <a:pPr algn="r" indent="0" marL="0">
              <a:buNone/>
            </a:pPr>
            <a:r>
              <a:rPr lang="en-US" sz="3600" b="1" spc="200" kern="0" dirty="0">
                <a:solidFill>
                  <a:srgbClr val="3ECF8E"/>
                </a:solidFill>
                <a:latin typeface="Arial Black" pitchFamily="34" charset="0"/>
                <a:ea typeface="Arial Black" pitchFamily="34" charset="-122"/>
                <a:cs typeface="Arial Black" pitchFamily="34" charset="-120"/>
              </a:rPr>
              <a:t>49.440€</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sp>
      <p:sp>
        <p:nvSpPr>
          <p:cNvPr id="3" name="Text 1"/>
          <p:cNvSpPr/>
          <p:nvPr/>
        </p:nvSpPr>
        <p:spPr>
          <a:xfrm>
            <a:off x="548640" y="228600"/>
            <a:ext cx="7315200" cy="274320"/>
          </a:xfrm>
          <a:prstGeom prst="rect">
            <a:avLst/>
          </a:prstGeom>
          <a:noFill/>
          <a:ln/>
        </p:spPr>
        <p:txBody>
          <a:bodyPr wrap="square" lIns="0" tIns="0" rIns="0" bIns="0" rtlCol="0" anchor="ctr"/>
          <a:lstStyle/>
          <a:p>
            <a:pPr indent="0" marL="0">
              <a:buNone/>
            </a:pPr>
            <a:r>
              <a:rPr lang="en-US" sz="900" spc="300" kern="0" dirty="0">
                <a:solidFill>
                  <a:srgbClr val="C9A84C"/>
                </a:solidFill>
                <a:latin typeface="Consolas" pitchFamily="34" charset="0"/>
                <a:ea typeface="Consolas" pitchFamily="34" charset="-122"/>
                <a:cs typeface="Consolas" pitchFamily="34" charset="-120"/>
              </a:rPr>
              <a:t>DÉMONSTRATION 3 / 3  (OPTIONNELLE)</a:t>
            </a:r>
            <a:endParaRPr lang="en-US" sz="900" dirty="0"/>
          </a:p>
        </p:txBody>
      </p:sp>
      <p:sp>
        <p:nvSpPr>
          <p:cNvPr id="4" name="Text 2"/>
          <p:cNvSpPr/>
          <p:nvPr/>
        </p:nvSpPr>
        <p:spPr>
          <a:xfrm>
            <a:off x="548640" y="457200"/>
            <a:ext cx="4572000" cy="1005840"/>
          </a:xfrm>
          <a:prstGeom prst="rect">
            <a:avLst/>
          </a:prstGeom>
          <a:noFill/>
          <a:ln/>
        </p:spPr>
        <p:txBody>
          <a:bodyPr wrap="square" lIns="0" tIns="0" rIns="0" bIns="0" rtlCol="0" anchor="ctr"/>
          <a:lstStyle/>
          <a:p>
            <a:pPr algn="l" indent="0" marL="0">
              <a:buNone/>
            </a:pPr>
            <a:r>
              <a:rPr lang="en-US" sz="4000" b="1" spc="300" kern="0" dirty="0">
                <a:solidFill>
                  <a:srgbClr val="F0ECE3"/>
                </a:solidFill>
                <a:latin typeface="Arial Black" pitchFamily="34" charset="0"/>
                <a:ea typeface="Arial Black" pitchFamily="34" charset="-122"/>
                <a:cs typeface="Arial Black" pitchFamily="34" charset="-120"/>
              </a:rPr>
              <a:t>Transparence</a:t>
            </a:r>
            <a:endParaRPr lang="en-US" sz="4000" dirty="0"/>
          </a:p>
          <a:p>
            <a:pPr algn="l" indent="0" marL="0">
              <a:buNone/>
            </a:pPr>
            <a:r>
              <a:rPr lang="en-US" sz="4000" b="1" spc="300" kern="0" dirty="0">
                <a:solidFill>
                  <a:srgbClr val="F0ECE3"/>
                </a:solidFill>
                <a:latin typeface="Arial Black" pitchFamily="34" charset="0"/>
                <a:ea typeface="Arial Black" pitchFamily="34" charset="-122"/>
                <a:cs typeface="Arial Black" pitchFamily="34" charset="-120"/>
              </a:rPr>
              <a:t>totale.</a:t>
            </a:r>
            <a:endParaRPr lang="en-US" sz="4000" dirty="0"/>
          </a:p>
        </p:txBody>
      </p:sp>
      <p:sp>
        <p:nvSpPr>
          <p:cNvPr id="5" name="Text 3"/>
          <p:cNvSpPr/>
          <p:nvPr/>
        </p:nvSpPr>
        <p:spPr>
          <a:xfrm>
            <a:off x="548640" y="1554480"/>
            <a:ext cx="3931920" cy="1097280"/>
          </a:xfrm>
          <a:prstGeom prst="rect">
            <a:avLst/>
          </a:prstGeom>
          <a:noFill/>
          <a:ln/>
        </p:spPr>
        <p:txBody>
          <a:bodyPr wrap="square" lIns="0" tIns="0" rIns="0" bIns="0" rtlCol="0" anchor="ctr"/>
          <a:lstStyle/>
          <a:p>
            <a:pPr algn="l" indent="0" marL="0">
              <a:lnSpc>
                <a:spcPct val="130000"/>
              </a:lnSpc>
              <a:buNone/>
            </a:pPr>
            <a:r>
              <a:rPr lang="en-US" sz="1300" dirty="0">
                <a:solidFill>
                  <a:srgbClr val="7A7570"/>
                </a:solidFill>
                <a:latin typeface="Calibri" pitchFamily="34" charset="0"/>
                <a:ea typeface="Calibri" pitchFamily="34" charset="-122"/>
                <a:cs typeface="Calibri" pitchFamily="34" charset="-120"/>
              </a:rPr>
              <a:t>Depuis votre panneau vous voyez en temps réel :</a:t>
            </a:r>
            <a:endParaRPr lang="en-US" sz="1300" dirty="0"/>
          </a:p>
          <a:p>
            <a:pPr algn="l" indent="0" marL="0">
              <a:lnSpc>
                <a:spcPct val="130000"/>
              </a:lnSpc>
              <a:buNone/>
            </a:pPr>
            <a:r>
              <a:rPr lang="en-US" sz="1300" dirty="0">
                <a:solidFill>
                  <a:srgbClr val="7A7570"/>
                </a:solidFill>
                <a:latin typeface="Calibri" pitchFamily="34" charset="0"/>
                <a:ea typeface="Calibri" pitchFamily="34" charset="-122"/>
                <a:cs typeface="Calibri" pitchFamily="34" charset="-120"/>
              </a:rPr>
              <a:t>toutes vos ventes, tous vos clients,</a:t>
            </a:r>
            <a:endParaRPr lang="en-US" sz="1300" dirty="0"/>
          </a:p>
          <a:p>
            <a:pPr algn="l" indent="0" marL="0">
              <a:lnSpc>
                <a:spcPct val="130000"/>
              </a:lnSpc>
              <a:buNone/>
            </a:pPr>
            <a:r>
              <a:rPr lang="en-US" sz="1300" dirty="0">
                <a:solidFill>
                  <a:srgbClr val="7A7570"/>
                </a:solidFill>
                <a:latin typeface="Calibri" pitchFamily="34" charset="0"/>
                <a:ea typeface="Calibri" pitchFamily="34" charset="-122"/>
                <a:cs typeface="Calibri" pitchFamily="34" charset="-120"/>
              </a:rPr>
              <a:t>toutes vos statistiques.</a:t>
            </a:r>
            <a:endParaRPr lang="en-US" sz="1300" dirty="0"/>
          </a:p>
          <a:p>
            <a:pPr algn="l" indent="0" marL="0">
              <a:lnSpc>
                <a:spcPct val="130000"/>
              </a:lnSpc>
              <a:buNone/>
            </a:pPr>
            <a:r>
              <a:rPr lang="en-US" sz="1300" dirty="0">
                <a:solidFill>
                  <a:srgbClr val="7A7570"/>
                </a:solidFill>
                <a:latin typeface="Calibri" pitchFamily="34" charset="0"/>
                <a:ea typeface="Calibri" pitchFamily="34" charset="-122"/>
                <a:cs typeface="Calibri" pitchFamily="34" charset="-120"/>
              </a:rPr>
              <a:t>Personne d'autre n'y a accès.</a:t>
            </a:r>
            <a:endParaRPr lang="en-US" sz="1300" dirty="0"/>
          </a:p>
        </p:txBody>
      </p:sp>
      <p:sp>
        <p:nvSpPr>
          <p:cNvPr id="6" name="Shape 4"/>
          <p:cNvSpPr/>
          <p:nvPr/>
        </p:nvSpPr>
        <p:spPr>
          <a:xfrm>
            <a:off x="548640" y="2834640"/>
            <a:ext cx="1737360" cy="822960"/>
          </a:xfrm>
          <a:prstGeom prst="rect">
            <a:avLst/>
          </a:prstGeom>
          <a:solidFill>
            <a:srgbClr val="141414"/>
          </a:solidFill>
          <a:ln w="12700">
            <a:solidFill>
              <a:srgbClr val="1E1E1E"/>
            </a:solidFill>
            <a:prstDash val="solid"/>
          </a:ln>
        </p:spPr>
      </p:sp>
      <p:sp>
        <p:nvSpPr>
          <p:cNvPr id="7" name="Text 5"/>
          <p:cNvSpPr/>
          <p:nvPr/>
        </p:nvSpPr>
        <p:spPr>
          <a:xfrm>
            <a:off x="548640" y="2880360"/>
            <a:ext cx="1737360" cy="502920"/>
          </a:xfrm>
          <a:prstGeom prst="rect">
            <a:avLst/>
          </a:prstGeom>
          <a:noFill/>
          <a:ln/>
        </p:spPr>
        <p:txBody>
          <a:bodyPr wrap="square" lIns="0" tIns="0" rIns="0" bIns="0" rtlCol="0" anchor="ctr"/>
          <a:lstStyle/>
          <a:p>
            <a:pPr algn="ctr" indent="0" marL="0">
              <a:buNone/>
            </a:pPr>
            <a:r>
              <a:rPr lang="en-US" sz="2200" dirty="0">
                <a:solidFill>
                  <a:srgbClr val="C9A84C"/>
                </a:solidFill>
                <a:latin typeface="Arial Black" pitchFamily="34" charset="0"/>
                <a:ea typeface="Arial Black" pitchFamily="34" charset="-122"/>
                <a:cs typeface="Arial Black" pitchFamily="34" charset="-120"/>
              </a:rPr>
              <a:t>247</a:t>
            </a:r>
            <a:endParaRPr lang="en-US" sz="2200" dirty="0"/>
          </a:p>
        </p:txBody>
      </p:sp>
      <p:sp>
        <p:nvSpPr>
          <p:cNvPr id="8" name="Text 6"/>
          <p:cNvSpPr/>
          <p:nvPr/>
        </p:nvSpPr>
        <p:spPr>
          <a:xfrm>
            <a:off x="548640" y="3383280"/>
            <a:ext cx="1737360" cy="228600"/>
          </a:xfrm>
          <a:prstGeom prst="rect">
            <a:avLst/>
          </a:prstGeom>
          <a:noFill/>
          <a:ln/>
        </p:spPr>
        <p:txBody>
          <a:bodyPr wrap="square" lIns="0" tIns="0" rIns="0" bIns="0" rtlCol="0" anchor="ctr"/>
          <a:lstStyle/>
          <a:p>
            <a:pPr algn="ctr" indent="0" marL="0">
              <a:buNone/>
            </a:pPr>
            <a:r>
              <a:rPr lang="en-US" sz="600" spc="100" kern="0" dirty="0">
                <a:solidFill>
                  <a:srgbClr val="7A7570"/>
                </a:solidFill>
                <a:latin typeface="Consolas" pitchFamily="34" charset="0"/>
                <a:ea typeface="Consolas" pitchFamily="34" charset="-122"/>
                <a:cs typeface="Consolas" pitchFamily="34" charset="-120"/>
              </a:rPr>
              <a:t>BILLETS VENDUS</a:t>
            </a:r>
            <a:endParaRPr lang="en-US" sz="600" dirty="0"/>
          </a:p>
        </p:txBody>
      </p:sp>
      <p:sp>
        <p:nvSpPr>
          <p:cNvPr id="9" name="Shape 7"/>
          <p:cNvSpPr/>
          <p:nvPr/>
        </p:nvSpPr>
        <p:spPr>
          <a:xfrm>
            <a:off x="2423160" y="2834640"/>
            <a:ext cx="1737360" cy="822960"/>
          </a:xfrm>
          <a:prstGeom prst="rect">
            <a:avLst/>
          </a:prstGeom>
          <a:solidFill>
            <a:srgbClr val="141414"/>
          </a:solidFill>
          <a:ln w="12700">
            <a:solidFill>
              <a:srgbClr val="1E1E1E"/>
            </a:solidFill>
            <a:prstDash val="solid"/>
          </a:ln>
        </p:spPr>
      </p:sp>
      <p:sp>
        <p:nvSpPr>
          <p:cNvPr id="10" name="Text 8"/>
          <p:cNvSpPr/>
          <p:nvPr/>
        </p:nvSpPr>
        <p:spPr>
          <a:xfrm>
            <a:off x="2423160" y="2880360"/>
            <a:ext cx="1737360" cy="502920"/>
          </a:xfrm>
          <a:prstGeom prst="rect">
            <a:avLst/>
          </a:prstGeom>
          <a:noFill/>
          <a:ln/>
        </p:spPr>
        <p:txBody>
          <a:bodyPr wrap="square" lIns="0" tIns="0" rIns="0" bIns="0" rtlCol="0" anchor="ctr"/>
          <a:lstStyle/>
          <a:p>
            <a:pPr algn="ctr" indent="0" marL="0">
              <a:buNone/>
            </a:pPr>
            <a:r>
              <a:rPr lang="en-US" sz="2200" dirty="0">
                <a:solidFill>
                  <a:srgbClr val="3ECF8E"/>
                </a:solidFill>
                <a:latin typeface="Arial Black" pitchFamily="34" charset="0"/>
                <a:ea typeface="Arial Black" pitchFamily="34" charset="-122"/>
                <a:cs typeface="Arial Black" pitchFamily="34" charset="-120"/>
              </a:rPr>
              <a:t>4.235€</a:t>
            </a:r>
            <a:endParaRPr lang="en-US" sz="2200" dirty="0"/>
          </a:p>
        </p:txBody>
      </p:sp>
      <p:sp>
        <p:nvSpPr>
          <p:cNvPr id="11" name="Text 9"/>
          <p:cNvSpPr/>
          <p:nvPr/>
        </p:nvSpPr>
        <p:spPr>
          <a:xfrm>
            <a:off x="2423160" y="3383280"/>
            <a:ext cx="1737360" cy="228600"/>
          </a:xfrm>
          <a:prstGeom prst="rect">
            <a:avLst/>
          </a:prstGeom>
          <a:noFill/>
          <a:ln/>
        </p:spPr>
        <p:txBody>
          <a:bodyPr wrap="square" lIns="0" tIns="0" rIns="0" bIns="0" rtlCol="0" anchor="ctr"/>
          <a:lstStyle/>
          <a:p>
            <a:pPr algn="ctr" indent="0" marL="0">
              <a:buNone/>
            </a:pPr>
            <a:r>
              <a:rPr lang="en-US" sz="600" spc="100" kern="0" dirty="0">
                <a:solidFill>
                  <a:srgbClr val="7A7570"/>
                </a:solidFill>
                <a:latin typeface="Consolas" pitchFamily="34" charset="0"/>
                <a:ea typeface="Consolas" pitchFamily="34" charset="-122"/>
                <a:cs typeface="Consolas" pitchFamily="34" charset="-120"/>
              </a:rPr>
              <a:t>REVENUS AUJOURD'HUI</a:t>
            </a:r>
            <a:endParaRPr lang="en-US" sz="600" dirty="0"/>
          </a:p>
        </p:txBody>
      </p:sp>
      <p:sp>
        <p:nvSpPr>
          <p:cNvPr id="12" name="Shape 10"/>
          <p:cNvSpPr/>
          <p:nvPr/>
        </p:nvSpPr>
        <p:spPr>
          <a:xfrm>
            <a:off x="548640" y="3794760"/>
            <a:ext cx="1737360" cy="822960"/>
          </a:xfrm>
          <a:prstGeom prst="rect">
            <a:avLst/>
          </a:prstGeom>
          <a:solidFill>
            <a:srgbClr val="141414"/>
          </a:solidFill>
          <a:ln w="12700">
            <a:solidFill>
              <a:srgbClr val="1E1E1E"/>
            </a:solidFill>
            <a:prstDash val="solid"/>
          </a:ln>
        </p:spPr>
      </p:sp>
      <p:sp>
        <p:nvSpPr>
          <p:cNvPr id="13" name="Text 11"/>
          <p:cNvSpPr/>
          <p:nvPr/>
        </p:nvSpPr>
        <p:spPr>
          <a:xfrm>
            <a:off x="548640" y="3840480"/>
            <a:ext cx="1737360" cy="502920"/>
          </a:xfrm>
          <a:prstGeom prst="rect">
            <a:avLst/>
          </a:prstGeom>
          <a:noFill/>
          <a:ln/>
        </p:spPr>
        <p:txBody>
          <a:bodyPr wrap="square" lIns="0" tIns="0" rIns="0" bIns="0" rtlCol="0" anchor="ctr"/>
          <a:lstStyle/>
          <a:p>
            <a:pPr algn="ctr" indent="0" marL="0">
              <a:buNone/>
            </a:pPr>
            <a:r>
              <a:rPr lang="en-US" sz="2200" dirty="0">
                <a:solidFill>
                  <a:srgbClr val="5B9CF6"/>
                </a:solidFill>
                <a:latin typeface="Arial Black" pitchFamily="34" charset="0"/>
                <a:ea typeface="Arial Black" pitchFamily="34" charset="-122"/>
                <a:cs typeface="Arial Black" pitchFamily="34" charset="-120"/>
              </a:rPr>
              <a:t>1.482</a:t>
            </a:r>
            <a:endParaRPr lang="en-US" sz="2200" dirty="0"/>
          </a:p>
        </p:txBody>
      </p:sp>
      <p:sp>
        <p:nvSpPr>
          <p:cNvPr id="14" name="Text 12"/>
          <p:cNvSpPr/>
          <p:nvPr/>
        </p:nvSpPr>
        <p:spPr>
          <a:xfrm>
            <a:off x="548640" y="4343400"/>
            <a:ext cx="1737360" cy="228600"/>
          </a:xfrm>
          <a:prstGeom prst="rect">
            <a:avLst/>
          </a:prstGeom>
          <a:noFill/>
          <a:ln/>
        </p:spPr>
        <p:txBody>
          <a:bodyPr wrap="square" lIns="0" tIns="0" rIns="0" bIns="0" rtlCol="0" anchor="ctr"/>
          <a:lstStyle/>
          <a:p>
            <a:pPr algn="ctr" indent="0" marL="0">
              <a:buNone/>
            </a:pPr>
            <a:r>
              <a:rPr lang="en-US" sz="600" spc="100" kern="0" dirty="0">
                <a:solidFill>
                  <a:srgbClr val="7A7570"/>
                </a:solidFill>
                <a:latin typeface="Consolas" pitchFamily="34" charset="0"/>
                <a:ea typeface="Consolas" pitchFamily="34" charset="-122"/>
                <a:cs typeface="Consolas" pitchFamily="34" charset="-120"/>
              </a:rPr>
              <a:t>ABONNÉS</a:t>
            </a:r>
            <a:endParaRPr lang="en-US" sz="600" dirty="0"/>
          </a:p>
        </p:txBody>
      </p:sp>
      <p:sp>
        <p:nvSpPr>
          <p:cNvPr id="15" name="Shape 13"/>
          <p:cNvSpPr/>
          <p:nvPr/>
        </p:nvSpPr>
        <p:spPr>
          <a:xfrm>
            <a:off x="2423160" y="3794760"/>
            <a:ext cx="1737360" cy="822960"/>
          </a:xfrm>
          <a:prstGeom prst="rect">
            <a:avLst/>
          </a:prstGeom>
          <a:solidFill>
            <a:srgbClr val="141414"/>
          </a:solidFill>
          <a:ln w="12700">
            <a:solidFill>
              <a:srgbClr val="1E1E1E"/>
            </a:solidFill>
            <a:prstDash val="solid"/>
          </a:ln>
        </p:spPr>
      </p:sp>
      <p:sp>
        <p:nvSpPr>
          <p:cNvPr id="16" name="Text 14"/>
          <p:cNvSpPr/>
          <p:nvPr/>
        </p:nvSpPr>
        <p:spPr>
          <a:xfrm>
            <a:off x="2423160" y="3840480"/>
            <a:ext cx="1737360" cy="502920"/>
          </a:xfrm>
          <a:prstGeom prst="rect">
            <a:avLst/>
          </a:prstGeom>
          <a:noFill/>
          <a:ln/>
        </p:spPr>
        <p:txBody>
          <a:bodyPr wrap="square" lIns="0" tIns="0" rIns="0" bIns="0" rtlCol="0" anchor="ctr"/>
          <a:lstStyle/>
          <a:p>
            <a:pPr algn="ctr" indent="0" marL="0">
              <a:buNone/>
            </a:pPr>
            <a:r>
              <a:rPr lang="en-US" sz="2200" dirty="0">
                <a:solidFill>
                  <a:srgbClr val="F0884A"/>
                </a:solidFill>
                <a:latin typeface="Arial Black" pitchFamily="34" charset="0"/>
                <a:ea typeface="Arial Black" pitchFamily="34" charset="-122"/>
                <a:cs typeface="Arial Black" pitchFamily="34" charset="-120"/>
              </a:rPr>
              <a:t>34%</a:t>
            </a:r>
            <a:endParaRPr lang="en-US" sz="2200" dirty="0"/>
          </a:p>
        </p:txBody>
      </p:sp>
      <p:sp>
        <p:nvSpPr>
          <p:cNvPr id="17" name="Text 15"/>
          <p:cNvSpPr/>
          <p:nvPr/>
        </p:nvSpPr>
        <p:spPr>
          <a:xfrm>
            <a:off x="2423160" y="4343400"/>
            <a:ext cx="1737360" cy="228600"/>
          </a:xfrm>
          <a:prstGeom prst="rect">
            <a:avLst/>
          </a:prstGeom>
          <a:noFill/>
          <a:ln/>
        </p:spPr>
        <p:txBody>
          <a:bodyPr wrap="square" lIns="0" tIns="0" rIns="0" bIns="0" rtlCol="0" anchor="ctr"/>
          <a:lstStyle/>
          <a:p>
            <a:pPr algn="ctr" indent="0" marL="0">
              <a:buNone/>
            </a:pPr>
            <a:r>
              <a:rPr lang="en-US" sz="600" spc="100" kern="0" dirty="0">
                <a:solidFill>
                  <a:srgbClr val="7A7570"/>
                </a:solidFill>
                <a:latin typeface="Consolas" pitchFamily="34" charset="0"/>
                <a:ea typeface="Consolas" pitchFamily="34" charset="-122"/>
                <a:cs typeface="Consolas" pitchFamily="34" charset="-120"/>
              </a:rPr>
              <a:t>TAUX CONVERSION</a:t>
            </a:r>
            <a:endParaRPr lang="en-US" sz="600" dirty="0"/>
          </a:p>
        </p:txBody>
      </p:sp>
      <p:sp>
        <p:nvSpPr>
          <p:cNvPr id="18" name="Shape 16"/>
          <p:cNvSpPr/>
          <p:nvPr/>
        </p:nvSpPr>
        <p:spPr>
          <a:xfrm>
            <a:off x="4297680" y="411480"/>
            <a:ext cx="4572000" cy="4480560"/>
          </a:xfrm>
          <a:prstGeom prst="rect">
            <a:avLst/>
          </a:prstGeom>
          <a:solidFill>
            <a:srgbClr val="050505"/>
          </a:solidFill>
          <a:ln w="12700">
            <a:solidFill>
              <a:srgbClr val="1E1E1E"/>
            </a:solidFill>
            <a:prstDash val="solid"/>
          </a:ln>
        </p:spPr>
      </p:sp>
      <p:sp>
        <p:nvSpPr>
          <p:cNvPr id="19" name="Text 17"/>
          <p:cNvSpPr/>
          <p:nvPr/>
        </p:nvSpPr>
        <p:spPr>
          <a:xfrm>
            <a:off x="4434840" y="548640"/>
            <a:ext cx="411480" cy="41148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0" name="Text 18"/>
          <p:cNvSpPr/>
          <p:nvPr/>
        </p:nvSpPr>
        <p:spPr>
          <a:xfrm>
            <a:off x="4919472" y="530352"/>
            <a:ext cx="3749040" cy="274320"/>
          </a:xfrm>
          <a:prstGeom prst="rect">
            <a:avLst/>
          </a:prstGeom>
          <a:noFill/>
          <a:ln/>
        </p:spPr>
        <p:txBody>
          <a:bodyPr wrap="square" lIns="0" tIns="0" rIns="0" bIns="0" rtlCol="0" anchor="ctr"/>
          <a:lstStyle/>
          <a:p>
            <a:pPr indent="0" marL="0">
              <a:buNone/>
            </a:pPr>
            <a:r>
              <a:rPr lang="en-US" sz="1100" b="1" dirty="0">
                <a:solidFill>
                  <a:srgbClr val="F0ECE3"/>
                </a:solidFill>
                <a:latin typeface="Calibri" pitchFamily="34" charset="0"/>
                <a:ea typeface="Calibri" pitchFamily="34" charset="-122"/>
                <a:cs typeface="Calibri" pitchFamily="34" charset="-120"/>
              </a:rPr>
              <a:t>Vos données, rien qu'à vous</a:t>
            </a:r>
            <a:endParaRPr lang="en-US" sz="1100" dirty="0"/>
          </a:p>
        </p:txBody>
      </p:sp>
      <p:sp>
        <p:nvSpPr>
          <p:cNvPr id="21" name="Text 19"/>
          <p:cNvSpPr/>
          <p:nvPr/>
        </p:nvSpPr>
        <p:spPr>
          <a:xfrm>
            <a:off x="4919472" y="795528"/>
            <a:ext cx="3749040" cy="411480"/>
          </a:xfrm>
          <a:prstGeom prst="rect">
            <a:avLst/>
          </a:prstGeom>
          <a:noFill/>
          <a:ln/>
        </p:spPr>
        <p:txBody>
          <a:bodyPr wrap="square" lIns="0" tIns="0" rIns="0" bIns="0" rtlCol="0" anchor="ctr"/>
          <a:lstStyle/>
          <a:p>
            <a:pPr indent="0" marL="0">
              <a:lnSpc>
                <a:spcPct val="110000"/>
              </a:lnSpc>
              <a:buNone/>
            </a:pPr>
            <a:r>
              <a:rPr lang="en-US" sz="1000" dirty="0">
                <a:solidFill>
                  <a:srgbClr val="7A7570"/>
                </a:solidFill>
                <a:latin typeface="Calibri" pitchFamily="34" charset="0"/>
                <a:ea typeface="Calibri" pitchFamily="34" charset="-122"/>
                <a:cs typeface="Calibri" pitchFamily="34" charset="-120"/>
              </a:rPr>
              <a:t>Les données de vos clients n'appartiennent qu'à vous. Ni HonoPs, ni personne d'autre.</a:t>
            </a:r>
            <a:endParaRPr lang="en-US" sz="1000" dirty="0"/>
          </a:p>
        </p:txBody>
      </p:sp>
      <p:sp>
        <p:nvSpPr>
          <p:cNvPr id="22" name="Text 20"/>
          <p:cNvSpPr/>
          <p:nvPr/>
        </p:nvSpPr>
        <p:spPr>
          <a:xfrm>
            <a:off x="4434840" y="1389888"/>
            <a:ext cx="411480" cy="41148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3" name="Text 21"/>
          <p:cNvSpPr/>
          <p:nvPr/>
        </p:nvSpPr>
        <p:spPr>
          <a:xfrm>
            <a:off x="4919472" y="1371600"/>
            <a:ext cx="3749040" cy="274320"/>
          </a:xfrm>
          <a:prstGeom prst="rect">
            <a:avLst/>
          </a:prstGeom>
          <a:noFill/>
          <a:ln/>
        </p:spPr>
        <p:txBody>
          <a:bodyPr wrap="square" lIns="0" tIns="0" rIns="0" bIns="0" rtlCol="0" anchor="ctr"/>
          <a:lstStyle/>
          <a:p>
            <a:pPr indent="0" marL="0">
              <a:buNone/>
            </a:pPr>
            <a:r>
              <a:rPr lang="en-US" sz="1100" b="1" dirty="0">
                <a:solidFill>
                  <a:srgbClr val="F0ECE3"/>
                </a:solidFill>
                <a:latin typeface="Calibri" pitchFamily="34" charset="0"/>
                <a:ea typeface="Calibri" pitchFamily="34" charset="-122"/>
                <a:cs typeface="Calibri" pitchFamily="34" charset="-120"/>
              </a:rPr>
              <a:t>Statistiques en temps réel</a:t>
            </a:r>
            <a:endParaRPr lang="en-US" sz="1100" dirty="0"/>
          </a:p>
        </p:txBody>
      </p:sp>
      <p:sp>
        <p:nvSpPr>
          <p:cNvPr id="24" name="Text 22"/>
          <p:cNvSpPr/>
          <p:nvPr/>
        </p:nvSpPr>
        <p:spPr>
          <a:xfrm>
            <a:off x="4919472" y="1636776"/>
            <a:ext cx="3749040" cy="411480"/>
          </a:xfrm>
          <a:prstGeom prst="rect">
            <a:avLst/>
          </a:prstGeom>
          <a:noFill/>
          <a:ln/>
        </p:spPr>
        <p:txBody>
          <a:bodyPr wrap="square" lIns="0" tIns="0" rIns="0" bIns="0" rtlCol="0" anchor="ctr"/>
          <a:lstStyle/>
          <a:p>
            <a:pPr indent="0" marL="0">
              <a:lnSpc>
                <a:spcPct val="110000"/>
              </a:lnSpc>
              <a:buNone/>
            </a:pPr>
            <a:r>
              <a:rPr lang="en-US" sz="1000" dirty="0">
                <a:solidFill>
                  <a:srgbClr val="7A7570"/>
                </a:solidFill>
                <a:latin typeface="Calibri" pitchFamily="34" charset="0"/>
                <a:ea typeface="Calibri" pitchFamily="34" charset="-122"/>
                <a:cs typeface="Calibri" pitchFamily="34" charset="-120"/>
              </a:rPr>
              <a:t>Combien de billets vendus, quand, à quel prix. Tout est visible et exportable.</a:t>
            </a:r>
            <a:endParaRPr lang="en-US" sz="1000" dirty="0"/>
          </a:p>
        </p:txBody>
      </p:sp>
      <p:sp>
        <p:nvSpPr>
          <p:cNvPr id="25" name="Text 23"/>
          <p:cNvSpPr/>
          <p:nvPr/>
        </p:nvSpPr>
        <p:spPr>
          <a:xfrm>
            <a:off x="4434840" y="2231136"/>
            <a:ext cx="411480" cy="41148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6" name="Text 24"/>
          <p:cNvSpPr/>
          <p:nvPr/>
        </p:nvSpPr>
        <p:spPr>
          <a:xfrm>
            <a:off x="4919472" y="2212848"/>
            <a:ext cx="3749040" cy="274320"/>
          </a:xfrm>
          <a:prstGeom prst="rect">
            <a:avLst/>
          </a:prstGeom>
          <a:noFill/>
          <a:ln/>
        </p:spPr>
        <p:txBody>
          <a:bodyPr wrap="square" lIns="0" tIns="0" rIns="0" bIns="0" rtlCol="0" anchor="ctr"/>
          <a:lstStyle/>
          <a:p>
            <a:pPr indent="0" marL="0">
              <a:buNone/>
            </a:pPr>
            <a:r>
              <a:rPr lang="en-US" sz="1100" b="1" dirty="0">
                <a:solidFill>
                  <a:srgbClr val="F0ECE3"/>
                </a:solidFill>
                <a:latin typeface="Calibri" pitchFamily="34" charset="0"/>
                <a:ea typeface="Calibri" pitchFamily="34" charset="-122"/>
                <a:cs typeface="Calibri" pitchFamily="34" charset="-120"/>
              </a:rPr>
              <a:t>QR impossible à falsifier</a:t>
            </a:r>
            <a:endParaRPr lang="en-US" sz="1100" dirty="0"/>
          </a:p>
        </p:txBody>
      </p:sp>
      <p:sp>
        <p:nvSpPr>
          <p:cNvPr id="27" name="Text 25"/>
          <p:cNvSpPr/>
          <p:nvPr/>
        </p:nvSpPr>
        <p:spPr>
          <a:xfrm>
            <a:off x="4919472" y="2478024"/>
            <a:ext cx="3749040" cy="411480"/>
          </a:xfrm>
          <a:prstGeom prst="rect">
            <a:avLst/>
          </a:prstGeom>
          <a:noFill/>
          <a:ln/>
        </p:spPr>
        <p:txBody>
          <a:bodyPr wrap="square" lIns="0" tIns="0" rIns="0" bIns="0" rtlCol="0" anchor="ctr"/>
          <a:lstStyle/>
          <a:p>
            <a:pPr indent="0" marL="0">
              <a:lnSpc>
                <a:spcPct val="110000"/>
              </a:lnSpc>
              <a:buNone/>
            </a:pPr>
            <a:r>
              <a:rPr lang="en-US" sz="1000" dirty="0">
                <a:solidFill>
                  <a:srgbClr val="7A7570"/>
                </a:solidFill>
                <a:latin typeface="Calibri" pitchFamily="34" charset="0"/>
                <a:ea typeface="Calibri" pitchFamily="34" charset="-122"/>
                <a:cs typeface="Calibri" pitchFamily="34" charset="-120"/>
              </a:rPr>
              <a:t>Chaque QR est unique et expire après usage. Zéro fraude garantie.</a:t>
            </a:r>
            <a:endParaRPr lang="en-US" sz="1000" dirty="0"/>
          </a:p>
        </p:txBody>
      </p:sp>
      <p:sp>
        <p:nvSpPr>
          <p:cNvPr id="28" name="Text 26"/>
          <p:cNvSpPr/>
          <p:nvPr/>
        </p:nvSpPr>
        <p:spPr>
          <a:xfrm>
            <a:off x="4434840" y="3072384"/>
            <a:ext cx="411480" cy="41148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9" name="Text 27"/>
          <p:cNvSpPr/>
          <p:nvPr/>
        </p:nvSpPr>
        <p:spPr>
          <a:xfrm>
            <a:off x="4919472" y="3054096"/>
            <a:ext cx="3749040" cy="274320"/>
          </a:xfrm>
          <a:prstGeom prst="rect">
            <a:avLst/>
          </a:prstGeom>
          <a:noFill/>
          <a:ln/>
        </p:spPr>
        <p:txBody>
          <a:bodyPr wrap="square" lIns="0" tIns="0" rIns="0" bIns="0" rtlCol="0" anchor="ctr"/>
          <a:lstStyle/>
          <a:p>
            <a:pPr indent="0" marL="0">
              <a:buNone/>
            </a:pPr>
            <a:r>
              <a:rPr lang="en-US" sz="1100" b="1" dirty="0">
                <a:solidFill>
                  <a:srgbClr val="F0ECE3"/>
                </a:solidFill>
                <a:latin typeface="Calibri" pitchFamily="34" charset="0"/>
                <a:ea typeface="Calibri" pitchFamily="34" charset="-122"/>
                <a:cs typeface="Calibri" pitchFamily="34" charset="-120"/>
              </a:rPr>
              <a:t>Conformité RGPD</a:t>
            </a:r>
            <a:endParaRPr lang="en-US" sz="1100" dirty="0"/>
          </a:p>
        </p:txBody>
      </p:sp>
      <p:sp>
        <p:nvSpPr>
          <p:cNvPr id="30" name="Text 28"/>
          <p:cNvSpPr/>
          <p:nvPr/>
        </p:nvSpPr>
        <p:spPr>
          <a:xfrm>
            <a:off x="4919472" y="3319272"/>
            <a:ext cx="3749040" cy="411480"/>
          </a:xfrm>
          <a:prstGeom prst="rect">
            <a:avLst/>
          </a:prstGeom>
          <a:noFill/>
          <a:ln/>
        </p:spPr>
        <p:txBody>
          <a:bodyPr wrap="square" lIns="0" tIns="0" rIns="0" bIns="0" rtlCol="0" anchor="ctr"/>
          <a:lstStyle/>
          <a:p>
            <a:pPr indent="0" marL="0">
              <a:lnSpc>
                <a:spcPct val="110000"/>
              </a:lnSpc>
              <a:buNone/>
            </a:pPr>
            <a:r>
              <a:rPr lang="en-US" sz="1000" dirty="0">
                <a:solidFill>
                  <a:srgbClr val="7A7570"/>
                </a:solidFill>
                <a:latin typeface="Calibri" pitchFamily="34" charset="0"/>
                <a:ea typeface="Calibri" pitchFamily="34" charset="-122"/>
                <a:cs typeface="Calibri" pitchFamily="34" charset="-120"/>
              </a:rPr>
              <a:t>Données stockées en Europe. Conforme à la législation européenne.</a:t>
            </a:r>
            <a:endParaRPr lang="en-US" sz="1000" dirty="0"/>
          </a:p>
        </p:txBody>
      </p:sp>
      <p:sp>
        <p:nvSpPr>
          <p:cNvPr id="31" name="Text 29"/>
          <p:cNvSpPr/>
          <p:nvPr/>
        </p:nvSpPr>
        <p:spPr>
          <a:xfrm>
            <a:off x="4434840" y="3913632"/>
            <a:ext cx="411480" cy="411480"/>
          </a:xfrm>
          <a:prstGeom prst="rect">
            <a:avLst/>
          </a:prstGeom>
          <a:noFill/>
          <a:ln/>
        </p:spPr>
        <p:txBody>
          <a:bodyPr wrap="square" lIns="0" tIns="0" rIns="0" bIns="0" rtlCol="0" anchor="ctr"/>
          <a:lstStyle/>
          <a:p>
            <a:pPr algn="ctr" indent="0" marL="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32" name="Text 30"/>
          <p:cNvSpPr/>
          <p:nvPr/>
        </p:nvSpPr>
        <p:spPr>
          <a:xfrm>
            <a:off x="4919472" y="3895344"/>
            <a:ext cx="3749040" cy="274320"/>
          </a:xfrm>
          <a:prstGeom prst="rect">
            <a:avLst/>
          </a:prstGeom>
          <a:noFill/>
          <a:ln/>
        </p:spPr>
        <p:txBody>
          <a:bodyPr wrap="square" lIns="0" tIns="0" rIns="0" bIns="0" rtlCol="0" anchor="ctr"/>
          <a:lstStyle/>
          <a:p>
            <a:pPr indent="0" marL="0">
              <a:buNone/>
            </a:pPr>
            <a:r>
              <a:rPr lang="en-US" sz="1100" b="1" dirty="0">
                <a:solidFill>
                  <a:srgbClr val="F0ECE3"/>
                </a:solidFill>
                <a:latin typeface="Calibri" pitchFamily="34" charset="0"/>
                <a:ea typeface="Calibri" pitchFamily="34" charset="-122"/>
                <a:cs typeface="Calibri" pitchFamily="34" charset="-120"/>
              </a:rPr>
              <a:t>Support dédié en français</a:t>
            </a:r>
            <a:endParaRPr lang="en-US" sz="1100" dirty="0"/>
          </a:p>
        </p:txBody>
      </p:sp>
      <p:sp>
        <p:nvSpPr>
          <p:cNvPr id="33" name="Text 31"/>
          <p:cNvSpPr/>
          <p:nvPr/>
        </p:nvSpPr>
        <p:spPr>
          <a:xfrm>
            <a:off x="4919472" y="4160520"/>
            <a:ext cx="3749040" cy="411480"/>
          </a:xfrm>
          <a:prstGeom prst="rect">
            <a:avLst/>
          </a:prstGeom>
          <a:noFill/>
          <a:ln/>
        </p:spPr>
        <p:txBody>
          <a:bodyPr wrap="square" lIns="0" tIns="0" rIns="0" bIns="0" rtlCol="0" anchor="ctr"/>
          <a:lstStyle/>
          <a:p>
            <a:pPr indent="0" marL="0">
              <a:lnSpc>
                <a:spcPct val="110000"/>
              </a:lnSpc>
              <a:buNone/>
            </a:pPr>
            <a:r>
              <a:rPr lang="en-US" sz="1000" dirty="0">
                <a:solidFill>
                  <a:srgbClr val="7A7570"/>
                </a:solidFill>
                <a:latin typeface="Calibri" pitchFamily="34" charset="0"/>
                <a:ea typeface="Calibri" pitchFamily="34" charset="-122"/>
                <a:cs typeface="Calibri" pitchFamily="34" charset="-120"/>
              </a:rPr>
              <a:t>Réponse en moins de 24h. En français. Toujours.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sp>
      <p:sp>
        <p:nvSpPr>
          <p:cNvPr id="3" name="Text 1"/>
          <p:cNvSpPr/>
          <p:nvPr/>
        </p:nvSpPr>
        <p:spPr>
          <a:xfrm>
            <a:off x="548640" y="228600"/>
            <a:ext cx="5486400" cy="274320"/>
          </a:xfrm>
          <a:prstGeom prst="rect">
            <a:avLst/>
          </a:prstGeom>
          <a:noFill/>
          <a:ln/>
        </p:spPr>
        <p:txBody>
          <a:bodyPr wrap="square" lIns="0" tIns="0" rIns="0" bIns="0" rtlCol="0" anchor="ctr"/>
          <a:lstStyle/>
          <a:p>
            <a:pPr indent="0" marL="0">
              <a:buNone/>
            </a:pPr>
            <a:r>
              <a:rPr lang="en-US" sz="900" spc="300" kern="0" dirty="0">
                <a:solidFill>
                  <a:srgbClr val="C9A84C"/>
                </a:solidFill>
                <a:latin typeface="Consolas" pitchFamily="34" charset="0"/>
                <a:ea typeface="Consolas" pitchFamily="34" charset="-122"/>
                <a:cs typeface="Consolas" pitchFamily="34" charset="-120"/>
              </a:rPr>
              <a:t>COMMENT ÇA MARCHE</a:t>
            </a:r>
            <a:endParaRPr lang="en-US" sz="900" dirty="0"/>
          </a:p>
        </p:txBody>
      </p:sp>
      <p:sp>
        <p:nvSpPr>
          <p:cNvPr id="4" name="Text 2"/>
          <p:cNvSpPr/>
          <p:nvPr/>
        </p:nvSpPr>
        <p:spPr>
          <a:xfrm>
            <a:off x="548640" y="457200"/>
            <a:ext cx="6400800" cy="914400"/>
          </a:xfrm>
          <a:prstGeom prst="rect">
            <a:avLst/>
          </a:prstGeom>
          <a:noFill/>
          <a:ln/>
        </p:spPr>
        <p:txBody>
          <a:bodyPr wrap="square" lIns="0" tIns="0" rIns="0" bIns="0" rtlCol="0" anchor="ctr"/>
          <a:lstStyle/>
          <a:p>
            <a:pPr algn="l" indent="0" marL="0">
              <a:buNone/>
            </a:pPr>
            <a:r>
              <a:rPr lang="en-US" sz="4000" b="1" spc="300" kern="0" dirty="0">
                <a:solidFill>
                  <a:srgbClr val="F0ECE3"/>
                </a:solidFill>
                <a:latin typeface="Arial Black" pitchFamily="34" charset="0"/>
                <a:ea typeface="Arial Black" pitchFamily="34" charset="-122"/>
                <a:cs typeface="Arial Black" pitchFamily="34" charset="-120"/>
              </a:rPr>
              <a:t>3 étapes.</a:t>
            </a:r>
            <a:endParaRPr lang="en-US" sz="4000" dirty="0"/>
          </a:p>
          <a:p>
            <a:pPr algn="l" indent="0" marL="0">
              <a:buNone/>
            </a:pPr>
            <a:r>
              <a:rPr lang="en-US" sz="4000" b="1" spc="300" kern="0" dirty="0">
                <a:solidFill>
                  <a:srgbClr val="F0ECE3"/>
                </a:solidFill>
                <a:latin typeface="Arial Black" pitchFamily="34" charset="0"/>
                <a:ea typeface="Arial Black" pitchFamily="34" charset="-122"/>
                <a:cs typeface="Arial Black" pitchFamily="34" charset="-120"/>
              </a:rPr>
              <a:t>En 10 minutes.</a:t>
            </a:r>
            <a:endParaRPr lang="en-US" sz="4000" dirty="0"/>
          </a:p>
        </p:txBody>
      </p:sp>
      <p:sp>
        <p:nvSpPr>
          <p:cNvPr id="5" name="Shape 3"/>
          <p:cNvSpPr/>
          <p:nvPr/>
        </p:nvSpPr>
        <p:spPr>
          <a:xfrm>
            <a:off x="457200" y="1554480"/>
            <a:ext cx="2743200" cy="3337560"/>
          </a:xfrm>
          <a:prstGeom prst="rect">
            <a:avLst/>
          </a:prstGeom>
          <a:solidFill>
            <a:srgbClr val="0A0A0A"/>
          </a:solidFill>
          <a:ln w="12700">
            <a:solidFill>
              <a:srgbClr val="C9A84C"/>
            </a:solidFill>
            <a:prstDash val="solid"/>
          </a:ln>
        </p:spPr>
      </p:sp>
      <p:sp>
        <p:nvSpPr>
          <p:cNvPr id="6" name="Shape 4"/>
          <p:cNvSpPr/>
          <p:nvPr/>
        </p:nvSpPr>
        <p:spPr>
          <a:xfrm>
            <a:off x="457200" y="1554480"/>
            <a:ext cx="2743200" cy="73152"/>
          </a:xfrm>
          <a:prstGeom prst="rect">
            <a:avLst/>
          </a:prstGeom>
          <a:solidFill>
            <a:srgbClr val="C9A84C"/>
          </a:solidFill>
          <a:ln w="12700">
            <a:solidFill>
              <a:srgbClr val="C9A84C"/>
            </a:solidFill>
            <a:prstDash val="solid"/>
          </a:ln>
        </p:spPr>
      </p:sp>
      <p:sp>
        <p:nvSpPr>
          <p:cNvPr id="7" name="Text 5"/>
          <p:cNvSpPr/>
          <p:nvPr/>
        </p:nvSpPr>
        <p:spPr>
          <a:xfrm>
            <a:off x="594360" y="1691640"/>
            <a:ext cx="2468880" cy="822960"/>
          </a:xfrm>
          <a:prstGeom prst="rect">
            <a:avLst/>
          </a:prstGeom>
          <a:noFill/>
          <a:ln/>
        </p:spPr>
        <p:txBody>
          <a:bodyPr wrap="square" lIns="0" tIns="0" rIns="0" bIns="0" rtlCol="0" anchor="ctr"/>
          <a:lstStyle/>
          <a:p>
            <a:pPr indent="0" marL="0">
              <a:buNone/>
            </a:pPr>
            <a:r>
              <a:rPr lang="en-US" sz="5200" b="1" spc="400" kern="0" dirty="0">
                <a:solidFill>
                  <a:srgbClr val="C9A84C"/>
                </a:solidFill>
                <a:latin typeface="Arial Black" pitchFamily="34" charset="0"/>
                <a:ea typeface="Arial Black" pitchFamily="34" charset="-122"/>
                <a:cs typeface="Arial Black" pitchFamily="34" charset="-120"/>
              </a:rPr>
              <a:t>01</a:t>
            </a:r>
            <a:endParaRPr lang="en-US" sz="5200" dirty="0"/>
          </a:p>
        </p:txBody>
      </p:sp>
      <p:sp>
        <p:nvSpPr>
          <p:cNvPr id="8" name="Text 6"/>
          <p:cNvSpPr/>
          <p:nvPr/>
        </p:nvSpPr>
        <p:spPr>
          <a:xfrm>
            <a:off x="640080" y="2560320"/>
            <a:ext cx="2377440" cy="594360"/>
          </a:xfrm>
          <a:prstGeom prst="rect">
            <a:avLst/>
          </a:prstGeom>
          <a:noFill/>
          <a:ln/>
        </p:spPr>
        <p:txBody>
          <a:bodyPr wrap="square" lIns="0" tIns="0" rIns="0" bIns="0" rtlCol="0" anchor="ctr"/>
          <a:lstStyle/>
          <a:p>
            <a:pPr indent="0" marL="0">
              <a:lnSpc>
                <a:spcPct val="120000"/>
              </a:lnSpc>
              <a:buNone/>
            </a:pPr>
            <a:r>
              <a:rPr lang="en-US" sz="1300" b="1" dirty="0">
                <a:solidFill>
                  <a:srgbClr val="F0ECE3"/>
                </a:solidFill>
                <a:latin typeface="Arial Black" pitchFamily="34" charset="0"/>
                <a:ea typeface="Arial Black" pitchFamily="34" charset="-122"/>
                <a:cs typeface="Arial Black" pitchFamily="34" charset="-120"/>
              </a:rPr>
              <a:t>Créez votre compte</a:t>
            </a:r>
            <a:endParaRPr lang="en-US" sz="1300" dirty="0"/>
          </a:p>
        </p:txBody>
      </p:sp>
      <p:sp>
        <p:nvSpPr>
          <p:cNvPr id="9" name="Text 7"/>
          <p:cNvSpPr/>
          <p:nvPr/>
        </p:nvSpPr>
        <p:spPr>
          <a:xfrm>
            <a:off x="640080" y="3218688"/>
            <a:ext cx="2377440" cy="1280160"/>
          </a:xfrm>
          <a:prstGeom prst="rect">
            <a:avLst/>
          </a:prstGeom>
          <a:noFill/>
          <a:ln/>
        </p:spPr>
        <p:txBody>
          <a:bodyPr wrap="square" lIns="0" tIns="0" rIns="0" bIns="0" rtlCol="0" anchor="ctr"/>
          <a:lstStyle/>
          <a:p>
            <a:pPr indent="0" marL="0">
              <a:lnSpc>
                <a:spcPct val="140000"/>
              </a:lnSpc>
              <a:buNone/>
            </a:pPr>
            <a:r>
              <a:rPr lang="en-US" sz="1150" dirty="0">
                <a:solidFill>
                  <a:srgbClr val="7A7570"/>
                </a:solidFill>
                <a:latin typeface="Calibri" pitchFamily="34" charset="0"/>
                <a:ea typeface="Calibri" pitchFamily="34" charset="-122"/>
                <a:cs typeface="Calibri" pitchFamily="34" charset="-120"/>
              </a:rPr>
              <a:t>Inscription en 2 minutes.</a:t>
            </a:r>
            <a:endParaRPr lang="en-US" sz="1150" dirty="0"/>
          </a:p>
          <a:p>
            <a:pPr indent="0" marL="0">
              <a:lnSpc>
                <a:spcPct val="140000"/>
              </a:lnSpc>
              <a:buNone/>
            </a:pPr>
            <a:r>
              <a:rPr lang="en-US" sz="1150" dirty="0">
                <a:solidFill>
                  <a:srgbClr val="7A7570"/>
                </a:solidFill>
                <a:latin typeface="Calibri" pitchFamily="34" charset="0"/>
                <a:ea typeface="Calibri" pitchFamily="34" charset="-122"/>
                <a:cs typeface="Calibri" pitchFamily="34" charset="-120"/>
              </a:rPr>
              <a:t>Nom du club, email, c'est fait.</a:t>
            </a:r>
            <a:endParaRPr lang="en-US" sz="1150" dirty="0"/>
          </a:p>
          <a:p>
            <a:pPr indent="0" marL="0">
              <a:lnSpc>
                <a:spcPct val="140000"/>
              </a:lnSpc>
              <a:buNone/>
            </a:pPr>
            <a:r>
              <a:rPr lang="en-US" sz="1150" dirty="0">
                <a:solidFill>
                  <a:srgbClr val="7A7570"/>
                </a:solidFill>
                <a:latin typeface="Calibri" pitchFamily="34" charset="0"/>
                <a:ea typeface="Calibri" pitchFamily="34" charset="-122"/>
                <a:cs typeface="Calibri" pitchFamily="34" charset="-120"/>
              </a:rPr>
              <a:t>Sans carte de crédit.</a:t>
            </a:r>
            <a:endParaRPr lang="en-US" sz="1150" dirty="0"/>
          </a:p>
        </p:txBody>
      </p:sp>
      <p:sp>
        <p:nvSpPr>
          <p:cNvPr id="10" name="Text 8"/>
          <p:cNvSpPr/>
          <p:nvPr/>
        </p:nvSpPr>
        <p:spPr>
          <a:xfrm>
            <a:off x="3246120" y="2560320"/>
            <a:ext cx="457200" cy="457200"/>
          </a:xfrm>
          <a:prstGeom prst="rect">
            <a:avLst/>
          </a:prstGeom>
          <a:noFill/>
          <a:ln/>
        </p:spPr>
        <p:txBody>
          <a:bodyPr wrap="square" lIns="0" tIns="0" rIns="0" bIns="0" rtlCol="0" anchor="ctr"/>
          <a:lstStyle/>
          <a:p>
            <a:pPr algn="ctr" indent="0" marL="0">
              <a:buNone/>
            </a:pPr>
            <a:r>
              <a:rPr lang="en-US" sz="1800" dirty="0">
                <a:solidFill>
                  <a:srgbClr val="C9A84C"/>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3310128" y="1554480"/>
            <a:ext cx="2743200" cy="3337560"/>
          </a:xfrm>
          <a:prstGeom prst="rect">
            <a:avLst/>
          </a:prstGeom>
          <a:solidFill>
            <a:srgbClr val="0A0A0A"/>
          </a:solidFill>
          <a:ln w="12700">
            <a:solidFill>
              <a:srgbClr val="3ECF8E"/>
            </a:solidFill>
            <a:prstDash val="solid"/>
          </a:ln>
        </p:spPr>
      </p:sp>
      <p:sp>
        <p:nvSpPr>
          <p:cNvPr id="12" name="Shape 10"/>
          <p:cNvSpPr/>
          <p:nvPr/>
        </p:nvSpPr>
        <p:spPr>
          <a:xfrm>
            <a:off x="3310128" y="1554480"/>
            <a:ext cx="2743200" cy="73152"/>
          </a:xfrm>
          <a:prstGeom prst="rect">
            <a:avLst/>
          </a:prstGeom>
          <a:solidFill>
            <a:srgbClr val="3ECF8E"/>
          </a:solidFill>
          <a:ln w="12700">
            <a:solidFill>
              <a:srgbClr val="3ECF8E"/>
            </a:solidFill>
            <a:prstDash val="solid"/>
          </a:ln>
        </p:spPr>
      </p:sp>
      <p:sp>
        <p:nvSpPr>
          <p:cNvPr id="13" name="Text 11"/>
          <p:cNvSpPr/>
          <p:nvPr/>
        </p:nvSpPr>
        <p:spPr>
          <a:xfrm>
            <a:off x="3447288" y="1691640"/>
            <a:ext cx="2468880" cy="822960"/>
          </a:xfrm>
          <a:prstGeom prst="rect">
            <a:avLst/>
          </a:prstGeom>
          <a:noFill/>
          <a:ln/>
        </p:spPr>
        <p:txBody>
          <a:bodyPr wrap="square" lIns="0" tIns="0" rIns="0" bIns="0" rtlCol="0" anchor="ctr"/>
          <a:lstStyle/>
          <a:p>
            <a:pPr indent="0" marL="0">
              <a:buNone/>
            </a:pPr>
            <a:r>
              <a:rPr lang="en-US" sz="5200" b="1" spc="400" kern="0" dirty="0">
                <a:solidFill>
                  <a:srgbClr val="3ECF8E"/>
                </a:solidFill>
                <a:latin typeface="Arial Black" pitchFamily="34" charset="0"/>
                <a:ea typeface="Arial Black" pitchFamily="34" charset="-122"/>
                <a:cs typeface="Arial Black" pitchFamily="34" charset="-120"/>
              </a:rPr>
              <a:t>02</a:t>
            </a:r>
            <a:endParaRPr lang="en-US" sz="5200" dirty="0"/>
          </a:p>
        </p:txBody>
      </p:sp>
      <p:sp>
        <p:nvSpPr>
          <p:cNvPr id="14" name="Text 12"/>
          <p:cNvSpPr/>
          <p:nvPr/>
        </p:nvSpPr>
        <p:spPr>
          <a:xfrm>
            <a:off x="3493008" y="2560320"/>
            <a:ext cx="2377440" cy="594360"/>
          </a:xfrm>
          <a:prstGeom prst="rect">
            <a:avLst/>
          </a:prstGeom>
          <a:noFill/>
          <a:ln/>
        </p:spPr>
        <p:txBody>
          <a:bodyPr wrap="square" lIns="0" tIns="0" rIns="0" bIns="0" rtlCol="0" anchor="ctr"/>
          <a:lstStyle/>
          <a:p>
            <a:pPr indent="0" marL="0">
              <a:lnSpc>
                <a:spcPct val="120000"/>
              </a:lnSpc>
              <a:buNone/>
            </a:pPr>
            <a:r>
              <a:rPr lang="en-US" sz="1300" b="1" dirty="0">
                <a:solidFill>
                  <a:srgbClr val="F0ECE3"/>
                </a:solidFill>
                <a:latin typeface="Arial Black" pitchFamily="34" charset="0"/>
                <a:ea typeface="Arial Black" pitchFamily="34" charset="-122"/>
                <a:cs typeface="Arial Black" pitchFamily="34" charset="-120"/>
              </a:rPr>
              <a:t>Configurez votre premier événement</a:t>
            </a:r>
            <a:endParaRPr lang="en-US" sz="1300" dirty="0"/>
          </a:p>
        </p:txBody>
      </p:sp>
      <p:sp>
        <p:nvSpPr>
          <p:cNvPr id="15" name="Text 13"/>
          <p:cNvSpPr/>
          <p:nvPr/>
        </p:nvSpPr>
        <p:spPr>
          <a:xfrm>
            <a:off x="3493008" y="3218688"/>
            <a:ext cx="2377440" cy="1280160"/>
          </a:xfrm>
          <a:prstGeom prst="rect">
            <a:avLst/>
          </a:prstGeom>
          <a:noFill/>
          <a:ln/>
        </p:spPr>
        <p:txBody>
          <a:bodyPr wrap="square" lIns="0" tIns="0" rIns="0" bIns="0" rtlCol="0" anchor="ctr"/>
          <a:lstStyle/>
          <a:p>
            <a:pPr indent="0" marL="0">
              <a:lnSpc>
                <a:spcPct val="140000"/>
              </a:lnSpc>
              <a:buNone/>
            </a:pPr>
            <a:r>
              <a:rPr lang="en-US" sz="1150" dirty="0">
                <a:solidFill>
                  <a:srgbClr val="7A7570"/>
                </a:solidFill>
                <a:latin typeface="Calibri" pitchFamily="34" charset="0"/>
                <a:ea typeface="Calibri" pitchFamily="34" charset="-122"/>
                <a:cs typeface="Calibri" pitchFamily="34" charset="-120"/>
              </a:rPr>
              <a:t>Nom, DJ, date, prix.</a:t>
            </a:r>
            <a:endParaRPr lang="en-US" sz="1150" dirty="0"/>
          </a:p>
          <a:p>
            <a:pPr indent="0" marL="0">
              <a:lnSpc>
                <a:spcPct val="140000"/>
              </a:lnSpc>
              <a:buNone/>
            </a:pPr>
            <a:r>
              <a:rPr lang="en-US" sz="1150" dirty="0">
                <a:solidFill>
                  <a:srgbClr val="7A7570"/>
                </a:solidFill>
                <a:latin typeface="Calibri" pitchFamily="34" charset="0"/>
                <a:ea typeface="Calibri" pitchFamily="34" charset="-122"/>
                <a:cs typeface="Calibri" pitchFamily="34" charset="-120"/>
              </a:rPr>
              <a:t>Ajoutez vos photos.</a:t>
            </a:r>
            <a:endParaRPr lang="en-US" sz="1150" dirty="0"/>
          </a:p>
          <a:p>
            <a:pPr indent="0" marL="0">
              <a:lnSpc>
                <a:spcPct val="140000"/>
              </a:lnSpc>
              <a:buNone/>
            </a:pPr>
            <a:r>
              <a:rPr lang="en-US" sz="1150" dirty="0">
                <a:solidFill>
                  <a:srgbClr val="7A7570"/>
                </a:solidFill>
                <a:latin typeface="Calibri" pitchFamily="34" charset="0"/>
                <a:ea typeface="Calibri" pitchFamily="34" charset="-122"/>
                <a:cs typeface="Calibri" pitchFamily="34" charset="-120"/>
              </a:rPr>
              <a:t>Publié en quelques secondes.</a:t>
            </a:r>
            <a:endParaRPr lang="en-US" sz="1150" dirty="0"/>
          </a:p>
        </p:txBody>
      </p:sp>
      <p:sp>
        <p:nvSpPr>
          <p:cNvPr id="16" name="Text 14"/>
          <p:cNvSpPr/>
          <p:nvPr/>
        </p:nvSpPr>
        <p:spPr>
          <a:xfrm>
            <a:off x="6099048" y="2560320"/>
            <a:ext cx="457200" cy="457200"/>
          </a:xfrm>
          <a:prstGeom prst="rect">
            <a:avLst/>
          </a:prstGeom>
          <a:noFill/>
          <a:ln/>
        </p:spPr>
        <p:txBody>
          <a:bodyPr wrap="square" lIns="0" tIns="0" rIns="0" bIns="0" rtlCol="0" anchor="ctr"/>
          <a:lstStyle/>
          <a:p>
            <a:pPr algn="ctr" indent="0" marL="0">
              <a:buNone/>
            </a:pPr>
            <a:r>
              <a:rPr lang="en-US" sz="1800" dirty="0">
                <a:solidFill>
                  <a:srgbClr val="3ECF8E"/>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6163056" y="1554480"/>
            <a:ext cx="2743200" cy="3337560"/>
          </a:xfrm>
          <a:prstGeom prst="rect">
            <a:avLst/>
          </a:prstGeom>
          <a:solidFill>
            <a:srgbClr val="0A0A0A"/>
          </a:solidFill>
          <a:ln w="12700">
            <a:solidFill>
              <a:srgbClr val="5B9CF6"/>
            </a:solidFill>
            <a:prstDash val="solid"/>
          </a:ln>
        </p:spPr>
      </p:sp>
      <p:sp>
        <p:nvSpPr>
          <p:cNvPr id="18" name="Shape 16"/>
          <p:cNvSpPr/>
          <p:nvPr/>
        </p:nvSpPr>
        <p:spPr>
          <a:xfrm>
            <a:off x="6163056" y="1554480"/>
            <a:ext cx="2743200" cy="73152"/>
          </a:xfrm>
          <a:prstGeom prst="rect">
            <a:avLst/>
          </a:prstGeom>
          <a:solidFill>
            <a:srgbClr val="5B9CF6"/>
          </a:solidFill>
          <a:ln w="12700">
            <a:solidFill>
              <a:srgbClr val="5B9CF6"/>
            </a:solidFill>
            <a:prstDash val="solid"/>
          </a:ln>
        </p:spPr>
      </p:sp>
      <p:sp>
        <p:nvSpPr>
          <p:cNvPr id="19" name="Text 17"/>
          <p:cNvSpPr/>
          <p:nvPr/>
        </p:nvSpPr>
        <p:spPr>
          <a:xfrm>
            <a:off x="6300216" y="1691640"/>
            <a:ext cx="2468880" cy="822960"/>
          </a:xfrm>
          <a:prstGeom prst="rect">
            <a:avLst/>
          </a:prstGeom>
          <a:noFill/>
          <a:ln/>
        </p:spPr>
        <p:txBody>
          <a:bodyPr wrap="square" lIns="0" tIns="0" rIns="0" bIns="0" rtlCol="0" anchor="ctr"/>
          <a:lstStyle/>
          <a:p>
            <a:pPr indent="0" marL="0">
              <a:buNone/>
            </a:pPr>
            <a:r>
              <a:rPr lang="en-US" sz="5200" b="1" spc="400" kern="0" dirty="0">
                <a:solidFill>
                  <a:srgbClr val="5B9CF6"/>
                </a:solidFill>
                <a:latin typeface="Arial Black" pitchFamily="34" charset="0"/>
                <a:ea typeface="Arial Black" pitchFamily="34" charset="-122"/>
                <a:cs typeface="Arial Black" pitchFamily="34" charset="-120"/>
              </a:rPr>
              <a:t>03</a:t>
            </a:r>
            <a:endParaRPr lang="en-US" sz="5200" dirty="0"/>
          </a:p>
        </p:txBody>
      </p:sp>
      <p:sp>
        <p:nvSpPr>
          <p:cNvPr id="20" name="Text 18"/>
          <p:cNvSpPr/>
          <p:nvPr/>
        </p:nvSpPr>
        <p:spPr>
          <a:xfrm>
            <a:off x="6345936" y="2560320"/>
            <a:ext cx="2377440" cy="594360"/>
          </a:xfrm>
          <a:prstGeom prst="rect">
            <a:avLst/>
          </a:prstGeom>
          <a:noFill/>
          <a:ln/>
        </p:spPr>
        <p:txBody>
          <a:bodyPr wrap="square" lIns="0" tIns="0" rIns="0" bIns="0" rtlCol="0" anchor="ctr"/>
          <a:lstStyle/>
          <a:p>
            <a:pPr indent="0" marL="0">
              <a:lnSpc>
                <a:spcPct val="120000"/>
              </a:lnSpc>
              <a:buNone/>
            </a:pPr>
            <a:r>
              <a:rPr lang="en-US" sz="1300" b="1" dirty="0">
                <a:solidFill>
                  <a:srgbClr val="F0ECE3"/>
                </a:solidFill>
                <a:latin typeface="Arial Black" pitchFamily="34" charset="0"/>
                <a:ea typeface="Arial Black" pitchFamily="34" charset="-122"/>
                <a:cs typeface="Arial Black" pitchFamily="34" charset="-120"/>
              </a:rPr>
              <a:t>Commencez à vendre</a:t>
            </a:r>
            <a:endParaRPr lang="en-US" sz="1300" dirty="0"/>
          </a:p>
        </p:txBody>
      </p:sp>
      <p:sp>
        <p:nvSpPr>
          <p:cNvPr id="21" name="Text 19"/>
          <p:cNvSpPr/>
          <p:nvPr/>
        </p:nvSpPr>
        <p:spPr>
          <a:xfrm>
            <a:off x="6345936" y="3218688"/>
            <a:ext cx="2377440" cy="1280160"/>
          </a:xfrm>
          <a:prstGeom prst="rect">
            <a:avLst/>
          </a:prstGeom>
          <a:noFill/>
          <a:ln/>
        </p:spPr>
        <p:txBody>
          <a:bodyPr wrap="square" lIns="0" tIns="0" rIns="0" bIns="0" rtlCol="0" anchor="ctr"/>
          <a:lstStyle/>
          <a:p>
            <a:pPr indent="0" marL="0">
              <a:lnSpc>
                <a:spcPct val="140000"/>
              </a:lnSpc>
              <a:buNone/>
            </a:pPr>
            <a:r>
              <a:rPr lang="en-US" sz="1150" dirty="0">
                <a:solidFill>
                  <a:srgbClr val="7A7570"/>
                </a:solidFill>
                <a:latin typeface="Calibri" pitchFamily="34" charset="0"/>
                <a:ea typeface="Calibri" pitchFamily="34" charset="-122"/>
                <a:cs typeface="Calibri" pitchFamily="34" charset="-120"/>
              </a:rPr>
              <a:t>Partagez le lien.</a:t>
            </a:r>
            <a:endParaRPr lang="en-US" sz="1150" dirty="0"/>
          </a:p>
          <a:p>
            <a:pPr indent="0" marL="0">
              <a:lnSpc>
                <a:spcPct val="140000"/>
              </a:lnSpc>
              <a:buNone/>
            </a:pPr>
            <a:r>
              <a:rPr lang="en-US" sz="1150" dirty="0">
                <a:solidFill>
                  <a:srgbClr val="7A7570"/>
                </a:solidFill>
                <a:latin typeface="Calibri" pitchFamily="34" charset="0"/>
                <a:ea typeface="Calibri" pitchFamily="34" charset="-122"/>
                <a:cs typeface="Calibri" pitchFamily="34" charset="-120"/>
              </a:rPr>
              <a:t>Vos clients achètent.</a:t>
            </a:r>
            <a:endParaRPr lang="en-US" sz="1150" dirty="0"/>
          </a:p>
          <a:p>
            <a:pPr indent="0" marL="0">
              <a:lnSpc>
                <a:spcPct val="140000"/>
              </a:lnSpc>
              <a:buNone/>
            </a:pPr>
            <a:r>
              <a:rPr lang="en-US" sz="1150" dirty="0">
                <a:solidFill>
                  <a:srgbClr val="7A7570"/>
                </a:solidFill>
                <a:latin typeface="Calibri" pitchFamily="34" charset="0"/>
                <a:ea typeface="Calibri" pitchFamily="34" charset="-122"/>
                <a:cs typeface="Calibri" pitchFamily="34" charset="-120"/>
              </a:rPr>
              <a:t>Vous encaissez. Sans intermédiaires.</a:t>
            </a:r>
            <a:endParaRPr lang="en-US" sz="1150" dirty="0"/>
          </a:p>
        </p:txBody>
      </p:sp>
      <p:sp>
        <p:nvSpPr>
          <p:cNvPr id="22" name="Shape 20"/>
          <p:cNvSpPr/>
          <p:nvPr/>
        </p:nvSpPr>
        <p:spPr>
          <a:xfrm>
            <a:off x="457200" y="4681728"/>
            <a:ext cx="8229600" cy="320040"/>
          </a:xfrm>
          <a:prstGeom prst="rect">
            <a:avLst/>
          </a:prstGeom>
          <a:solidFill>
            <a:srgbClr val="0A0803"/>
          </a:solidFill>
          <a:ln w="12700">
            <a:solidFill>
              <a:srgbClr val="1A1200"/>
            </a:solidFill>
            <a:prstDash val="solid"/>
          </a:ln>
        </p:spPr>
      </p:sp>
      <p:sp>
        <p:nvSpPr>
          <p:cNvPr id="23" name="Text 21"/>
          <p:cNvSpPr/>
          <p:nvPr/>
        </p:nvSpPr>
        <p:spPr>
          <a:xfrm>
            <a:off x="457200" y="4709160"/>
            <a:ext cx="8229600" cy="256032"/>
          </a:xfrm>
          <a:prstGeom prst="rect">
            <a:avLst/>
          </a:prstGeom>
          <a:noFill/>
          <a:ln/>
        </p:spPr>
        <p:txBody>
          <a:bodyPr wrap="square" lIns="0" tIns="0" rIns="0" bIns="0" rtlCol="0" anchor="ctr"/>
          <a:lstStyle/>
          <a:p>
            <a:pPr algn="ctr" indent="0" marL="0">
              <a:buNone/>
            </a:pPr>
            <a:r>
              <a:rPr lang="en-US" sz="850" spc="100" kern="0" dirty="0">
                <a:solidFill>
                  <a:srgbClr val="C9A84C"/>
                </a:solidFill>
                <a:latin typeface="Consolas" pitchFamily="34" charset="0"/>
                <a:ea typeface="Consolas" pitchFamily="34" charset="-122"/>
                <a:cs typeface="Consolas" pitchFamily="34" charset="-120"/>
              </a:rPr>
              <a:t>Votre premier événement en ligne en moins de 10 minutes  ·  90 jours gratuits  ·  Sans carte bancaire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sp>
      <p:sp>
        <p:nvSpPr>
          <p:cNvPr id="3" name="Shape 1"/>
          <p:cNvSpPr/>
          <p:nvPr/>
        </p:nvSpPr>
        <p:spPr>
          <a:xfrm>
            <a:off x="-1828800" y="-1828800"/>
            <a:ext cx="7315200" cy="7315200"/>
          </a:xfrm>
          <a:prstGeom prst="ellipse">
            <a:avLst/>
          </a:prstGeom>
          <a:solidFill>
            <a:srgbClr val="C9A84C">
              <a:alpha val="8000"/>
            </a:srgbClr>
          </a:solidFill>
          <a:ln w="12700">
            <a:solidFill>
              <a:srgbClr val="C9A84C">
                <a:alpha val="8000"/>
              </a:srgbClr>
            </a:solidFill>
            <a:prstDash val="solid"/>
          </a:ln>
        </p:spPr>
      </p:sp>
      <p:sp>
        <p:nvSpPr>
          <p:cNvPr id="4" name="Text 2"/>
          <p:cNvSpPr/>
          <p:nvPr/>
        </p:nvSpPr>
        <p:spPr>
          <a:xfrm>
            <a:off x="548640" y="228600"/>
            <a:ext cx="3657600" cy="274320"/>
          </a:xfrm>
          <a:prstGeom prst="rect">
            <a:avLst/>
          </a:prstGeom>
          <a:noFill/>
          <a:ln/>
        </p:spPr>
        <p:txBody>
          <a:bodyPr wrap="square" lIns="0" tIns="0" rIns="0" bIns="0" rtlCol="0" anchor="ctr"/>
          <a:lstStyle/>
          <a:p>
            <a:pPr indent="0" marL="0">
              <a:buNone/>
            </a:pPr>
            <a:r>
              <a:rPr lang="en-US" sz="900" spc="300" kern="0" dirty="0">
                <a:solidFill>
                  <a:srgbClr val="C9A84C"/>
                </a:solidFill>
                <a:latin typeface="Consolas" pitchFamily="34" charset="0"/>
                <a:ea typeface="Consolas" pitchFamily="34" charset="-122"/>
                <a:cs typeface="Consolas" pitchFamily="34" charset="-120"/>
              </a:rPr>
              <a:t>L'OFFRE</a:t>
            </a:r>
            <a:endParaRPr lang="en-US" sz="900" dirty="0"/>
          </a:p>
        </p:txBody>
      </p:sp>
      <p:sp>
        <p:nvSpPr>
          <p:cNvPr id="5" name="Text 3"/>
          <p:cNvSpPr/>
          <p:nvPr/>
        </p:nvSpPr>
        <p:spPr>
          <a:xfrm>
            <a:off x="548640" y="457200"/>
            <a:ext cx="7315200" cy="1005840"/>
          </a:xfrm>
          <a:prstGeom prst="rect">
            <a:avLst/>
          </a:prstGeom>
          <a:noFill/>
          <a:ln/>
        </p:spPr>
        <p:txBody>
          <a:bodyPr wrap="square" lIns="0" tIns="0" rIns="0" bIns="0" rtlCol="0" anchor="ctr"/>
          <a:lstStyle/>
          <a:p>
            <a:pPr algn="l" indent="0" marL="0">
              <a:buNone/>
            </a:pPr>
            <a:r>
              <a:rPr lang="en-US" sz="4400" b="1" spc="300" kern="0" dirty="0">
                <a:solidFill>
                  <a:srgbClr val="F0ECE3"/>
                </a:solidFill>
                <a:latin typeface="Arial Black" pitchFamily="34" charset="0"/>
                <a:ea typeface="Arial Black" pitchFamily="34" charset="-122"/>
                <a:cs typeface="Arial Black" pitchFamily="34" charset="-120"/>
              </a:rPr>
              <a:t>Commencez</a:t>
            </a:r>
            <a:endParaRPr lang="en-US" sz="4400" dirty="0"/>
          </a:p>
          <a:p>
            <a:pPr algn="l" indent="0" marL="0">
              <a:buNone/>
            </a:pPr>
            <a:r>
              <a:rPr lang="en-US" sz="4400" b="1" spc="300" kern="0" dirty="0">
                <a:solidFill>
                  <a:srgbClr val="F0ECE3"/>
                </a:solidFill>
                <a:latin typeface="Arial Black" pitchFamily="34" charset="0"/>
                <a:ea typeface="Arial Black" pitchFamily="34" charset="-122"/>
                <a:cs typeface="Arial Black" pitchFamily="34" charset="-120"/>
              </a:rPr>
              <a:t>aujourd'hui. Gratuit.</a:t>
            </a:r>
            <a:endParaRPr lang="en-US" sz="4400" dirty="0"/>
          </a:p>
        </p:txBody>
      </p:sp>
      <p:sp>
        <p:nvSpPr>
          <p:cNvPr id="6" name="Shape 4"/>
          <p:cNvSpPr/>
          <p:nvPr/>
        </p:nvSpPr>
        <p:spPr>
          <a:xfrm>
            <a:off x="548640" y="1600200"/>
            <a:ext cx="5029200" cy="3154680"/>
          </a:xfrm>
          <a:prstGeom prst="rect">
            <a:avLst/>
          </a:prstGeom>
          <a:solidFill>
            <a:srgbClr val="0D0A03"/>
          </a:solidFill>
          <a:ln w="25400">
            <a:solidFill>
              <a:srgbClr val="C9A84C"/>
            </a:solidFill>
            <a:prstDash val="solid"/>
          </a:ln>
        </p:spPr>
      </p:sp>
      <p:sp>
        <p:nvSpPr>
          <p:cNvPr id="7" name="Shape 5"/>
          <p:cNvSpPr/>
          <p:nvPr/>
        </p:nvSpPr>
        <p:spPr>
          <a:xfrm>
            <a:off x="731520" y="1783080"/>
            <a:ext cx="73152" cy="457200"/>
          </a:xfrm>
          <a:prstGeom prst="rect">
            <a:avLst/>
          </a:prstGeom>
          <a:solidFill>
            <a:srgbClr val="C9A84C"/>
          </a:solidFill>
          <a:ln w="12700">
            <a:solidFill>
              <a:srgbClr val="C9A84C"/>
            </a:solidFill>
            <a:prstDash val="solid"/>
          </a:ln>
        </p:spPr>
      </p:sp>
      <p:sp>
        <p:nvSpPr>
          <p:cNvPr id="8" name="Text 6"/>
          <p:cNvSpPr/>
          <p:nvPr/>
        </p:nvSpPr>
        <p:spPr>
          <a:xfrm>
            <a:off x="960120" y="1783080"/>
            <a:ext cx="4389120" cy="274320"/>
          </a:xfrm>
          <a:prstGeom prst="rect">
            <a:avLst/>
          </a:prstGeom>
          <a:noFill/>
          <a:ln/>
        </p:spPr>
        <p:txBody>
          <a:bodyPr wrap="square" lIns="0" tIns="0" rIns="0" bIns="0" rtlCol="0" anchor="ctr"/>
          <a:lstStyle/>
          <a:p>
            <a:pPr indent="0" marL="0">
              <a:buNone/>
            </a:pPr>
            <a:r>
              <a:rPr lang="en-US" sz="1500" b="1" dirty="0">
                <a:solidFill>
                  <a:srgbClr val="F0ECE3"/>
                </a:solidFill>
                <a:latin typeface="Calibri" pitchFamily="34" charset="0"/>
                <a:ea typeface="Calibri" pitchFamily="34" charset="-122"/>
                <a:cs typeface="Calibri" pitchFamily="34" charset="-120"/>
              </a:rPr>
              <a:t>90 jours gratuits</a:t>
            </a:r>
            <a:endParaRPr lang="en-US" sz="1500" dirty="0"/>
          </a:p>
        </p:txBody>
      </p:sp>
      <p:sp>
        <p:nvSpPr>
          <p:cNvPr id="9" name="Text 7"/>
          <p:cNvSpPr/>
          <p:nvPr/>
        </p:nvSpPr>
        <p:spPr>
          <a:xfrm>
            <a:off x="960120" y="2048256"/>
            <a:ext cx="4389120" cy="228600"/>
          </a:xfrm>
          <a:prstGeom prst="rect">
            <a:avLst/>
          </a:prstGeom>
          <a:noFill/>
          <a:ln/>
        </p:spPr>
        <p:txBody>
          <a:bodyPr wrap="square" lIns="0" tIns="0" rIns="0" bIns="0" rtlCol="0" anchor="ctr"/>
          <a:lstStyle/>
          <a:p>
            <a:pPr indent="0" marL="0">
              <a:buNone/>
            </a:pPr>
            <a:r>
              <a:rPr lang="en-US" sz="1100" dirty="0">
                <a:solidFill>
                  <a:srgbClr val="7A7570"/>
                </a:solidFill>
                <a:latin typeface="Calibri" pitchFamily="34" charset="0"/>
                <a:ea typeface="Calibri" pitchFamily="34" charset="-122"/>
                <a:cs typeface="Calibri" pitchFamily="34" charset="-120"/>
              </a:rPr>
              <a:t>Sans carte. Sans engagement.</a:t>
            </a:r>
            <a:endParaRPr lang="en-US" sz="1100" dirty="0"/>
          </a:p>
        </p:txBody>
      </p:sp>
      <p:sp>
        <p:nvSpPr>
          <p:cNvPr id="10" name="Shape 8"/>
          <p:cNvSpPr/>
          <p:nvPr/>
        </p:nvSpPr>
        <p:spPr>
          <a:xfrm>
            <a:off x="731520" y="2496312"/>
            <a:ext cx="73152" cy="457200"/>
          </a:xfrm>
          <a:prstGeom prst="rect">
            <a:avLst/>
          </a:prstGeom>
          <a:solidFill>
            <a:srgbClr val="C9A84C"/>
          </a:solidFill>
          <a:ln w="12700">
            <a:solidFill>
              <a:srgbClr val="C9A84C"/>
            </a:solidFill>
            <a:prstDash val="solid"/>
          </a:ln>
        </p:spPr>
      </p:sp>
      <p:sp>
        <p:nvSpPr>
          <p:cNvPr id="11" name="Text 9"/>
          <p:cNvSpPr/>
          <p:nvPr/>
        </p:nvSpPr>
        <p:spPr>
          <a:xfrm>
            <a:off x="960120" y="2496312"/>
            <a:ext cx="4389120" cy="274320"/>
          </a:xfrm>
          <a:prstGeom prst="rect">
            <a:avLst/>
          </a:prstGeom>
          <a:noFill/>
          <a:ln/>
        </p:spPr>
        <p:txBody>
          <a:bodyPr wrap="square" lIns="0" tIns="0" rIns="0" bIns="0" rtlCol="0" anchor="ctr"/>
          <a:lstStyle/>
          <a:p>
            <a:pPr indent="0" marL="0">
              <a:buNone/>
            </a:pPr>
            <a:r>
              <a:rPr lang="en-US" sz="1500" b="1" dirty="0">
                <a:solidFill>
                  <a:srgbClr val="F0ECE3"/>
                </a:solidFill>
                <a:latin typeface="Calibri" pitchFamily="34" charset="0"/>
                <a:ea typeface="Calibri" pitchFamily="34" charset="-122"/>
                <a:cs typeface="Calibri" pitchFamily="34" charset="-120"/>
              </a:rPr>
              <a:t>200€/mois ensuite</a:t>
            </a:r>
            <a:endParaRPr lang="en-US" sz="1500" dirty="0"/>
          </a:p>
        </p:txBody>
      </p:sp>
      <p:sp>
        <p:nvSpPr>
          <p:cNvPr id="12" name="Text 10"/>
          <p:cNvSpPr/>
          <p:nvPr/>
        </p:nvSpPr>
        <p:spPr>
          <a:xfrm>
            <a:off x="960120" y="2761488"/>
            <a:ext cx="4389120" cy="228600"/>
          </a:xfrm>
          <a:prstGeom prst="rect">
            <a:avLst/>
          </a:prstGeom>
          <a:noFill/>
          <a:ln/>
        </p:spPr>
        <p:txBody>
          <a:bodyPr wrap="square" lIns="0" tIns="0" rIns="0" bIns="0" rtlCol="0" anchor="ctr"/>
          <a:lstStyle/>
          <a:p>
            <a:pPr indent="0" marL="0">
              <a:buNone/>
            </a:pPr>
            <a:r>
              <a:rPr lang="en-US" sz="1100" dirty="0">
                <a:solidFill>
                  <a:srgbClr val="7A7570"/>
                </a:solidFill>
                <a:latin typeface="Calibri" pitchFamily="34" charset="0"/>
                <a:ea typeface="Calibri" pitchFamily="34" charset="-122"/>
                <a:cs typeface="Calibri" pitchFamily="34" charset="-120"/>
              </a:rPr>
              <a:t>Tout inclus. Sans commissions.</a:t>
            </a:r>
            <a:endParaRPr lang="en-US" sz="1100" dirty="0"/>
          </a:p>
        </p:txBody>
      </p:sp>
      <p:sp>
        <p:nvSpPr>
          <p:cNvPr id="13" name="Shape 11"/>
          <p:cNvSpPr/>
          <p:nvPr/>
        </p:nvSpPr>
        <p:spPr>
          <a:xfrm>
            <a:off x="731520" y="3209544"/>
            <a:ext cx="73152" cy="457200"/>
          </a:xfrm>
          <a:prstGeom prst="rect">
            <a:avLst/>
          </a:prstGeom>
          <a:solidFill>
            <a:srgbClr val="C9A84C"/>
          </a:solidFill>
          <a:ln w="12700">
            <a:solidFill>
              <a:srgbClr val="C9A84C"/>
            </a:solidFill>
            <a:prstDash val="solid"/>
          </a:ln>
        </p:spPr>
      </p:sp>
      <p:sp>
        <p:nvSpPr>
          <p:cNvPr id="14" name="Text 12"/>
          <p:cNvSpPr/>
          <p:nvPr/>
        </p:nvSpPr>
        <p:spPr>
          <a:xfrm>
            <a:off x="960120" y="3209544"/>
            <a:ext cx="4389120" cy="274320"/>
          </a:xfrm>
          <a:prstGeom prst="rect">
            <a:avLst/>
          </a:prstGeom>
          <a:noFill/>
          <a:ln/>
        </p:spPr>
        <p:txBody>
          <a:bodyPr wrap="square" lIns="0" tIns="0" rIns="0" bIns="0" rtlCol="0" anchor="ctr"/>
          <a:lstStyle/>
          <a:p>
            <a:pPr indent="0" marL="0">
              <a:buNone/>
            </a:pPr>
            <a:r>
              <a:rPr lang="en-US" sz="1500" b="1" dirty="0">
                <a:solidFill>
                  <a:srgbClr val="F0ECE3"/>
                </a:solidFill>
                <a:latin typeface="Calibri" pitchFamily="34" charset="0"/>
                <a:ea typeface="Calibri" pitchFamily="34" charset="-122"/>
                <a:cs typeface="Calibri" pitchFamily="34" charset="-120"/>
              </a:rPr>
              <a:t>0% de commission</a:t>
            </a:r>
            <a:endParaRPr lang="en-US" sz="1500" dirty="0"/>
          </a:p>
        </p:txBody>
      </p:sp>
      <p:sp>
        <p:nvSpPr>
          <p:cNvPr id="15" name="Text 13"/>
          <p:cNvSpPr/>
          <p:nvPr/>
        </p:nvSpPr>
        <p:spPr>
          <a:xfrm>
            <a:off x="960120" y="3474720"/>
            <a:ext cx="4389120" cy="228600"/>
          </a:xfrm>
          <a:prstGeom prst="rect">
            <a:avLst/>
          </a:prstGeom>
          <a:noFill/>
          <a:ln/>
        </p:spPr>
        <p:txBody>
          <a:bodyPr wrap="square" lIns="0" tIns="0" rIns="0" bIns="0" rtlCol="0" anchor="ctr"/>
          <a:lstStyle/>
          <a:p>
            <a:pPr indent="0" marL="0">
              <a:buNone/>
            </a:pPr>
            <a:r>
              <a:rPr lang="en-US" sz="1100" dirty="0">
                <a:solidFill>
                  <a:srgbClr val="7A7570"/>
                </a:solidFill>
                <a:latin typeface="Calibri" pitchFamily="34" charset="0"/>
                <a:ea typeface="Calibri" pitchFamily="34" charset="-122"/>
                <a:cs typeface="Calibri" pitchFamily="34" charset="-120"/>
              </a:rPr>
              <a:t>Toujours. Pour toujours.</a:t>
            </a:r>
            <a:endParaRPr lang="en-US" sz="1100" dirty="0"/>
          </a:p>
        </p:txBody>
      </p:sp>
      <p:sp>
        <p:nvSpPr>
          <p:cNvPr id="16" name="Shape 14"/>
          <p:cNvSpPr/>
          <p:nvPr/>
        </p:nvSpPr>
        <p:spPr>
          <a:xfrm>
            <a:off x="731520" y="3922776"/>
            <a:ext cx="73152" cy="457200"/>
          </a:xfrm>
          <a:prstGeom prst="rect">
            <a:avLst/>
          </a:prstGeom>
          <a:solidFill>
            <a:srgbClr val="C9A84C"/>
          </a:solidFill>
          <a:ln w="12700">
            <a:solidFill>
              <a:srgbClr val="C9A84C"/>
            </a:solidFill>
            <a:prstDash val="solid"/>
          </a:ln>
        </p:spPr>
      </p:sp>
      <p:sp>
        <p:nvSpPr>
          <p:cNvPr id="17" name="Text 15"/>
          <p:cNvSpPr/>
          <p:nvPr/>
        </p:nvSpPr>
        <p:spPr>
          <a:xfrm>
            <a:off x="960120" y="3922776"/>
            <a:ext cx="4389120" cy="274320"/>
          </a:xfrm>
          <a:prstGeom prst="rect">
            <a:avLst/>
          </a:prstGeom>
          <a:noFill/>
          <a:ln/>
        </p:spPr>
        <p:txBody>
          <a:bodyPr wrap="square" lIns="0" tIns="0" rIns="0" bIns="0" rtlCol="0" anchor="ctr"/>
          <a:lstStyle/>
          <a:p>
            <a:pPr indent="0" marL="0">
              <a:buNone/>
            </a:pPr>
            <a:r>
              <a:rPr lang="en-US" sz="1500" b="1" dirty="0">
                <a:solidFill>
                  <a:srgbClr val="F0ECE3"/>
                </a:solidFill>
                <a:latin typeface="Calibri" pitchFamily="34" charset="0"/>
                <a:ea typeface="Calibri" pitchFamily="34" charset="-122"/>
                <a:cs typeface="Calibri" pitchFamily="34" charset="-120"/>
              </a:rPr>
              <a:t>Support en français</a:t>
            </a:r>
            <a:endParaRPr lang="en-US" sz="1500" dirty="0"/>
          </a:p>
        </p:txBody>
      </p:sp>
      <p:sp>
        <p:nvSpPr>
          <p:cNvPr id="18" name="Text 16"/>
          <p:cNvSpPr/>
          <p:nvPr/>
        </p:nvSpPr>
        <p:spPr>
          <a:xfrm>
            <a:off x="960120" y="4187952"/>
            <a:ext cx="4389120" cy="228600"/>
          </a:xfrm>
          <a:prstGeom prst="rect">
            <a:avLst/>
          </a:prstGeom>
          <a:noFill/>
          <a:ln/>
        </p:spPr>
        <p:txBody>
          <a:bodyPr wrap="square" lIns="0" tIns="0" rIns="0" bIns="0" rtlCol="0" anchor="ctr"/>
          <a:lstStyle/>
          <a:p>
            <a:pPr indent="0" marL="0">
              <a:buNone/>
            </a:pPr>
            <a:r>
              <a:rPr lang="en-US" sz="1100" dirty="0">
                <a:solidFill>
                  <a:srgbClr val="7A7570"/>
                </a:solidFill>
                <a:latin typeface="Calibri" pitchFamily="34" charset="0"/>
                <a:ea typeface="Calibri" pitchFamily="34" charset="-122"/>
                <a:cs typeface="Calibri" pitchFamily="34" charset="-120"/>
              </a:rPr>
              <a:t>Réponse en moins de 24h.</a:t>
            </a:r>
            <a:endParaRPr lang="en-US" sz="1100" dirty="0"/>
          </a:p>
        </p:txBody>
      </p:sp>
      <p:sp>
        <p:nvSpPr>
          <p:cNvPr id="19" name="Shape 17"/>
          <p:cNvSpPr/>
          <p:nvPr/>
        </p:nvSpPr>
        <p:spPr>
          <a:xfrm>
            <a:off x="548640" y="4617720"/>
            <a:ext cx="5029200" cy="393192"/>
          </a:xfrm>
          <a:prstGeom prst="rect">
            <a:avLst/>
          </a:prstGeom>
          <a:solidFill>
            <a:srgbClr val="C9A84C"/>
          </a:solidFill>
          <a:ln w="12700">
            <a:solidFill>
              <a:srgbClr val="C9A84C"/>
            </a:solidFill>
            <a:prstDash val="solid"/>
          </a:ln>
        </p:spPr>
      </p:sp>
      <p:sp>
        <p:nvSpPr>
          <p:cNvPr id="20" name="Text 18"/>
          <p:cNvSpPr/>
          <p:nvPr/>
        </p:nvSpPr>
        <p:spPr>
          <a:xfrm>
            <a:off x="548640" y="4645152"/>
            <a:ext cx="5029200" cy="338328"/>
          </a:xfrm>
          <a:prstGeom prst="rect">
            <a:avLst/>
          </a:prstGeom>
          <a:noFill/>
          <a:ln/>
        </p:spPr>
        <p:txBody>
          <a:bodyPr wrap="square" lIns="0" tIns="0" rIns="0" bIns="0" rtlCol="0" anchor="ctr"/>
          <a:lstStyle/>
          <a:p>
            <a:pPr algn="ctr" indent="0" marL="0">
              <a:buNone/>
            </a:pPr>
            <a:r>
              <a:rPr lang="en-US" sz="1200" b="1" spc="100" kern="0" dirty="0">
                <a:solidFill>
                  <a:srgbClr val="080808"/>
                </a:solidFill>
                <a:latin typeface="Consolas" pitchFamily="34" charset="0"/>
                <a:ea typeface="Consolas" pitchFamily="34" charset="-122"/>
                <a:cs typeface="Consolas" pitchFamily="34" charset="-120"/>
              </a:rPr>
              <a:t>→  Créer mon compte gratuit maintenant</a:t>
            </a:r>
            <a:endParaRPr lang="en-US" sz="1200" dirty="0"/>
          </a:p>
        </p:txBody>
      </p:sp>
      <p:sp>
        <p:nvSpPr>
          <p:cNvPr id="21" name="Shape 19"/>
          <p:cNvSpPr/>
          <p:nvPr/>
        </p:nvSpPr>
        <p:spPr>
          <a:xfrm>
            <a:off x="5852160" y="1600200"/>
            <a:ext cx="3017520" cy="3154680"/>
          </a:xfrm>
          <a:prstGeom prst="rect">
            <a:avLst/>
          </a:prstGeom>
          <a:solidFill>
            <a:srgbClr val="050505"/>
          </a:solidFill>
          <a:ln w="12700">
            <a:solidFill>
              <a:srgbClr val="1E1E1E"/>
            </a:solidFill>
            <a:prstDash val="solid"/>
          </a:ln>
        </p:spPr>
      </p:sp>
      <p:sp>
        <p:nvSpPr>
          <p:cNvPr id="22" name="Text 20"/>
          <p:cNvSpPr/>
          <p:nvPr/>
        </p:nvSpPr>
        <p:spPr>
          <a:xfrm>
            <a:off x="5852160" y="1737360"/>
            <a:ext cx="3017520" cy="320040"/>
          </a:xfrm>
          <a:prstGeom prst="rect">
            <a:avLst/>
          </a:prstGeom>
          <a:noFill/>
          <a:ln/>
        </p:spPr>
        <p:txBody>
          <a:bodyPr wrap="square" lIns="0" tIns="0" rIns="0" bIns="0" rtlCol="0" anchor="ctr"/>
          <a:lstStyle/>
          <a:p>
            <a:pPr algn="ctr" indent="0" marL="0">
              <a:buNone/>
            </a:pPr>
            <a:r>
              <a:rPr lang="en-US" sz="900" spc="300" kern="0" dirty="0">
                <a:solidFill>
                  <a:srgbClr val="7A7570"/>
                </a:solidFill>
                <a:latin typeface="Consolas" pitchFamily="34" charset="0"/>
                <a:ea typeface="Consolas" pitchFamily="34" charset="-122"/>
                <a:cs typeface="Consolas" pitchFamily="34" charset="-120"/>
              </a:rPr>
              <a:t>DES QUESTIONS ?</a:t>
            </a:r>
            <a:endParaRPr lang="en-US" sz="900" dirty="0"/>
          </a:p>
        </p:txBody>
      </p:sp>
      <p:sp>
        <p:nvSpPr>
          <p:cNvPr id="23" name="Text 21"/>
          <p:cNvSpPr/>
          <p:nvPr/>
        </p:nvSpPr>
        <p:spPr>
          <a:xfrm>
            <a:off x="5989320" y="2194560"/>
            <a:ext cx="2743200" cy="256032"/>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C'est difficile à utiliser ?</a:t>
            </a:r>
            <a:endParaRPr lang="en-US" sz="1000" dirty="0"/>
          </a:p>
        </p:txBody>
      </p:sp>
      <p:sp>
        <p:nvSpPr>
          <p:cNvPr id="24" name="Text 22"/>
          <p:cNvSpPr/>
          <p:nvPr/>
        </p:nvSpPr>
        <p:spPr>
          <a:xfrm>
            <a:off x="5989320" y="2441448"/>
            <a:ext cx="2743200" cy="301752"/>
          </a:xfrm>
          <a:prstGeom prst="rect">
            <a:avLst/>
          </a:prstGeom>
          <a:noFill/>
          <a:ln/>
        </p:spPr>
        <p:txBody>
          <a:bodyPr wrap="square" lIns="0" tIns="0" rIns="0" bIns="0" rtlCol="0" anchor="ctr"/>
          <a:lstStyle/>
          <a:p>
            <a:pPr indent="0" marL="0">
              <a:lnSpc>
                <a:spcPct val="120000"/>
              </a:lnSpc>
              <a:buNone/>
            </a:pPr>
            <a:r>
              <a:rPr lang="en-US" sz="1000" dirty="0">
                <a:solidFill>
                  <a:srgbClr val="7A7570"/>
                </a:solidFill>
                <a:latin typeface="Calibri" pitchFamily="34" charset="0"/>
                <a:ea typeface="Calibri" pitchFamily="34" charset="-122"/>
                <a:cs typeface="Calibri" pitchFamily="34" charset="-120"/>
              </a:rPr>
              <a:t>Non. Si vous utilisez WhatsApp, vous pouvez utiliser HonoPs.</a:t>
            </a:r>
            <a:endParaRPr lang="en-US" sz="1000" dirty="0"/>
          </a:p>
        </p:txBody>
      </p:sp>
      <p:sp>
        <p:nvSpPr>
          <p:cNvPr id="25" name="Text 23"/>
          <p:cNvSpPr/>
          <p:nvPr/>
        </p:nvSpPr>
        <p:spPr>
          <a:xfrm>
            <a:off x="5989320" y="2852928"/>
            <a:ext cx="2743200" cy="256032"/>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Et mes clients actuels ?</a:t>
            </a:r>
            <a:endParaRPr lang="en-US" sz="1000" dirty="0"/>
          </a:p>
        </p:txBody>
      </p:sp>
      <p:sp>
        <p:nvSpPr>
          <p:cNvPr id="26" name="Text 24"/>
          <p:cNvSpPr/>
          <p:nvPr/>
        </p:nvSpPr>
        <p:spPr>
          <a:xfrm>
            <a:off x="5989320" y="3099816"/>
            <a:ext cx="2743200" cy="301752"/>
          </a:xfrm>
          <a:prstGeom prst="rect">
            <a:avLst/>
          </a:prstGeom>
          <a:noFill/>
          <a:ln/>
        </p:spPr>
        <p:txBody>
          <a:bodyPr wrap="square" lIns="0" tIns="0" rIns="0" bIns="0" rtlCol="0" anchor="ctr"/>
          <a:lstStyle/>
          <a:p>
            <a:pPr indent="0" marL="0">
              <a:lnSpc>
                <a:spcPct val="120000"/>
              </a:lnSpc>
              <a:buNone/>
            </a:pPr>
            <a:r>
              <a:rPr lang="en-US" sz="1000" dirty="0">
                <a:solidFill>
                  <a:srgbClr val="7A7570"/>
                </a:solidFill>
                <a:latin typeface="Calibri" pitchFamily="34" charset="0"/>
                <a:ea typeface="Calibri" pitchFamily="34" charset="-122"/>
                <a:cs typeface="Calibri" pitchFamily="34" charset="-120"/>
              </a:rPr>
              <a:t>On les importe. Tout en 10 minutes.</a:t>
            </a:r>
            <a:endParaRPr lang="en-US" sz="1000" dirty="0"/>
          </a:p>
        </p:txBody>
      </p:sp>
      <p:sp>
        <p:nvSpPr>
          <p:cNvPr id="27" name="Text 25"/>
          <p:cNvSpPr/>
          <p:nvPr/>
        </p:nvSpPr>
        <p:spPr>
          <a:xfrm>
            <a:off x="5989320" y="3511296"/>
            <a:ext cx="2743200" cy="256032"/>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Et si ça ne me convient pas ?</a:t>
            </a:r>
            <a:endParaRPr lang="en-US" sz="1000" dirty="0"/>
          </a:p>
        </p:txBody>
      </p:sp>
      <p:sp>
        <p:nvSpPr>
          <p:cNvPr id="28" name="Text 26"/>
          <p:cNvSpPr/>
          <p:nvPr/>
        </p:nvSpPr>
        <p:spPr>
          <a:xfrm>
            <a:off x="5989320" y="3758184"/>
            <a:ext cx="2743200" cy="301752"/>
          </a:xfrm>
          <a:prstGeom prst="rect">
            <a:avLst/>
          </a:prstGeom>
          <a:noFill/>
          <a:ln/>
        </p:spPr>
        <p:txBody>
          <a:bodyPr wrap="square" lIns="0" tIns="0" rIns="0" bIns="0" rtlCol="0" anchor="ctr"/>
          <a:lstStyle/>
          <a:p>
            <a:pPr indent="0" marL="0">
              <a:lnSpc>
                <a:spcPct val="120000"/>
              </a:lnSpc>
              <a:buNone/>
            </a:pPr>
            <a:r>
              <a:rPr lang="en-US" sz="1000" dirty="0">
                <a:solidFill>
                  <a:srgbClr val="7A7570"/>
                </a:solidFill>
                <a:latin typeface="Calibri" pitchFamily="34" charset="0"/>
                <a:ea typeface="Calibri" pitchFamily="34" charset="-122"/>
                <a:cs typeface="Calibri" pitchFamily="34" charset="-120"/>
              </a:rPr>
              <a:t>Vous annulez quand vous voulez. Sans pénalité.</a:t>
            </a:r>
            <a:endParaRPr lang="en-US" sz="1000" dirty="0"/>
          </a:p>
        </p:txBody>
      </p:sp>
      <p:sp>
        <p:nvSpPr>
          <p:cNvPr id="29" name="Text 27"/>
          <p:cNvSpPr/>
          <p:nvPr/>
        </p:nvSpPr>
        <p:spPr>
          <a:xfrm>
            <a:off x="5989320" y="4169664"/>
            <a:ext cx="2743200" cy="256032"/>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Mes données sont sécurisées ?</a:t>
            </a:r>
            <a:endParaRPr lang="en-US" sz="1000" dirty="0"/>
          </a:p>
        </p:txBody>
      </p:sp>
      <p:sp>
        <p:nvSpPr>
          <p:cNvPr id="30" name="Text 28"/>
          <p:cNvSpPr/>
          <p:nvPr/>
        </p:nvSpPr>
        <p:spPr>
          <a:xfrm>
            <a:off x="5989320" y="4416552"/>
            <a:ext cx="2743200" cy="301752"/>
          </a:xfrm>
          <a:prstGeom prst="rect">
            <a:avLst/>
          </a:prstGeom>
          <a:noFill/>
          <a:ln/>
        </p:spPr>
        <p:txBody>
          <a:bodyPr wrap="square" lIns="0" tIns="0" rIns="0" bIns="0" rtlCol="0" anchor="ctr"/>
          <a:lstStyle/>
          <a:p>
            <a:pPr indent="0" marL="0">
              <a:lnSpc>
                <a:spcPct val="120000"/>
              </a:lnSpc>
              <a:buNone/>
            </a:pPr>
            <a:r>
              <a:rPr lang="en-US" sz="1000" dirty="0">
                <a:solidFill>
                  <a:srgbClr val="7A7570"/>
                </a:solidFill>
                <a:latin typeface="Calibri" pitchFamily="34" charset="0"/>
                <a:ea typeface="Calibri" pitchFamily="34" charset="-122"/>
                <a:cs typeface="Calibri" pitchFamily="34" charset="-120"/>
              </a:rPr>
              <a:t>Serveurs en Europe. Conformité RGPD.</a:t>
            </a:r>
            <a:endParaRPr lang="en-US" sz="1000" dirty="0"/>
          </a:p>
        </p:txBody>
      </p:sp>
      <p:sp>
        <p:nvSpPr>
          <p:cNvPr id="31" name="Text 29"/>
          <p:cNvSpPr/>
          <p:nvPr/>
        </p:nvSpPr>
        <p:spPr>
          <a:xfrm>
            <a:off x="5852160" y="4617720"/>
            <a:ext cx="3017520" cy="393192"/>
          </a:xfrm>
          <a:prstGeom prst="rect">
            <a:avLst/>
          </a:prstGeom>
          <a:noFill/>
          <a:ln/>
        </p:spPr>
        <p:txBody>
          <a:bodyPr wrap="square" lIns="0" tIns="0" rIns="0" bIns="0" rtlCol="0" anchor="ctr"/>
          <a:lstStyle/>
          <a:p>
            <a:pPr algn="ctr" indent="0" marL="0">
              <a:buNone/>
            </a:pPr>
            <a:r>
              <a:rPr lang="en-US" sz="1800" b="1" spc="300" kern="0" dirty="0">
                <a:solidFill>
                  <a:srgbClr val="C9A84C"/>
                </a:solidFill>
                <a:latin typeface="Arial Black" pitchFamily="34" charset="0"/>
                <a:ea typeface="Arial Black" pitchFamily="34" charset="-122"/>
                <a:cs typeface="Arial Black" pitchFamily="34" charset="-120"/>
              </a:rPr>
              <a:t>honops.es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A0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w="12700">
            <a:solidFill>
              <a:srgbClr val="C9A84C"/>
            </a:solidFill>
            <a:prstDash val="solid"/>
          </a:ln>
        </p:spPr>
      </p:sp>
      <p:sp>
        <p:nvSpPr>
          <p:cNvPr id="3" name="Text 1"/>
          <p:cNvSpPr/>
          <p:nvPr/>
        </p:nvSpPr>
        <p:spPr>
          <a:xfrm>
            <a:off x="548640" y="228600"/>
            <a:ext cx="8229600" cy="274320"/>
          </a:xfrm>
          <a:prstGeom prst="rect">
            <a:avLst/>
          </a:prstGeom>
          <a:noFill/>
          <a:ln/>
        </p:spPr>
        <p:txBody>
          <a:bodyPr wrap="square" lIns="0" tIns="0" rIns="0" bIns="0" rtlCol="0" anchor="ctr"/>
          <a:lstStyle/>
          <a:p>
            <a:pPr indent="0" marL="0">
              <a:buNone/>
            </a:pPr>
            <a:r>
              <a:rPr lang="en-US" sz="900" spc="300" kern="0" dirty="0">
                <a:solidFill>
                  <a:srgbClr val="C9A84C"/>
                </a:solidFill>
                <a:latin typeface="Consolas" pitchFamily="34" charset="0"/>
                <a:ea typeface="Consolas" pitchFamily="34" charset="-122"/>
                <a:cs typeface="Consolas" pitchFamily="34" charset="-120"/>
              </a:rPr>
              <a:t>GUIDE INTERNE · RÉSERVÉ À L'ÉQUIPE COMMERCIALE</a:t>
            </a:r>
            <a:endParaRPr lang="en-US" sz="900" dirty="0"/>
          </a:p>
        </p:txBody>
      </p:sp>
      <p:sp>
        <p:nvSpPr>
          <p:cNvPr id="4" name="Text 2"/>
          <p:cNvSpPr/>
          <p:nvPr/>
        </p:nvSpPr>
        <p:spPr>
          <a:xfrm>
            <a:off x="548640" y="457200"/>
            <a:ext cx="6400800" cy="914400"/>
          </a:xfrm>
          <a:prstGeom prst="rect">
            <a:avLst/>
          </a:prstGeom>
          <a:noFill/>
          <a:ln/>
        </p:spPr>
        <p:txBody>
          <a:bodyPr wrap="square" lIns="0" tIns="0" rIns="0" bIns="0" rtlCol="0" anchor="ctr"/>
          <a:lstStyle/>
          <a:p>
            <a:pPr algn="l" indent="0" marL="0">
              <a:buNone/>
            </a:pPr>
            <a:r>
              <a:rPr lang="en-US" sz="3600" b="1" spc="300" kern="0" dirty="0">
                <a:solidFill>
                  <a:srgbClr val="F0ECE3"/>
                </a:solidFill>
                <a:latin typeface="Arial Black" pitchFamily="34" charset="0"/>
                <a:ea typeface="Arial Black" pitchFamily="34" charset="-122"/>
                <a:cs typeface="Arial Black" pitchFamily="34" charset="-120"/>
              </a:rPr>
              <a:t>Script de vente</a:t>
            </a:r>
            <a:endParaRPr lang="en-US" sz="3600" dirty="0"/>
          </a:p>
          <a:p>
            <a:pPr algn="l" indent="0" marL="0">
              <a:buNone/>
            </a:pPr>
            <a:r>
              <a:rPr lang="en-US" sz="3600" b="1" spc="300" kern="0" dirty="0">
                <a:solidFill>
                  <a:srgbClr val="F0ECE3"/>
                </a:solidFill>
                <a:latin typeface="Arial Black" pitchFamily="34" charset="0"/>
                <a:ea typeface="Arial Black" pitchFamily="34" charset="-122"/>
                <a:cs typeface="Arial Black" pitchFamily="34" charset="-120"/>
              </a:rPr>
              <a:t>en 5 étapes.</a:t>
            </a:r>
            <a:endParaRPr lang="en-US" sz="3600" dirty="0"/>
          </a:p>
        </p:txBody>
      </p:sp>
      <p:sp>
        <p:nvSpPr>
          <p:cNvPr id="5" name="Shape 3"/>
          <p:cNvSpPr/>
          <p:nvPr/>
        </p:nvSpPr>
        <p:spPr>
          <a:xfrm>
            <a:off x="548640" y="1508760"/>
            <a:ext cx="8321040" cy="594360"/>
          </a:xfrm>
          <a:prstGeom prst="rect">
            <a:avLst/>
          </a:prstGeom>
          <a:solidFill>
            <a:srgbClr val="080806"/>
          </a:solidFill>
          <a:ln w="12700">
            <a:solidFill>
              <a:srgbClr val="151510"/>
            </a:solidFill>
            <a:prstDash val="solid"/>
          </a:ln>
        </p:spPr>
      </p:sp>
      <p:sp>
        <p:nvSpPr>
          <p:cNvPr id="6" name="Shape 4"/>
          <p:cNvSpPr/>
          <p:nvPr/>
        </p:nvSpPr>
        <p:spPr>
          <a:xfrm>
            <a:off x="548640" y="1508760"/>
            <a:ext cx="1188720" cy="594360"/>
          </a:xfrm>
          <a:prstGeom prst="rect">
            <a:avLst/>
          </a:prstGeom>
          <a:solidFill>
            <a:srgbClr val="C9A84C">
              <a:alpha val="12000"/>
            </a:srgbClr>
          </a:solidFill>
          <a:ln w="12700">
            <a:solidFill>
              <a:srgbClr val="C9A84C">
                <a:alpha val="30000"/>
              </a:srgbClr>
            </a:solidFill>
            <a:prstDash val="solid"/>
          </a:ln>
        </p:spPr>
      </p:sp>
      <p:sp>
        <p:nvSpPr>
          <p:cNvPr id="7" name="Text 5"/>
          <p:cNvSpPr/>
          <p:nvPr/>
        </p:nvSpPr>
        <p:spPr>
          <a:xfrm>
            <a:off x="594360" y="1536192"/>
            <a:ext cx="1097280" cy="530352"/>
          </a:xfrm>
          <a:prstGeom prst="rect">
            <a:avLst/>
          </a:prstGeom>
          <a:noFill/>
          <a:ln/>
        </p:spPr>
        <p:txBody>
          <a:bodyPr wrap="square" lIns="0" tIns="0" rIns="0" bIns="0" rtlCol="0" anchor="ctr"/>
          <a:lstStyle/>
          <a:p>
            <a:pPr algn="ctr" indent="0" marL="0">
              <a:buNone/>
            </a:pPr>
            <a:r>
              <a:rPr lang="en-US" sz="750" b="1" spc="100" kern="0" dirty="0">
                <a:solidFill>
                  <a:srgbClr val="C9A84C"/>
                </a:solidFill>
                <a:latin typeface="Consolas" pitchFamily="34" charset="0"/>
                <a:ea typeface="Consolas" pitchFamily="34" charset="-122"/>
                <a:cs typeface="Consolas" pitchFamily="34" charset="-120"/>
              </a:rPr>
              <a:t>01  ENTRÉE</a:t>
            </a:r>
            <a:endParaRPr lang="en-US" sz="750" dirty="0"/>
          </a:p>
        </p:txBody>
      </p:sp>
      <p:sp>
        <p:nvSpPr>
          <p:cNvPr id="8" name="Text 6"/>
          <p:cNvSpPr/>
          <p:nvPr/>
        </p:nvSpPr>
        <p:spPr>
          <a:xfrm>
            <a:off x="1920240" y="1536192"/>
            <a:ext cx="6766560" cy="530352"/>
          </a:xfrm>
          <a:prstGeom prst="rect">
            <a:avLst/>
          </a:prstGeom>
          <a:noFill/>
          <a:ln/>
        </p:spPr>
        <p:txBody>
          <a:bodyPr wrap="square" lIns="0" tIns="0" rIns="0" bIns="0" rtlCol="0" anchor="ctr"/>
          <a:lstStyle/>
          <a:p>
            <a:pPr indent="0" marL="0">
              <a:lnSpc>
                <a:spcPct val="120000"/>
              </a:lnSpc>
              <a:buNone/>
            </a:pPr>
            <a:r>
              <a:rPr lang="en-US" sz="1050" dirty="0">
                <a:solidFill>
                  <a:srgbClr val="F0ECE3"/>
                </a:solidFill>
                <a:latin typeface="Calibri" pitchFamily="34" charset="0"/>
                <a:ea typeface="Calibri" pitchFamily="34" charset="-122"/>
                <a:cs typeface="Calibri" pitchFamily="34" charset="-120"/>
              </a:rPr>
              <a:t>"Bonjour, je m'appelle [Prénom] de HonoPs. J'ai vu que vous utilisez Resident Advisor pour vendre vos billets. Pouvez-vous me consacrer 10 minutes ? J'ai quelque chose qui peut vous faire économiser des milliers d'euros par mois."</a:t>
            </a:r>
            <a:endParaRPr lang="en-US" sz="1050" dirty="0"/>
          </a:p>
        </p:txBody>
      </p:sp>
      <p:sp>
        <p:nvSpPr>
          <p:cNvPr id="9" name="Shape 7"/>
          <p:cNvSpPr/>
          <p:nvPr/>
        </p:nvSpPr>
        <p:spPr>
          <a:xfrm>
            <a:off x="548640" y="2176272"/>
            <a:ext cx="8321040" cy="594360"/>
          </a:xfrm>
          <a:prstGeom prst="rect">
            <a:avLst/>
          </a:prstGeom>
          <a:solidFill>
            <a:srgbClr val="080806"/>
          </a:solidFill>
          <a:ln w="12700">
            <a:solidFill>
              <a:srgbClr val="151510"/>
            </a:solidFill>
            <a:prstDash val="solid"/>
          </a:ln>
        </p:spPr>
      </p:sp>
      <p:sp>
        <p:nvSpPr>
          <p:cNvPr id="10" name="Shape 8"/>
          <p:cNvSpPr/>
          <p:nvPr/>
        </p:nvSpPr>
        <p:spPr>
          <a:xfrm>
            <a:off x="548640" y="2176272"/>
            <a:ext cx="1188720" cy="594360"/>
          </a:xfrm>
          <a:prstGeom prst="rect">
            <a:avLst/>
          </a:prstGeom>
          <a:solidFill>
            <a:srgbClr val="F0884A">
              <a:alpha val="12000"/>
            </a:srgbClr>
          </a:solidFill>
          <a:ln w="12700">
            <a:solidFill>
              <a:srgbClr val="F0884A">
                <a:alpha val="30000"/>
              </a:srgbClr>
            </a:solidFill>
            <a:prstDash val="solid"/>
          </a:ln>
        </p:spPr>
      </p:sp>
      <p:sp>
        <p:nvSpPr>
          <p:cNvPr id="11" name="Text 9"/>
          <p:cNvSpPr/>
          <p:nvPr/>
        </p:nvSpPr>
        <p:spPr>
          <a:xfrm>
            <a:off x="594360" y="2203704"/>
            <a:ext cx="1097280" cy="530352"/>
          </a:xfrm>
          <a:prstGeom prst="rect">
            <a:avLst/>
          </a:prstGeom>
          <a:noFill/>
          <a:ln/>
        </p:spPr>
        <p:txBody>
          <a:bodyPr wrap="square" lIns="0" tIns="0" rIns="0" bIns="0" rtlCol="0" anchor="ctr"/>
          <a:lstStyle/>
          <a:p>
            <a:pPr algn="ctr" indent="0" marL="0">
              <a:buNone/>
            </a:pPr>
            <a:r>
              <a:rPr lang="en-US" sz="750" b="1" spc="100" kern="0" dirty="0">
                <a:solidFill>
                  <a:srgbClr val="F0884A"/>
                </a:solidFill>
                <a:latin typeface="Consolas" pitchFamily="34" charset="0"/>
                <a:ea typeface="Consolas" pitchFamily="34" charset="-122"/>
                <a:cs typeface="Consolas" pitchFamily="34" charset="-120"/>
              </a:rPr>
              <a:t>02  LA DOULEUR</a:t>
            </a:r>
            <a:endParaRPr lang="en-US" sz="750" dirty="0"/>
          </a:p>
        </p:txBody>
      </p:sp>
      <p:sp>
        <p:nvSpPr>
          <p:cNvPr id="12" name="Text 10"/>
          <p:cNvSpPr/>
          <p:nvPr/>
        </p:nvSpPr>
        <p:spPr>
          <a:xfrm>
            <a:off x="1920240" y="2203704"/>
            <a:ext cx="6766560" cy="530352"/>
          </a:xfrm>
          <a:prstGeom prst="rect">
            <a:avLst/>
          </a:prstGeom>
          <a:noFill/>
          <a:ln/>
        </p:spPr>
        <p:txBody>
          <a:bodyPr wrap="square" lIns="0" tIns="0" rIns="0" bIns="0" rtlCol="0" anchor="ctr"/>
          <a:lstStyle/>
          <a:p>
            <a:pPr indent="0" marL="0">
              <a:lnSpc>
                <a:spcPct val="120000"/>
              </a:lnSpc>
              <a:buNone/>
            </a:pPr>
            <a:r>
              <a:rPr lang="en-US" sz="1050" dirty="0">
                <a:solidFill>
                  <a:srgbClr val="F0ECE3"/>
                </a:solidFill>
                <a:latin typeface="Calibri" pitchFamily="34" charset="0"/>
                <a:ea typeface="Calibri" pitchFamily="34" charset="-122"/>
                <a:cs typeface="Calibri" pitchFamily="34" charset="-120"/>
              </a:rPr>
              <a:t>"Combien de billets vendez-vous en moyenne par soirée ? À quel prix ? [Calculez ensemble.] Donc vous donnez [X]€ par mois à RA. Avec HonoPs ce serait 200€ fixes. Combien économiseriez-vous ?"</a:t>
            </a:r>
            <a:endParaRPr lang="en-US" sz="1050" dirty="0"/>
          </a:p>
        </p:txBody>
      </p:sp>
      <p:sp>
        <p:nvSpPr>
          <p:cNvPr id="13" name="Shape 11"/>
          <p:cNvSpPr/>
          <p:nvPr/>
        </p:nvSpPr>
        <p:spPr>
          <a:xfrm>
            <a:off x="548640" y="2843784"/>
            <a:ext cx="8321040" cy="594360"/>
          </a:xfrm>
          <a:prstGeom prst="rect">
            <a:avLst/>
          </a:prstGeom>
          <a:solidFill>
            <a:srgbClr val="080806"/>
          </a:solidFill>
          <a:ln w="12700">
            <a:solidFill>
              <a:srgbClr val="151510"/>
            </a:solidFill>
            <a:prstDash val="solid"/>
          </a:ln>
        </p:spPr>
      </p:sp>
      <p:sp>
        <p:nvSpPr>
          <p:cNvPr id="14" name="Shape 12"/>
          <p:cNvSpPr/>
          <p:nvPr/>
        </p:nvSpPr>
        <p:spPr>
          <a:xfrm>
            <a:off x="548640" y="2843784"/>
            <a:ext cx="1188720" cy="594360"/>
          </a:xfrm>
          <a:prstGeom prst="rect">
            <a:avLst/>
          </a:prstGeom>
          <a:solidFill>
            <a:srgbClr val="5B9CF6">
              <a:alpha val="12000"/>
            </a:srgbClr>
          </a:solidFill>
          <a:ln w="12700">
            <a:solidFill>
              <a:srgbClr val="5B9CF6">
                <a:alpha val="30000"/>
              </a:srgbClr>
            </a:solidFill>
            <a:prstDash val="solid"/>
          </a:ln>
        </p:spPr>
      </p:sp>
      <p:sp>
        <p:nvSpPr>
          <p:cNvPr id="15" name="Text 13"/>
          <p:cNvSpPr/>
          <p:nvPr/>
        </p:nvSpPr>
        <p:spPr>
          <a:xfrm>
            <a:off x="594360" y="2871216"/>
            <a:ext cx="1097280" cy="530352"/>
          </a:xfrm>
          <a:prstGeom prst="rect">
            <a:avLst/>
          </a:prstGeom>
          <a:noFill/>
          <a:ln/>
        </p:spPr>
        <p:txBody>
          <a:bodyPr wrap="square" lIns="0" tIns="0" rIns="0" bIns="0" rtlCol="0" anchor="ctr"/>
          <a:lstStyle/>
          <a:p>
            <a:pPr algn="ctr" indent="0" marL="0">
              <a:buNone/>
            </a:pPr>
            <a:r>
              <a:rPr lang="en-US" sz="750" b="1" spc="100" kern="0" dirty="0">
                <a:solidFill>
                  <a:srgbClr val="5B9CF6"/>
                </a:solidFill>
                <a:latin typeface="Consolas" pitchFamily="34" charset="0"/>
                <a:ea typeface="Consolas" pitchFamily="34" charset="-122"/>
                <a:cs typeface="Consolas" pitchFamily="34" charset="-120"/>
              </a:rPr>
              <a:t>03  LA DÉMO</a:t>
            </a:r>
            <a:endParaRPr lang="en-US" sz="750" dirty="0"/>
          </a:p>
        </p:txBody>
      </p:sp>
      <p:sp>
        <p:nvSpPr>
          <p:cNvPr id="16" name="Text 14"/>
          <p:cNvSpPr/>
          <p:nvPr/>
        </p:nvSpPr>
        <p:spPr>
          <a:xfrm>
            <a:off x="1920240" y="2871216"/>
            <a:ext cx="6766560" cy="530352"/>
          </a:xfrm>
          <a:prstGeom prst="rect">
            <a:avLst/>
          </a:prstGeom>
          <a:noFill/>
          <a:ln/>
        </p:spPr>
        <p:txBody>
          <a:bodyPr wrap="square" lIns="0" tIns="0" rIns="0" bIns="0" rtlCol="0" anchor="ctr"/>
          <a:lstStyle/>
          <a:p>
            <a:pPr indent="0" marL="0">
              <a:lnSpc>
                <a:spcPct val="120000"/>
              </a:lnSpc>
              <a:buNone/>
            </a:pPr>
            <a:r>
              <a:rPr lang="en-US" sz="1050" dirty="0">
                <a:solidFill>
                  <a:srgbClr val="F0ECE3"/>
                </a:solidFill>
                <a:latin typeface="Calibri" pitchFamily="34" charset="0"/>
                <a:ea typeface="Calibri" pitchFamily="34" charset="-122"/>
                <a:cs typeface="Calibri" pitchFamily="34" charset="-120"/>
              </a:rPr>
              <a:t>"Laissez-moi vous montrer à quoi ressemblerait votre site." [Ouvrir 1-site-club.html] "Et voilà ce que vous verriez vous de votre côté." [Ouvrir 2-dashboard.html]</a:t>
            </a:r>
            <a:endParaRPr lang="en-US" sz="1050" dirty="0"/>
          </a:p>
        </p:txBody>
      </p:sp>
      <p:sp>
        <p:nvSpPr>
          <p:cNvPr id="17" name="Shape 15"/>
          <p:cNvSpPr/>
          <p:nvPr/>
        </p:nvSpPr>
        <p:spPr>
          <a:xfrm>
            <a:off x="548640" y="3511296"/>
            <a:ext cx="8321040" cy="594360"/>
          </a:xfrm>
          <a:prstGeom prst="rect">
            <a:avLst/>
          </a:prstGeom>
          <a:solidFill>
            <a:srgbClr val="080806"/>
          </a:solidFill>
          <a:ln w="12700">
            <a:solidFill>
              <a:srgbClr val="151510"/>
            </a:solidFill>
            <a:prstDash val="solid"/>
          </a:ln>
        </p:spPr>
      </p:sp>
      <p:sp>
        <p:nvSpPr>
          <p:cNvPr id="18" name="Shape 16"/>
          <p:cNvSpPr/>
          <p:nvPr/>
        </p:nvSpPr>
        <p:spPr>
          <a:xfrm>
            <a:off x="548640" y="3511296"/>
            <a:ext cx="1188720" cy="594360"/>
          </a:xfrm>
          <a:prstGeom prst="rect">
            <a:avLst/>
          </a:prstGeom>
          <a:solidFill>
            <a:srgbClr val="3ECF8E">
              <a:alpha val="12000"/>
            </a:srgbClr>
          </a:solidFill>
          <a:ln w="12700">
            <a:solidFill>
              <a:srgbClr val="3ECF8E">
                <a:alpha val="30000"/>
              </a:srgbClr>
            </a:solidFill>
            <a:prstDash val="solid"/>
          </a:ln>
        </p:spPr>
      </p:sp>
      <p:sp>
        <p:nvSpPr>
          <p:cNvPr id="19" name="Text 17"/>
          <p:cNvSpPr/>
          <p:nvPr/>
        </p:nvSpPr>
        <p:spPr>
          <a:xfrm>
            <a:off x="594360" y="3538728"/>
            <a:ext cx="1097280" cy="530352"/>
          </a:xfrm>
          <a:prstGeom prst="rect">
            <a:avLst/>
          </a:prstGeom>
          <a:noFill/>
          <a:ln/>
        </p:spPr>
        <p:txBody>
          <a:bodyPr wrap="square" lIns="0" tIns="0" rIns="0" bIns="0" rtlCol="0" anchor="ctr"/>
          <a:lstStyle/>
          <a:p>
            <a:pPr algn="ctr" indent="0" marL="0">
              <a:buNone/>
            </a:pPr>
            <a:r>
              <a:rPr lang="en-US" sz="750" b="1" spc="100" kern="0" dirty="0">
                <a:solidFill>
                  <a:srgbClr val="3ECF8E"/>
                </a:solidFill>
                <a:latin typeface="Consolas" pitchFamily="34" charset="0"/>
                <a:ea typeface="Consolas" pitchFamily="34" charset="-122"/>
                <a:cs typeface="Consolas" pitchFamily="34" charset="-120"/>
              </a:rPr>
              <a:t>04  LA CONCLUSION</a:t>
            </a:r>
            <a:endParaRPr lang="en-US" sz="750" dirty="0"/>
          </a:p>
        </p:txBody>
      </p:sp>
      <p:sp>
        <p:nvSpPr>
          <p:cNvPr id="20" name="Text 18"/>
          <p:cNvSpPr/>
          <p:nvPr/>
        </p:nvSpPr>
        <p:spPr>
          <a:xfrm>
            <a:off x="1920240" y="3538728"/>
            <a:ext cx="6766560" cy="530352"/>
          </a:xfrm>
          <a:prstGeom prst="rect">
            <a:avLst/>
          </a:prstGeom>
          <a:noFill/>
          <a:ln/>
        </p:spPr>
        <p:txBody>
          <a:bodyPr wrap="square" lIns="0" tIns="0" rIns="0" bIns="0" rtlCol="0" anchor="ctr"/>
          <a:lstStyle/>
          <a:p>
            <a:pPr indent="0" marL="0">
              <a:lnSpc>
                <a:spcPct val="120000"/>
              </a:lnSpc>
              <a:buNone/>
            </a:pPr>
            <a:r>
              <a:rPr lang="en-US" sz="1050" dirty="0">
                <a:solidFill>
                  <a:srgbClr val="F0ECE3"/>
                </a:solidFill>
                <a:latin typeface="Calibri" pitchFamily="34" charset="0"/>
                <a:ea typeface="Calibri" pitchFamily="34" charset="-122"/>
                <a:cs typeface="Calibri" pitchFamily="34" charset="-120"/>
              </a:rPr>
              <a:t>"90 jours gratuits, sans carte. Est-ce qu'on crée votre compte ensemble maintenant avec votre prochain événement ? Je le configure en 5 minutes."</a:t>
            </a:r>
            <a:endParaRPr lang="en-US" sz="1050" dirty="0"/>
          </a:p>
        </p:txBody>
      </p:sp>
      <p:sp>
        <p:nvSpPr>
          <p:cNvPr id="21" name="Shape 19"/>
          <p:cNvSpPr/>
          <p:nvPr/>
        </p:nvSpPr>
        <p:spPr>
          <a:xfrm>
            <a:off x="548640" y="4178808"/>
            <a:ext cx="8321040" cy="594360"/>
          </a:xfrm>
          <a:prstGeom prst="rect">
            <a:avLst/>
          </a:prstGeom>
          <a:solidFill>
            <a:srgbClr val="080806"/>
          </a:solidFill>
          <a:ln w="12700">
            <a:solidFill>
              <a:srgbClr val="151510"/>
            </a:solidFill>
            <a:prstDash val="solid"/>
          </a:ln>
        </p:spPr>
      </p:sp>
      <p:sp>
        <p:nvSpPr>
          <p:cNvPr id="22" name="Shape 20"/>
          <p:cNvSpPr/>
          <p:nvPr/>
        </p:nvSpPr>
        <p:spPr>
          <a:xfrm>
            <a:off x="548640" y="4178808"/>
            <a:ext cx="1188720" cy="594360"/>
          </a:xfrm>
          <a:prstGeom prst="rect">
            <a:avLst/>
          </a:prstGeom>
          <a:solidFill>
            <a:srgbClr val="7A7570">
              <a:alpha val="12000"/>
            </a:srgbClr>
          </a:solidFill>
          <a:ln w="12700">
            <a:solidFill>
              <a:srgbClr val="7A7570">
                <a:alpha val="30000"/>
              </a:srgbClr>
            </a:solidFill>
            <a:prstDash val="solid"/>
          </a:ln>
        </p:spPr>
      </p:sp>
      <p:sp>
        <p:nvSpPr>
          <p:cNvPr id="23" name="Text 21"/>
          <p:cNvSpPr/>
          <p:nvPr/>
        </p:nvSpPr>
        <p:spPr>
          <a:xfrm>
            <a:off x="594360" y="4206240"/>
            <a:ext cx="1097280" cy="530352"/>
          </a:xfrm>
          <a:prstGeom prst="rect">
            <a:avLst/>
          </a:prstGeom>
          <a:noFill/>
          <a:ln/>
        </p:spPr>
        <p:txBody>
          <a:bodyPr wrap="square" lIns="0" tIns="0" rIns="0" bIns="0" rtlCol="0" anchor="ctr"/>
          <a:lstStyle/>
          <a:p>
            <a:pPr algn="ctr" indent="0" marL="0">
              <a:buNone/>
            </a:pPr>
            <a:r>
              <a:rPr lang="en-US" sz="750" b="1" spc="100" kern="0" dirty="0">
                <a:solidFill>
                  <a:srgbClr val="7A7570"/>
                </a:solidFill>
                <a:latin typeface="Consolas" pitchFamily="34" charset="0"/>
                <a:ea typeface="Consolas" pitchFamily="34" charset="-122"/>
                <a:cs typeface="Consolas" pitchFamily="34" charset="-120"/>
              </a:rPr>
              <a:t>05  S'ILS DISENT NON</a:t>
            </a:r>
            <a:endParaRPr lang="en-US" sz="750" dirty="0"/>
          </a:p>
        </p:txBody>
      </p:sp>
      <p:sp>
        <p:nvSpPr>
          <p:cNvPr id="24" name="Text 22"/>
          <p:cNvSpPr/>
          <p:nvPr/>
        </p:nvSpPr>
        <p:spPr>
          <a:xfrm>
            <a:off x="1920240" y="4206240"/>
            <a:ext cx="6766560" cy="530352"/>
          </a:xfrm>
          <a:prstGeom prst="rect">
            <a:avLst/>
          </a:prstGeom>
          <a:noFill/>
          <a:ln/>
        </p:spPr>
        <p:txBody>
          <a:bodyPr wrap="square" lIns="0" tIns="0" rIns="0" bIns="0" rtlCol="0" anchor="ctr"/>
          <a:lstStyle/>
          <a:p>
            <a:pPr indent="0" marL="0">
              <a:lnSpc>
                <a:spcPct val="120000"/>
              </a:lnSpc>
              <a:buNone/>
            </a:pPr>
            <a:r>
              <a:rPr lang="en-US" sz="1050" dirty="0">
                <a:solidFill>
                  <a:srgbClr val="F0ECE3"/>
                </a:solidFill>
                <a:latin typeface="Calibri" pitchFamily="34" charset="0"/>
                <a:ea typeface="Calibri" pitchFamily="34" charset="-122"/>
                <a:cs typeface="Calibri" pitchFamily="34" charset="-120"/>
              </a:rPr>
              <a:t>"Pas de problème. Est-ce que je peux repasser dans 2 semaines pour vous montrer comment ça marche pour d'autres clubs ?" [Obtenez un oui pour revenir. Ça vaut plus qu'une vente forcée.]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HonoPs — Présentation clubs</dc:title>
  <dc:subject>PptxGenJS Presentation</dc:subject>
  <dc:creator>PptxGenJS</dc:creator>
  <cp:lastModifiedBy>PptxGenJS</cp:lastModifiedBy>
  <cp:revision>1</cp:revision>
  <dcterms:created xsi:type="dcterms:W3CDTF">2026-03-22T17:23:39Z</dcterms:created>
  <dcterms:modified xsi:type="dcterms:W3CDTF">2026-03-22T17:23:39Z</dcterms:modified>
</cp:coreProperties>
</file>