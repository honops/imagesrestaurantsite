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0" y="0"/>
            <a:ext cx="73152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HonoSuite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complète pour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161D18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46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HonoCab Psy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56616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161D18"/>
          </a:solidFill>
          <a:ln w="10160">
            <a:solidFill>
              <a:srgbClr val="60A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HonoCab Lex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88620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161D18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🦷  HonoCab 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420624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161D18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06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HonoCab Chir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52628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161D18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26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HonoCab Pro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7315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Travaillez,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3749040" y="13716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gère le reste.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3749040" y="2240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HonoSuite booste les professionnels avec une IA réceptionniste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24h/24, un agenda intelligent et un assistant IA complet.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49040" y="338328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429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24h/24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4904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disponible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338328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429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manqué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338328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429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0936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admin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338328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3429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14j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8952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gratuit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49040" y="48006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HonoSuite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😤  Le problème quotidien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vivent vos clients chaque jour — avant HonoSuite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3108960"/>
          </a:xfrm>
          <a:prstGeom prst="roundRect">
            <a:avLst>
              <a:gd name="adj" fmla="val 3529"/>
            </a:avLst>
          </a:prstGeom>
          <a:solidFill>
            <a:srgbClr val="111612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303520" cy="411480"/>
          </a:xfrm>
          <a:prstGeom prst="rect">
            <a:avLst/>
          </a:prstGeom>
          <a:solidFill>
            <a:srgbClr val="3D1515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Scénario réel — Nuit de dimanche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22h47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envoie un WhatsApp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"J'ai besoin d'aide, c'est urgent..."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22h48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aussi un email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22h49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Essaie sur Instagram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psy voit les messages à midi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 a trouvé quelqu'un d'autre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perdu = 70€ perdus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50876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5544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720€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95160" y="1600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Perdus/mois en RDV manqués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28600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3317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3-6h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95160" y="2377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D'admin par jour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306324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1089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995160" y="3154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à surveiller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384048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38862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3931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réponse la nuit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problème touche 247 000 professionnels en France.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La solution HonoSuite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 qui gère tout — automatiquement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1A2E4A"/>
          </a:solidFill>
          <a:ln w="12700">
            <a:solidFill>
              <a:srgbClr val="60A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envoie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message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55448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1A3D2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645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reçoit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comprend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155448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1A3D2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645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048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155448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1A3D2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645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7784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confirmé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155448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1A3D2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645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 informé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modules inclus 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IA Réceptionniste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7490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Agenda intelligent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7490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Messagerie unifiée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51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51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Assistant clinique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4251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251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Rapports PDF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251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251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Statistiques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337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A3D2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Résultat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3794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RDV manqué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message sans réponse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automatique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Démo — IA Réceptionniste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réelle entre un patient et l'IA — 23h un dimanche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3337560"/>
          </a:xfrm>
          <a:prstGeom prst="roundRect">
            <a:avLst>
              <a:gd name="adj" fmla="val 4110"/>
            </a:avLst>
          </a:prstGeom>
          <a:solidFill>
            <a:srgbClr val="111612"/>
          </a:solidFill>
          <a:ln w="12700">
            <a:solidFill>
              <a:srgbClr val="16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303520" cy="4572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Assistante IA — HonoCab Psy  ●  En ligne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2103120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6350">
            <a:solidFill>
              <a:srgbClr val="60A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210312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Bonsoir, j'ai besoin d'aide... je traverse une période très difficile.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615184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1A3D28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15184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Bonsoir. Je suis vraiment heureuse que vous ayez fait ce pas 🙏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Dr. Stéphane est disponible dès demain matin à 9h30. Souhaitez-vous que je réserve ce créneau 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3529584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1A2E4A"/>
          </a:solidFill>
          <a:ln w="6350">
            <a:solidFill>
              <a:srgbClr val="60A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52958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9h30 c'est parfait.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3840480" cy="1408176"/>
          </a:xfrm>
          <a:prstGeom prst="roundRect">
            <a:avLst>
              <a:gd name="adj" fmla="val 5195"/>
            </a:avLst>
          </a:prstGeom>
          <a:solidFill>
            <a:srgbClr val="1A3D28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41648"/>
            <a:ext cx="365760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RDV confirmé — Demain à 9h30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12 rue des Lilas, 75014 Paris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🚇 Métro Alésia (ligne 4)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questionnaire vous sera envoyé ce soir 😊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150876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connectés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19933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2037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Instagram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4140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Email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6243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8346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Site web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320040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1A3D2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291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Ce que l'IA a fait 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37033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Détecté la détresse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89320" y="38862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Répondu avec empathie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9320" y="40690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Proposé un créneau urgent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42519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Confirmé le RDV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9320" y="44348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Envoyé l'adresse + Maps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46177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Notifié le Dr. Stéphane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Démo — Assistant Clinique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Dr. dicte ses notes — l'IA structure, analyse et propose un plan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40480" cy="3337560"/>
          </a:xfrm>
          <a:prstGeom prst="roundRect">
            <a:avLst>
              <a:gd name="adj" fmla="val 3288"/>
            </a:avLst>
          </a:prstGeom>
          <a:solidFill>
            <a:srgbClr val="111612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3840480" cy="411480"/>
          </a:xfrm>
          <a:prstGeom prst="rect">
            <a:avLst/>
          </a:prstGeom>
          <a:solidFill>
            <a:srgbClr val="161D18"/>
          </a:solidFill>
          <a:ln w="12700">
            <a:solidFill>
              <a:srgbClr val="161D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Notes dictées par le Dr.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anxieux aujourd'hui. A beaucoup parlé de son travail, conflits avec son supérieur. Dort 4-5h par nuit depuis 3 semaines. Évite les réunions. A pratiqué les exercices de respiration 3 fois cette semaine — c'est un progrès. Mentionne des pensées intrusives la nuit. Relation familiale tendue.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24688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111612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08760"/>
            <a:ext cx="3931920" cy="41148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Analyse IA — Résultat instantané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Résumé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2240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 état de surcharge professionnelle avec signes de burnout débutant. Progrès sur la respiration.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2770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Impression clinique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2999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stade 1 + anxiété généralisée. Pensées intrusives nocturnes à surveiller.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35295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Objectifs prochaine séance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375818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Travailler la déconnexion digitale le soir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Introduire un journal de gratitude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Explorer la relation avec le supérieur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46542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Questions à poser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4882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pensées intrusives ont-elles un thème récurrent ? Y a-t-il un soutien familial 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💼  Adapté à chaque profession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s'adapte automatiquement — vocabulaire, IA, couleurs, fonctionnalités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600200" cy="3337560"/>
          </a:xfrm>
          <a:prstGeom prst="roundRect">
            <a:avLst>
              <a:gd name="adj" fmla="val 6857"/>
            </a:avLst>
          </a:prstGeom>
          <a:solidFill>
            <a:srgbClr val="1A3D2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HonoCab Psy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Psychologues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Soignez,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gère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3337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Patients / Séances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3611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Assistant Clinique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192" y="388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Notes thérapeutiques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39112" y="1508760"/>
            <a:ext cx="1600200" cy="3337560"/>
          </a:xfrm>
          <a:prstGeom prst="roundRect">
            <a:avLst>
              <a:gd name="adj" fmla="val 6857"/>
            </a:avLst>
          </a:prstGeom>
          <a:solidFill>
            <a:srgbClr val="1A2E4A"/>
          </a:solidFill>
          <a:ln w="12700">
            <a:solidFill>
              <a:srgbClr val="60A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39112" y="21945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HonoCab Lex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39112" y="2514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Avocats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39112" y="2788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Plaidez,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gère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12264" y="3337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Clients / Consultations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12264" y="3611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Assistant Juridique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12264" y="388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Dossiers d'affaires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58184" y="1508760"/>
            <a:ext cx="1600200" cy="3337560"/>
          </a:xfrm>
          <a:prstGeom prst="roundRect">
            <a:avLst>
              <a:gd name="adj" fmla="val 6857"/>
            </a:avLst>
          </a:prstGeom>
          <a:solidFill>
            <a:srgbClr val="0A2A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8184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🦷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758184" y="21945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HonoCab Dent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58184" y="2514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58184" y="2788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Soignez,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gère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31336" y="3337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Patients / Soins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31336" y="3611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Assistant Dentaire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31336" y="388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Fiches de soins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77256" y="1508760"/>
            <a:ext cx="1600200" cy="3337560"/>
          </a:xfrm>
          <a:prstGeom prst="roundRect">
            <a:avLst>
              <a:gd name="adj" fmla="val 6857"/>
            </a:avLst>
          </a:prstGeom>
          <a:solidFill>
            <a:srgbClr val="3D151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477256" y="21945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HonoCab Chir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77256" y="2514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Chirurgiens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77256" y="2788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Opérez,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gère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50408" y="3337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Patients / Consultations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50408" y="3611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Assistant Chirurgical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50408" y="388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Comptes-rendus op.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96328" y="1508760"/>
            <a:ext cx="1600200" cy="3337560"/>
          </a:xfrm>
          <a:prstGeom prst="roundRect">
            <a:avLst>
              <a:gd name="adj" fmla="val 6857"/>
            </a:avLst>
          </a:prstGeom>
          <a:solidFill>
            <a:srgbClr val="3D30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96328" y="1600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196328" y="21945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HonoCab Pro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96328" y="2514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pros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96328" y="2788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Travaillez,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gère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69480" y="3337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Clients / RDV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69480" y="3611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Assistant Pro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269480" y="388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Rapports pro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4709160"/>
            <a:ext cx="8503920" cy="274320"/>
          </a:xfrm>
          <a:prstGeom prst="roundRect">
            <a:avLst>
              <a:gd name="adj" fmla="val 20000"/>
            </a:avLst>
          </a:prstGeom>
          <a:solidFill>
            <a:srgbClr val="1A3D28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3659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Marché total adressable : 247 000 professionnels en France  ·  À 99€/mois = 24M€ potentiel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 Tarifs simples et transparents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jours gratuits · Sans carte bancaire · Annulation à tout moment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A2E4A"/>
          </a:solidFill>
          <a:ln w="12700">
            <a:solidFill>
              <a:srgbClr val="60A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démarrer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0A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€/mois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Agenda intelligent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4472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Gestion des clients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7398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Tableau de bord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0325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Espace client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automatique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A3D28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25272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252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plus populaire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populaire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480560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€/mois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Starter inclus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310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IA Réceptionniste 24h/24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Assistant IA professionnel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895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SMS automatique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4187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Rapports PDF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55448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3D30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Cabinet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17920" y="2057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331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7315200" y="2651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€/mois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Pro inclus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4472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automatique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7398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Instagram automatique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40325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Page web client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prioritaire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709160"/>
            <a:ext cx="8321040" cy="274320"/>
          </a:xfrm>
          <a:prstGeom prst="roundRect">
            <a:avLst>
              <a:gd name="adj" fmla="val 20000"/>
            </a:avLst>
          </a:prstGeom>
          <a:solidFill>
            <a:srgbClr val="1A3D28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7365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Avec 100 clients Pro : 9 900€/mois brut  ·  Marge nette ~9 615€/mois  ·  Coûts API ~125€/mois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🗺️  Feuille de route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validation au marché — étape par étape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011680" cy="3337560"/>
          </a:xfrm>
          <a:prstGeom prst="roundRect">
            <a:avLst>
              <a:gd name="adj" fmla="val 5455"/>
            </a:avLst>
          </a:prstGeom>
          <a:solidFill>
            <a:srgbClr val="1A3D2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572768"/>
            <a:ext cx="548640" cy="5486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 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6517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Dr. Stéphane valide le produit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9992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HonoSuite complet et en ligne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33467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professions supportées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369417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24 modules fonctionnels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32888" y="1508760"/>
            <a:ext cx="2011680" cy="3337560"/>
          </a:xfrm>
          <a:prstGeom prst="roundRect">
            <a:avLst>
              <a:gd name="adj" fmla="val 5455"/>
            </a:avLst>
          </a:prstGeom>
          <a:solidFill>
            <a:srgbClr val="1A2E4A"/>
          </a:solidFill>
          <a:ln w="12700">
            <a:solidFill>
              <a:srgbClr val="60A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572768"/>
            <a:ext cx="548640" cy="548640"/>
          </a:xfrm>
          <a:prstGeom prst="ellipse">
            <a:avLst/>
          </a:prstGeom>
          <a:solidFill>
            <a:srgbClr val="60AFFF"/>
          </a:solidFill>
          <a:ln w="12700">
            <a:solidFill>
              <a:srgbClr val="60A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24328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1-2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42616" y="26517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Dr. Stéphane — 1er client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42616" y="29992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psys via recommandations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42616" y="33467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avocats testent HonoCab Lex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42616" y="369417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Premiers revenus réels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0016" y="1508760"/>
            <a:ext cx="2011680" cy="3337560"/>
          </a:xfrm>
          <a:prstGeom prst="roundRect">
            <a:avLst>
              <a:gd name="adj" fmla="val 5455"/>
            </a:avLst>
          </a:prstGeom>
          <a:solidFill>
            <a:srgbClr val="3D30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572768"/>
            <a:ext cx="548640" cy="5486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91456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3-6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9744" y="26517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 clients actifs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9744" y="29992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Domaines enregistrés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33467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honosuite.fr en ligne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9744" y="369417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Marketing digital lancé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67144" y="1508760"/>
            <a:ext cx="2011680" cy="3337560"/>
          </a:xfrm>
          <a:prstGeom prst="roundRect">
            <a:avLst>
              <a:gd name="adj" fmla="val 5455"/>
            </a:avLst>
          </a:prstGeom>
          <a:solidFill>
            <a:srgbClr val="3D151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98664" y="1572768"/>
            <a:ext cx="548640" cy="5486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8664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58584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6-12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6872" y="26517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200+ clients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76872" y="29992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Première embauche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76872" y="3346704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~20 000€/mois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76872" y="369417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Expansion internationale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709160"/>
            <a:ext cx="8412480" cy="274320"/>
          </a:xfrm>
          <a:prstGeom prst="roundRect">
            <a:avLst>
              <a:gd name="adj" fmla="val 20000"/>
            </a:avLst>
          </a:prstGeom>
          <a:solidFill>
            <a:srgbClr val="1A3D28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3659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An 1 : 500 clients  ·  ~50 000€/mois  ·  Expansion internationale An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11612"/>
          </a:solidFill>
          <a:ln w="12700">
            <a:solidFill>
              <a:srgbClr val="1116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73152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Prêt à booster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cabinet 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les professionnels qui font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à HonoSuite.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14 jours gratuits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4223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Sans carte bancaire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3982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Sans engagement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5429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Annulation facile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548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Contactez-nous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1143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honosuite.fr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15544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contact@honosuite.fr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19659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+33 6 XX XX XX XX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377440"/>
            <a:ext cx="2560320" cy="2011680"/>
          </a:xfrm>
          <a:prstGeom prst="rect">
            <a:avLst/>
          </a:prstGeom>
          <a:solidFill>
            <a:srgbClr val="161D18"/>
          </a:solidFill>
          <a:ln w="6350">
            <a:solidFill>
              <a:srgbClr val="161D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pour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essayer gratuitement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251460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9672" y="251460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67144" y="251460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14616" y="251460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9560" y="251460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770632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67144" y="2770632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2770632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2770632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026664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67144" y="3026664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14616" y="3026664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62088" y="3026664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9672" y="3282696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62088" y="3282696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09560" y="3282696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3538728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9672" y="3538728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14616" y="3538728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3538728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379476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14616" y="379476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62088" y="379476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3794760"/>
            <a:ext cx="29260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404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honosuite.fr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HonoSuite — Tous droits réservés · Données hébergées en Europe 🇪🇺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HonoSuite — Présentation</dc:title>
  <dc:subject>PptxGenJS Presentation</dc:subject>
  <dc:creator>PptxGenJS</dc:creator>
  <cp:lastModifiedBy>PptxGenJS</cp:lastModifiedBy>
  <cp:revision>1</cp:revision>
  <dcterms:created xsi:type="dcterms:W3CDTF">2026-03-22T17:34:03Z</dcterms:created>
  <dcterms:modified xsi:type="dcterms:W3CDTF">2026-03-22T17:34:03Z</dcterms:modified>
</cp:coreProperties>
</file>